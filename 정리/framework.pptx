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FF9EB"/>
    <a:srgbClr val="F0EDF9"/>
    <a:srgbClr val="F2F7FC"/>
    <a:srgbClr val="EAF2FA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65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D69F96-30D5-77D4-CFF6-4B1915BAD3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B11EA2B-0C4B-C436-1B7D-A7CE146B1E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28B5BEF-B902-97E5-9102-C05C9B4DB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5D9C6-78C0-48AE-A7BE-D3C45139387D}" type="datetimeFigureOut">
              <a:rPr lang="ko-KR" altLang="en-US" smtClean="0"/>
              <a:t>2024-04-17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18B1B70-A576-4F33-BA9A-076C884DA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78E8C19-5C83-F464-00BF-BBF5AE373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85D8FE-C23F-48B3-BC71-565582BCDEC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35981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9746AC-22E2-C250-185A-8616852AB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EB0D21-29BD-CC75-A257-DD12418084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AC2EB90-056C-ED60-711B-51130D6B2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5D9C6-78C0-48AE-A7BE-D3C45139387D}" type="datetimeFigureOut">
              <a:rPr lang="ko-KR" altLang="en-US" smtClean="0"/>
              <a:t>2024-04-17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10B7050-E594-135C-6990-CF09B19C5E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2C2E31-6AED-FFB4-646D-29DBAECEE5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85D8FE-C23F-48B3-BC71-565582BCDEC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76834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7A421E-8E89-965A-B4BF-1F4C83F249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6637B1C-4694-7AB7-14BC-09255AA6C2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322B373-3008-CC87-AC82-1D1E81CB3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5D9C6-78C0-48AE-A7BE-D3C45139387D}" type="datetimeFigureOut">
              <a:rPr lang="ko-KR" altLang="en-US" smtClean="0"/>
              <a:t>2024-04-17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6B72A6-BB69-FDB7-A1BA-7498B8AFDE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6472354-76D5-055D-5893-16F582FE2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85D8FE-C23F-48B3-BC71-565582BCDEC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3416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CAAA55-476B-94C0-9F0F-CEE478D79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FE1456-4C3E-B5AA-E41B-BE52CF123E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4A3A347-DE9C-0FB9-D17E-5CBE517A7C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C461721-EDD9-AA02-5E93-391F3D2576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5D9C6-78C0-48AE-A7BE-D3C45139387D}" type="datetimeFigureOut">
              <a:rPr lang="ko-KR" altLang="en-US" smtClean="0"/>
              <a:t>2024-04-17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90D553E-D79A-6409-1FE6-26609EEF3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6D1674E-5226-D9E8-F953-48AA0B956C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85D8FE-C23F-48B3-BC71-565582BCDEC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45925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6B138C-3E3C-8AB9-75D8-AC26F44D0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24BC531-CE9D-F70B-EB56-64BCD2E6D2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CC93792-B864-C60D-5985-27811A13D1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72B1F07-543F-F60F-E26A-D577129BAA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7E6898E-4FA3-293E-0ACC-0F6CB3BB12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D063614-6B71-6D3C-8312-403E99BEF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5D9C6-78C0-48AE-A7BE-D3C45139387D}" type="datetimeFigureOut">
              <a:rPr lang="ko-KR" altLang="en-US" smtClean="0"/>
              <a:t>2024-04-17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18DF6F7-4E07-14EB-8D06-556505DDD6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D4251E7-1D9C-22B9-F2F9-F32C7A050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85D8FE-C23F-48B3-BC71-565582BCDEC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39605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A8C087-4800-F1A4-A89B-D9D8075E7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50E97B9-7EB1-B13E-BE3D-8E48729F9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5D9C6-78C0-48AE-A7BE-D3C45139387D}" type="datetimeFigureOut">
              <a:rPr lang="ko-KR" altLang="en-US" smtClean="0"/>
              <a:t>2024-04-17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241F416-FB56-7437-4B97-AE436F31D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BFBA082-77CF-D79A-95CC-5D8A72AA0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85D8FE-C23F-48B3-BC71-565582BCDEC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66414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68B7E24-FA24-4EF7-AB1B-B96176128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5D9C6-78C0-48AE-A7BE-D3C45139387D}" type="datetimeFigureOut">
              <a:rPr lang="ko-KR" altLang="en-US" smtClean="0"/>
              <a:t>2024-04-17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E3BD9D9-AE01-0072-8C07-B9662170A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F5B407-B621-8DC6-54BA-BA5C427BC8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85D8FE-C23F-48B3-BC71-565582BCDEC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57587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B9618F-6885-0729-3D5B-3907038A4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8713D74-0542-51B6-CD17-9D20D1DCEF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FA50BE9-D2BF-CFB6-AE1E-38EA7101E4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5CB8D62-24EC-2ADC-FC37-99CB86DD2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5D9C6-78C0-48AE-A7BE-D3C45139387D}" type="datetimeFigureOut">
              <a:rPr lang="ko-KR" altLang="en-US" smtClean="0"/>
              <a:t>2024-04-17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D916D3E-2DFE-1B24-2897-777EEF778B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45B28F0-000B-60CF-9D81-43B442BD31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85D8FE-C23F-48B3-BC71-565582BCDEC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254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D82F3B-0E8E-98B6-0F1A-98F8DF6033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24A9B09-51D4-B608-56A1-4E410A37FF0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9D88F66-36BA-7A85-456F-1D464264D2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6F9C29-6614-AAA9-7C83-FA9F24E3D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5D9C6-78C0-48AE-A7BE-D3C45139387D}" type="datetimeFigureOut">
              <a:rPr lang="ko-KR" altLang="en-US" smtClean="0"/>
              <a:t>2024-04-17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FD2E13F-4A7D-5C28-3908-903CD6738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EDCD745-5DB8-A0F1-F7C9-F18AF2A3E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85D8FE-C23F-48B3-BC71-565582BCDEC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05801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E3B073-0B6B-9609-3175-F952852B4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4C3081F-A04F-BA1A-9B51-2767AF841F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7CE9FAA-D3DD-0D44-36DF-8691ADA81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5D9C6-78C0-48AE-A7BE-D3C45139387D}" type="datetimeFigureOut">
              <a:rPr lang="ko-KR" altLang="en-US" smtClean="0"/>
              <a:t>2024-04-17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C93C65-89E0-58D3-C5FB-6A41CC737C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590A33-1CCD-00D5-D7E0-A188E415F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85D8FE-C23F-48B3-BC71-565582BCDEC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0519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9E133AF-E1DF-CC71-A0B5-3A930E941B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7E7810C-BDF0-C230-ECEF-D22A463ED0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47D0143-890C-9FDB-51A9-C1134EC106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5D9C6-78C0-48AE-A7BE-D3C45139387D}" type="datetimeFigureOut">
              <a:rPr lang="ko-KR" altLang="en-US" smtClean="0"/>
              <a:t>2024-04-17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182023-C1BE-FC79-4C1F-7C96D39FDF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D11A8-1A9F-D3E1-871F-399203307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85D8FE-C23F-48B3-BC71-565582BCDEC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90218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8574479-245D-1084-ECBC-043E9DA9D8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B7DFCFE-D32E-3589-FF8B-5D24CA56DD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ADF41B1-05F0-CEC7-2202-131D9EED5F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05D9C6-78C0-48AE-A7BE-D3C45139387D}" type="datetimeFigureOut">
              <a:rPr lang="ko-KR" altLang="en-US" smtClean="0"/>
              <a:t>2024-04-17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21FE9F-0FD8-4389-EDA5-8120AA24DD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A2E1B19-9C8F-C87D-8AA1-C749402BC6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85D8FE-C23F-48B3-BC71-565582BCDEC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54267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png"/><Relationship Id="rId3" Type="http://schemas.microsoft.com/office/2007/relationships/hdphoto" Target="../media/hdphoto1.wdp"/><Relationship Id="rId7" Type="http://schemas.openxmlformats.org/officeDocument/2006/relationships/image" Target="../media/image13.jpeg"/><Relationship Id="rId12" Type="http://schemas.openxmlformats.org/officeDocument/2006/relationships/image" Target="../media/image1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jpeg"/><Relationship Id="rId11" Type="http://schemas.openxmlformats.org/officeDocument/2006/relationships/image" Target="../media/image17.png"/><Relationship Id="rId5" Type="http://schemas.openxmlformats.org/officeDocument/2006/relationships/image" Target="../media/image11.jpeg"/><Relationship Id="rId15" Type="http://schemas.openxmlformats.org/officeDocument/2006/relationships/image" Target="../media/image21.png"/><Relationship Id="rId10" Type="http://schemas.openxmlformats.org/officeDocument/2006/relationships/image" Target="../media/image16.png"/><Relationship Id="rId4" Type="http://schemas.openxmlformats.org/officeDocument/2006/relationships/image" Target="../media/image10.jpeg"/><Relationship Id="rId9" Type="http://schemas.openxmlformats.org/officeDocument/2006/relationships/image" Target="../media/image15.png"/><Relationship Id="rId14" Type="http://schemas.openxmlformats.org/officeDocument/2006/relationships/image" Target="../media/image2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21.png"/><Relationship Id="rId3" Type="http://schemas.microsoft.com/office/2007/relationships/hdphoto" Target="../media/hdphoto1.wdp"/><Relationship Id="rId7" Type="http://schemas.openxmlformats.org/officeDocument/2006/relationships/image" Target="../media/image13.jpeg"/><Relationship Id="rId12" Type="http://schemas.openxmlformats.org/officeDocument/2006/relationships/image" Target="../media/image2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jpeg"/><Relationship Id="rId11" Type="http://schemas.openxmlformats.org/officeDocument/2006/relationships/image" Target="../media/image17.png"/><Relationship Id="rId5" Type="http://schemas.openxmlformats.org/officeDocument/2006/relationships/image" Target="../media/image11.jpeg"/><Relationship Id="rId10" Type="http://schemas.openxmlformats.org/officeDocument/2006/relationships/image" Target="../media/image16.png"/><Relationship Id="rId4" Type="http://schemas.openxmlformats.org/officeDocument/2006/relationships/image" Target="../media/image10.jpeg"/><Relationship Id="rId9" Type="http://schemas.openxmlformats.org/officeDocument/2006/relationships/image" Target="../media/image15.png"/><Relationship Id="rId1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케치, 예술, 신발류, 그림이(가) 표시된 사진&#10;&#10;자동 생성된 설명">
            <a:extLst>
              <a:ext uri="{FF2B5EF4-FFF2-40B4-BE49-F238E27FC236}">
                <a16:creationId xmlns:a16="http://schemas.microsoft.com/office/drawing/2014/main" id="{496AE20D-E029-0A9F-072D-55C8950331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62" y="663122"/>
            <a:ext cx="4470888" cy="5961184"/>
          </a:xfrm>
          <a:prstGeom prst="rect">
            <a:avLst/>
          </a:prstGeom>
        </p:spPr>
      </p:pic>
      <p:pic>
        <p:nvPicPr>
          <p:cNvPr id="5" name="그림 4" descr="스크린샷, 디자인이(가) 표시된 사진&#10;&#10;자동 생성된 설명">
            <a:extLst>
              <a:ext uri="{FF2B5EF4-FFF2-40B4-BE49-F238E27FC236}">
                <a16:creationId xmlns:a16="http://schemas.microsoft.com/office/drawing/2014/main" id="{854CEDEE-8899-449F-1B70-AB1293BBA55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207"/>
          <a:stretch/>
        </p:blipFill>
        <p:spPr>
          <a:xfrm flipH="1">
            <a:off x="14556251" y="2798034"/>
            <a:ext cx="6174698" cy="5169723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5012E8D1-7F80-E68D-8180-D2CE6DB1C3CA}"/>
              </a:ext>
            </a:extLst>
          </p:cNvPr>
          <p:cNvSpPr/>
          <p:nvPr/>
        </p:nvSpPr>
        <p:spPr>
          <a:xfrm>
            <a:off x="4158816" y="6129915"/>
            <a:ext cx="3537386" cy="4542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b="1">
                <a:ln>
                  <a:solidFill>
                    <a:schemeClr val="tx1">
                      <a:alpha val="3000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IMU </a:t>
            </a:r>
            <a:r>
              <a:rPr lang="ko-KR" altLang="en-US" b="1">
                <a:ln>
                  <a:solidFill>
                    <a:schemeClr val="tx1">
                      <a:alpha val="3000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기반 보행 보조 제어</a:t>
            </a:r>
            <a:endParaRPr lang="en-US" altLang="ko-KR" b="1" dirty="0">
              <a:ln>
                <a:solidFill>
                  <a:schemeClr val="tx1">
                    <a:alpha val="3000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  <p:pic>
        <p:nvPicPr>
          <p:cNvPr id="7" name="그림 6" descr="블랙, 어둠이(가) 표시된 사진&#10;&#10;자동 생성된 설명">
            <a:extLst>
              <a:ext uri="{FF2B5EF4-FFF2-40B4-BE49-F238E27FC236}">
                <a16:creationId xmlns:a16="http://schemas.microsoft.com/office/drawing/2014/main" id="{C0FD194C-41C7-A58E-5992-17E8DB3C37CB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3239966" y="2860747"/>
            <a:ext cx="1092961" cy="1092961"/>
          </a:xfrm>
          <a:prstGeom prst="rect">
            <a:avLst/>
          </a:prstGeom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CAFAD8B9-B65E-9091-3ADA-9B51334725F7}"/>
              </a:ext>
            </a:extLst>
          </p:cNvPr>
          <p:cNvGrpSpPr/>
          <p:nvPr/>
        </p:nvGrpSpPr>
        <p:grpSpPr>
          <a:xfrm>
            <a:off x="4478691" y="663122"/>
            <a:ext cx="2786759" cy="2670342"/>
            <a:chOff x="4478691" y="663122"/>
            <a:chExt cx="2786759" cy="2670342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F2A3245C-A789-C654-1E3C-653B0B2A75EF}"/>
                </a:ext>
              </a:extLst>
            </p:cNvPr>
            <p:cNvSpPr/>
            <p:nvPr/>
          </p:nvSpPr>
          <p:spPr>
            <a:xfrm>
              <a:off x="4478691" y="663122"/>
              <a:ext cx="2786759" cy="2670342"/>
            </a:xfrm>
            <a:prstGeom prst="roundRect">
              <a:avLst>
                <a:gd name="adj" fmla="val 8302"/>
              </a:avLst>
            </a:prstGeom>
            <a:noFill/>
            <a:ln w="190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F49B6319-9474-DD09-EC91-FD670D2370AD}"/>
                </a:ext>
              </a:extLst>
            </p:cNvPr>
            <p:cNvSpPr/>
            <p:nvPr/>
          </p:nvSpPr>
          <p:spPr>
            <a:xfrm>
              <a:off x="4694966" y="734814"/>
              <a:ext cx="2365572" cy="1103203"/>
            </a:xfrm>
            <a:prstGeom prst="roundRect">
              <a:avLst>
                <a:gd name="adj" fmla="val 11969"/>
              </a:avLst>
            </a:prstGeom>
            <a:blipFill dpi="0"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8DC94904-F892-A0DC-093B-BEB2CAFEB105}"/>
                </a:ext>
              </a:extLst>
            </p:cNvPr>
            <p:cNvSpPr/>
            <p:nvPr/>
          </p:nvSpPr>
          <p:spPr>
            <a:xfrm>
              <a:off x="4694966" y="1878304"/>
              <a:ext cx="2365572" cy="1080185"/>
            </a:xfrm>
            <a:prstGeom prst="roundRect">
              <a:avLst>
                <a:gd name="adj" fmla="val 10773"/>
              </a:avLst>
            </a:prstGeom>
            <a:blipFill dpi="0"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8E5F13A-5995-D1E5-C8AA-E0E3CB40D6EB}"/>
              </a:ext>
            </a:extLst>
          </p:cNvPr>
          <p:cNvSpPr/>
          <p:nvPr/>
        </p:nvSpPr>
        <p:spPr>
          <a:xfrm>
            <a:off x="4135053" y="199964"/>
            <a:ext cx="3537386" cy="4542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b="1">
                <a:ln>
                  <a:solidFill>
                    <a:schemeClr val="tx1">
                      <a:alpha val="3000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비전 인공지능 모델</a:t>
            </a:r>
            <a:endParaRPr lang="en-US" altLang="ko-KR" b="1" dirty="0">
              <a:ln>
                <a:solidFill>
                  <a:schemeClr val="tx1">
                    <a:alpha val="3000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B6CE01-AF57-46FA-0821-3386E80BB4F9}"/>
              </a:ext>
            </a:extLst>
          </p:cNvPr>
          <p:cNvSpPr/>
          <p:nvPr/>
        </p:nvSpPr>
        <p:spPr>
          <a:xfrm>
            <a:off x="4103377" y="2925301"/>
            <a:ext cx="3537386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400">
                <a:ln>
                  <a:solidFill>
                    <a:schemeClr val="tx1">
                      <a:alpha val="3000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데이터 수집 </a:t>
            </a:r>
            <a:endParaRPr lang="en-US" altLang="ko-KR" sz="1400" dirty="0">
              <a:ln>
                <a:solidFill>
                  <a:schemeClr val="tx1">
                    <a:alpha val="3000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D627447-900E-C4D3-D6D4-8407B50F47C3}"/>
              </a:ext>
            </a:extLst>
          </p:cNvPr>
          <p:cNvSpPr/>
          <p:nvPr/>
        </p:nvSpPr>
        <p:spPr>
          <a:xfrm>
            <a:off x="4086692" y="5767638"/>
            <a:ext cx="3537386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400">
                <a:ln>
                  <a:solidFill>
                    <a:schemeClr val="tx1">
                      <a:alpha val="3000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데이터 수집 </a:t>
            </a:r>
            <a:endParaRPr lang="en-US" altLang="ko-KR" sz="1400" dirty="0">
              <a:ln>
                <a:solidFill>
                  <a:schemeClr val="tx1">
                    <a:alpha val="3000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E7BDF276-594C-F426-22AE-17900B9E29B8}"/>
              </a:ext>
            </a:extLst>
          </p:cNvPr>
          <p:cNvGrpSpPr/>
          <p:nvPr/>
        </p:nvGrpSpPr>
        <p:grpSpPr>
          <a:xfrm>
            <a:off x="4230803" y="3500692"/>
            <a:ext cx="3221179" cy="2670342"/>
            <a:chOff x="4230803" y="3500692"/>
            <a:chExt cx="3221179" cy="2670342"/>
          </a:xfrm>
        </p:grpSpPr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D2B1E42E-BF16-A016-CBA0-BBBA78B2ED9F}"/>
                </a:ext>
              </a:extLst>
            </p:cNvPr>
            <p:cNvSpPr/>
            <p:nvPr/>
          </p:nvSpPr>
          <p:spPr>
            <a:xfrm>
              <a:off x="4478691" y="3500692"/>
              <a:ext cx="2786759" cy="2670342"/>
            </a:xfrm>
            <a:prstGeom prst="roundRect">
              <a:avLst>
                <a:gd name="adj" fmla="val 8302"/>
              </a:avLst>
            </a:prstGeom>
            <a:noFill/>
            <a:ln w="190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A5390C5E-9C2B-B927-0331-DAF59A2CBA7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230803" y="3515269"/>
              <a:ext cx="3221179" cy="2415884"/>
            </a:xfrm>
            <a:prstGeom prst="rect">
              <a:avLst/>
            </a:prstGeom>
          </p:spPr>
        </p:pic>
      </p:grpSp>
      <p:pic>
        <p:nvPicPr>
          <p:cNvPr id="18" name="그림 17" descr="상징, 디자인이(가) 표시된 사진&#10;&#10;자동 생성된 설명">
            <a:extLst>
              <a:ext uri="{FF2B5EF4-FFF2-40B4-BE49-F238E27FC236}">
                <a16:creationId xmlns:a16="http://schemas.microsoft.com/office/drawing/2014/main" id="{88D79A69-5710-57DE-75C9-2AA0D653A57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7411214" y="1760814"/>
            <a:ext cx="450053" cy="450053"/>
          </a:xfrm>
          <a:prstGeom prst="rect">
            <a:avLst/>
          </a:prstGeom>
        </p:spPr>
      </p:pic>
      <p:pic>
        <p:nvPicPr>
          <p:cNvPr id="19" name="그림 18" descr="상징, 디자인이(가) 표시된 사진&#10;&#10;자동 생성된 설명">
            <a:extLst>
              <a:ext uri="{FF2B5EF4-FFF2-40B4-BE49-F238E27FC236}">
                <a16:creationId xmlns:a16="http://schemas.microsoft.com/office/drawing/2014/main" id="{9D862D6F-534A-BE0A-B3F5-1E0670B8A7C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7399051" y="4686754"/>
            <a:ext cx="450053" cy="450053"/>
          </a:xfrm>
          <a:prstGeom prst="rect">
            <a:avLst/>
          </a:prstGeom>
        </p:spPr>
      </p:pic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7EBF1588-BC04-2D07-FAF1-8B8038BC8B12}"/>
              </a:ext>
            </a:extLst>
          </p:cNvPr>
          <p:cNvSpPr/>
          <p:nvPr/>
        </p:nvSpPr>
        <p:spPr>
          <a:xfrm>
            <a:off x="7968957" y="3500692"/>
            <a:ext cx="2786759" cy="2670342"/>
          </a:xfrm>
          <a:prstGeom prst="roundRect">
            <a:avLst>
              <a:gd name="adj" fmla="val 8302"/>
            </a:avLst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3288A45E-4458-3DF1-D1F7-929635DBF812}"/>
              </a:ext>
            </a:extLst>
          </p:cNvPr>
          <p:cNvSpPr/>
          <p:nvPr/>
        </p:nvSpPr>
        <p:spPr>
          <a:xfrm>
            <a:off x="7569047" y="5761834"/>
            <a:ext cx="3537386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400">
                <a:ln>
                  <a:solidFill>
                    <a:schemeClr val="tx1">
                      <a:alpha val="3000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보행 주기 분석</a:t>
            </a:r>
            <a:endParaRPr lang="en-US" altLang="ko-KR" sz="1400" dirty="0">
              <a:ln>
                <a:solidFill>
                  <a:schemeClr val="tx1">
                    <a:alpha val="3000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F15B1DDF-A295-32D3-449E-5E4FFD7C0104}"/>
              </a:ext>
            </a:extLst>
          </p:cNvPr>
          <p:cNvSpPr/>
          <p:nvPr/>
        </p:nvSpPr>
        <p:spPr>
          <a:xfrm>
            <a:off x="7952272" y="645711"/>
            <a:ext cx="2786759" cy="2670342"/>
          </a:xfrm>
          <a:prstGeom prst="roundRect">
            <a:avLst>
              <a:gd name="adj" fmla="val 8302"/>
            </a:avLst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8CD049F-2C37-5454-6758-8168BD240497}"/>
              </a:ext>
            </a:extLst>
          </p:cNvPr>
          <p:cNvSpPr/>
          <p:nvPr/>
        </p:nvSpPr>
        <p:spPr>
          <a:xfrm>
            <a:off x="7576958" y="2907890"/>
            <a:ext cx="3537386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400">
                <a:ln>
                  <a:solidFill>
                    <a:schemeClr val="tx1">
                      <a:alpha val="3000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인공지능 모델 개발</a:t>
            </a:r>
            <a:endParaRPr lang="en-US" altLang="ko-KR" sz="1400" dirty="0">
              <a:ln>
                <a:solidFill>
                  <a:schemeClr val="tx1">
                    <a:alpha val="3000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97451996-BE2A-F443-C3B6-5D8561246C00}"/>
              </a:ext>
            </a:extLst>
          </p:cNvPr>
          <p:cNvGrpSpPr/>
          <p:nvPr/>
        </p:nvGrpSpPr>
        <p:grpSpPr>
          <a:xfrm>
            <a:off x="8142234" y="3638102"/>
            <a:ext cx="2391885" cy="1904816"/>
            <a:chOff x="11106433" y="1760814"/>
            <a:chExt cx="2462223" cy="1979913"/>
          </a:xfrm>
        </p:grpSpPr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350E371A-3F80-B40A-5A71-AA027995ACD3}"/>
                </a:ext>
              </a:extLst>
            </p:cNvPr>
            <p:cNvGrpSpPr/>
            <p:nvPr/>
          </p:nvGrpSpPr>
          <p:grpSpPr>
            <a:xfrm>
              <a:off x="11106433" y="1760814"/>
              <a:ext cx="2462223" cy="1979913"/>
              <a:chOff x="11106433" y="1760814"/>
              <a:chExt cx="2462223" cy="1979913"/>
            </a:xfrm>
          </p:grpSpPr>
          <p:cxnSp>
            <p:nvCxnSpPr>
              <p:cNvPr id="27" name="직선 연결선 26">
                <a:extLst>
                  <a:ext uri="{FF2B5EF4-FFF2-40B4-BE49-F238E27FC236}">
                    <a16:creationId xmlns:a16="http://schemas.microsoft.com/office/drawing/2014/main" id="{99AC5528-1C2F-8726-63FF-AC8B71CDFD3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106433" y="1760814"/>
                <a:ext cx="7911" cy="1979913"/>
              </a:xfrm>
              <a:prstGeom prst="line">
                <a:avLst/>
              </a:prstGeom>
              <a:ln w="28575">
                <a:solidFill>
                  <a:schemeClr val="bg2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직선 연결선 27">
                <a:extLst>
                  <a:ext uri="{FF2B5EF4-FFF2-40B4-BE49-F238E27FC236}">
                    <a16:creationId xmlns:a16="http://schemas.microsoft.com/office/drawing/2014/main" id="{F8B81565-F560-9442-70EB-761E38808461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>
                <a:off x="12341500" y="2505615"/>
                <a:ext cx="0" cy="2454312"/>
              </a:xfrm>
              <a:prstGeom prst="line">
                <a:avLst/>
              </a:prstGeom>
              <a:ln w="28575">
                <a:solidFill>
                  <a:schemeClr val="bg2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9B19E616-BF4C-4F80-3B47-A4371F37CD24}"/>
                </a:ext>
              </a:extLst>
            </p:cNvPr>
            <p:cNvSpPr/>
            <p:nvPr/>
          </p:nvSpPr>
          <p:spPr>
            <a:xfrm>
              <a:off x="11166764" y="2018266"/>
              <a:ext cx="2382981" cy="1600322"/>
            </a:xfrm>
            <a:custGeom>
              <a:avLst/>
              <a:gdLst>
                <a:gd name="connsiteX0" fmla="*/ 0 w 2382981"/>
                <a:gd name="connsiteY0" fmla="*/ 1570061 h 1600322"/>
                <a:gd name="connsiteX1" fmla="*/ 346363 w 2382981"/>
                <a:gd name="connsiteY1" fmla="*/ 1140570 h 1600322"/>
                <a:gd name="connsiteX2" fmla="*/ 637309 w 2382981"/>
                <a:gd name="connsiteY2" fmla="*/ 1528498 h 1600322"/>
                <a:gd name="connsiteX3" fmla="*/ 942109 w 2382981"/>
                <a:gd name="connsiteY3" fmla="*/ 1556207 h 1600322"/>
                <a:gd name="connsiteX4" fmla="*/ 1288472 w 2382981"/>
                <a:gd name="connsiteY4" fmla="*/ 1057443 h 1600322"/>
                <a:gd name="connsiteX5" fmla="*/ 1427018 w 2382981"/>
                <a:gd name="connsiteY5" fmla="*/ 1112861 h 1600322"/>
                <a:gd name="connsiteX6" fmla="*/ 1482436 w 2382981"/>
                <a:gd name="connsiteY6" fmla="*/ 877334 h 1600322"/>
                <a:gd name="connsiteX7" fmla="*/ 1551709 w 2382981"/>
                <a:gd name="connsiteY7" fmla="*/ 988170 h 1600322"/>
                <a:gd name="connsiteX8" fmla="*/ 1676400 w 2382981"/>
                <a:gd name="connsiteY8" fmla="*/ 143043 h 1600322"/>
                <a:gd name="connsiteX9" fmla="*/ 1939636 w 2382981"/>
                <a:gd name="connsiteY9" fmla="*/ 87625 h 1600322"/>
                <a:gd name="connsiteX10" fmla="*/ 2064327 w 2382981"/>
                <a:gd name="connsiteY10" fmla="*/ 1029734 h 1600322"/>
                <a:gd name="connsiteX11" fmla="*/ 2161309 w 2382981"/>
                <a:gd name="connsiteY11" fmla="*/ 1279116 h 1600322"/>
                <a:gd name="connsiteX12" fmla="*/ 2230581 w 2382981"/>
                <a:gd name="connsiteY12" fmla="*/ 1528498 h 1600322"/>
                <a:gd name="connsiteX13" fmla="*/ 2382981 w 2382981"/>
                <a:gd name="connsiteY13" fmla="*/ 1514643 h 16003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82981" h="1600322">
                  <a:moveTo>
                    <a:pt x="0" y="1570061"/>
                  </a:moveTo>
                  <a:cubicBezTo>
                    <a:pt x="120072" y="1358779"/>
                    <a:pt x="240145" y="1147497"/>
                    <a:pt x="346363" y="1140570"/>
                  </a:cubicBezTo>
                  <a:cubicBezTo>
                    <a:pt x="452581" y="1133643"/>
                    <a:pt x="538018" y="1459225"/>
                    <a:pt x="637309" y="1528498"/>
                  </a:cubicBezTo>
                  <a:cubicBezTo>
                    <a:pt x="736600" y="1597771"/>
                    <a:pt x="833582" y="1634716"/>
                    <a:pt x="942109" y="1556207"/>
                  </a:cubicBezTo>
                  <a:cubicBezTo>
                    <a:pt x="1050636" y="1477698"/>
                    <a:pt x="1207654" y="1131334"/>
                    <a:pt x="1288472" y="1057443"/>
                  </a:cubicBezTo>
                  <a:cubicBezTo>
                    <a:pt x="1369290" y="983552"/>
                    <a:pt x="1394691" y="1142879"/>
                    <a:pt x="1427018" y="1112861"/>
                  </a:cubicBezTo>
                  <a:cubicBezTo>
                    <a:pt x="1459345" y="1082843"/>
                    <a:pt x="1461654" y="898116"/>
                    <a:pt x="1482436" y="877334"/>
                  </a:cubicBezTo>
                  <a:cubicBezTo>
                    <a:pt x="1503218" y="856552"/>
                    <a:pt x="1519382" y="1110552"/>
                    <a:pt x="1551709" y="988170"/>
                  </a:cubicBezTo>
                  <a:cubicBezTo>
                    <a:pt x="1584036" y="865788"/>
                    <a:pt x="1611746" y="293134"/>
                    <a:pt x="1676400" y="143043"/>
                  </a:cubicBezTo>
                  <a:cubicBezTo>
                    <a:pt x="1741054" y="-7048"/>
                    <a:pt x="1874982" y="-60157"/>
                    <a:pt x="1939636" y="87625"/>
                  </a:cubicBezTo>
                  <a:cubicBezTo>
                    <a:pt x="2004290" y="235407"/>
                    <a:pt x="2027382" y="831152"/>
                    <a:pt x="2064327" y="1029734"/>
                  </a:cubicBezTo>
                  <a:cubicBezTo>
                    <a:pt x="2101273" y="1228316"/>
                    <a:pt x="2133600" y="1195989"/>
                    <a:pt x="2161309" y="1279116"/>
                  </a:cubicBezTo>
                  <a:cubicBezTo>
                    <a:pt x="2189018" y="1362243"/>
                    <a:pt x="2193636" y="1489243"/>
                    <a:pt x="2230581" y="1528498"/>
                  </a:cubicBezTo>
                  <a:cubicBezTo>
                    <a:pt x="2267526" y="1567753"/>
                    <a:pt x="2325253" y="1541198"/>
                    <a:pt x="2382981" y="1514643"/>
                  </a:cubicBezTo>
                </a:path>
              </a:pathLst>
            </a:custGeom>
            <a:noFill/>
            <a:ln w="38100"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88AB68EF-3B70-321D-6B71-0EBF30EBA7DC}"/>
              </a:ext>
            </a:extLst>
          </p:cNvPr>
          <p:cNvCxnSpPr/>
          <p:nvPr/>
        </p:nvCxnSpPr>
        <p:spPr>
          <a:xfrm>
            <a:off x="9961418" y="3953708"/>
            <a:ext cx="0" cy="1471704"/>
          </a:xfrm>
          <a:prstGeom prst="line">
            <a:avLst/>
          </a:prstGeom>
          <a:ln w="28575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그림 29" descr="블랙, 어둠이(가) 표시된 사진&#10;&#10;자동 생성된 설명">
            <a:extLst>
              <a:ext uri="{FF2B5EF4-FFF2-40B4-BE49-F238E27FC236}">
                <a16:creationId xmlns:a16="http://schemas.microsoft.com/office/drawing/2014/main" id="{80529BBA-DD75-157F-048B-E92A7C683A4F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0869749" y="2595898"/>
            <a:ext cx="1406576" cy="1406576"/>
          </a:xfrm>
          <a:prstGeom prst="rect">
            <a:avLst/>
          </a:prstGeom>
        </p:spPr>
      </p:pic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3AC355A1-DB8F-0DED-32C1-9C1DCC700A6B}"/>
              </a:ext>
            </a:extLst>
          </p:cNvPr>
          <p:cNvCxnSpPr/>
          <p:nvPr/>
        </p:nvCxnSpPr>
        <p:spPr>
          <a:xfrm>
            <a:off x="14394873" y="4590510"/>
            <a:ext cx="0" cy="1471704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2C5ECF06-FA36-6D89-6512-78D27F36CAD2}"/>
              </a:ext>
            </a:extLst>
          </p:cNvPr>
          <p:cNvCxnSpPr/>
          <p:nvPr/>
        </p:nvCxnSpPr>
        <p:spPr>
          <a:xfrm>
            <a:off x="16168255" y="3217856"/>
            <a:ext cx="0" cy="1471704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969A6753-A5C8-267A-9EC8-A5BE2A6C4EDC}"/>
              </a:ext>
            </a:extLst>
          </p:cNvPr>
          <p:cNvCxnSpPr/>
          <p:nvPr/>
        </p:nvCxnSpPr>
        <p:spPr>
          <a:xfrm>
            <a:off x="17761527" y="1957296"/>
            <a:ext cx="0" cy="1471704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7FFF3169-8B7A-9AB7-AE2D-4749BA1B9A99}"/>
              </a:ext>
            </a:extLst>
          </p:cNvPr>
          <p:cNvCxnSpPr/>
          <p:nvPr/>
        </p:nvCxnSpPr>
        <p:spPr>
          <a:xfrm>
            <a:off x="19313236" y="1262441"/>
            <a:ext cx="0" cy="1471704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69AAC1A3-802D-1B0A-5AC0-29C86FAA6E85}"/>
              </a:ext>
            </a:extLst>
          </p:cNvPr>
          <p:cNvSpPr/>
          <p:nvPr/>
        </p:nvSpPr>
        <p:spPr>
          <a:xfrm>
            <a:off x="15327948" y="253336"/>
            <a:ext cx="4273048" cy="4542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b="1">
                <a:ln>
                  <a:solidFill>
                    <a:schemeClr val="tx1">
                      <a:alpha val="3000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지능형 보행 환경 감지 알고리즘 개발</a:t>
            </a:r>
            <a:endParaRPr lang="en-US" altLang="ko-KR" b="1" dirty="0">
              <a:ln>
                <a:solidFill>
                  <a:schemeClr val="tx1">
                    <a:alpha val="3000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F2B6B8C5-2844-8843-6C91-5E7758DB78C9}"/>
              </a:ext>
            </a:extLst>
          </p:cNvPr>
          <p:cNvSpPr/>
          <p:nvPr/>
        </p:nvSpPr>
        <p:spPr>
          <a:xfrm>
            <a:off x="565991" y="233694"/>
            <a:ext cx="3537386" cy="4542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b="1">
                <a:ln>
                  <a:solidFill>
                    <a:schemeClr val="tx1">
                      <a:alpha val="3000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발목 착용형 보조 로봇</a:t>
            </a:r>
            <a:endParaRPr lang="en-US" altLang="ko-KR" b="1" dirty="0">
              <a:ln>
                <a:solidFill>
                  <a:schemeClr val="tx1">
                    <a:alpha val="3000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8393090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사각형: 둥근 모서리 1034">
            <a:extLst>
              <a:ext uri="{FF2B5EF4-FFF2-40B4-BE49-F238E27FC236}">
                <a16:creationId xmlns:a16="http://schemas.microsoft.com/office/drawing/2014/main" id="{C3A734D0-47FC-5C75-CF3C-6B09B1738671}"/>
              </a:ext>
            </a:extLst>
          </p:cNvPr>
          <p:cNvSpPr/>
          <p:nvPr/>
        </p:nvSpPr>
        <p:spPr>
          <a:xfrm>
            <a:off x="2872449" y="2858344"/>
            <a:ext cx="5117829" cy="1759692"/>
          </a:xfrm>
          <a:prstGeom prst="roundRect">
            <a:avLst>
              <a:gd name="adj" fmla="val 6704"/>
            </a:avLst>
          </a:prstGeom>
          <a:solidFill>
            <a:srgbClr val="EFF9EB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4" name="사각형: 둥근 모서리 1033">
            <a:extLst>
              <a:ext uri="{FF2B5EF4-FFF2-40B4-BE49-F238E27FC236}">
                <a16:creationId xmlns:a16="http://schemas.microsoft.com/office/drawing/2014/main" id="{ED4C6B46-45B1-936C-DE09-EC9217617707}"/>
              </a:ext>
            </a:extLst>
          </p:cNvPr>
          <p:cNvSpPr/>
          <p:nvPr/>
        </p:nvSpPr>
        <p:spPr>
          <a:xfrm>
            <a:off x="2844008" y="927287"/>
            <a:ext cx="5158264" cy="1759692"/>
          </a:xfrm>
          <a:prstGeom prst="roundRect">
            <a:avLst>
              <a:gd name="adj" fmla="val 6704"/>
            </a:avLst>
          </a:prstGeom>
          <a:solidFill>
            <a:srgbClr val="F2F7FC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969D9CE3-5579-AF4C-389E-D296407032BF}"/>
              </a:ext>
            </a:extLst>
          </p:cNvPr>
          <p:cNvGrpSpPr/>
          <p:nvPr/>
        </p:nvGrpSpPr>
        <p:grpSpPr>
          <a:xfrm>
            <a:off x="219659" y="1267509"/>
            <a:ext cx="1806463" cy="2869574"/>
            <a:chOff x="504825" y="480558"/>
            <a:chExt cx="2336048" cy="3570779"/>
          </a:xfrm>
        </p:grpSpPr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81FF95F9-46D0-C9F1-DE12-387949A7142C}"/>
                </a:ext>
              </a:extLst>
            </p:cNvPr>
            <p:cNvSpPr/>
            <p:nvPr/>
          </p:nvSpPr>
          <p:spPr>
            <a:xfrm>
              <a:off x="504825" y="876300"/>
              <a:ext cx="2290818" cy="3175037"/>
            </a:xfrm>
            <a:prstGeom prst="roundRect">
              <a:avLst>
                <a:gd name="adj" fmla="val 5857"/>
              </a:avLst>
            </a:prstGeom>
            <a:solidFill>
              <a:srgbClr val="F5F5F5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" name="그림 1" descr="스케치, 예술, 신발류, 그림이(가) 표시된 사진">
              <a:extLst>
                <a:ext uri="{FF2B5EF4-FFF2-40B4-BE49-F238E27FC236}">
                  <a16:creationId xmlns:a16="http://schemas.microsoft.com/office/drawing/2014/main" id="{8948FE92-B71E-2998-54D6-8617693145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-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4825" y="936605"/>
              <a:ext cx="2336048" cy="3114731"/>
            </a:xfrm>
            <a:prstGeom prst="rect">
              <a:avLst/>
            </a:prstGeom>
          </p:spPr>
        </p:pic>
        <p:sp>
          <p:nvSpPr>
            <p:cNvPr id="41" name="사각형: 둥근 위쪽 모서리 40">
              <a:extLst>
                <a:ext uri="{FF2B5EF4-FFF2-40B4-BE49-F238E27FC236}">
                  <a16:creationId xmlns:a16="http://schemas.microsoft.com/office/drawing/2014/main" id="{3A9D1EEB-C73C-C413-E402-5213C503E558}"/>
                </a:ext>
              </a:extLst>
            </p:cNvPr>
            <p:cNvSpPr/>
            <p:nvPr/>
          </p:nvSpPr>
          <p:spPr>
            <a:xfrm>
              <a:off x="602653" y="571500"/>
              <a:ext cx="2102447" cy="304799"/>
            </a:xfrm>
            <a:prstGeom prst="round2Same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C178F6F7-85C6-A399-969A-57DFF2775E18}"/>
                </a:ext>
              </a:extLst>
            </p:cNvPr>
            <p:cNvSpPr/>
            <p:nvPr/>
          </p:nvSpPr>
          <p:spPr>
            <a:xfrm>
              <a:off x="783459" y="480558"/>
              <a:ext cx="1733550" cy="42298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200" b="1">
                  <a:ln>
                    <a:solidFill>
                      <a:schemeClr val="bg1">
                        <a:alpha val="30000"/>
                      </a:schemeClr>
                    </a:solidFill>
                  </a:ln>
                  <a:solidFill>
                    <a:schemeClr val="bg1"/>
                  </a:solidFill>
                  <a:latin typeface="+mn-ea"/>
                </a:rPr>
                <a:t>exosuit</a:t>
              </a:r>
              <a:endParaRPr lang="en-US" altLang="ko-KR" sz="1200" b="1" dirty="0">
                <a:ln>
                  <a:solidFill>
                    <a:schemeClr val="bg1">
                      <a:alpha val="30000"/>
                    </a:schemeClr>
                  </a:solidFill>
                </a:ln>
                <a:solidFill>
                  <a:schemeClr val="bg1"/>
                </a:solidFill>
                <a:latin typeface="+mn-ea"/>
              </a:endParaRPr>
            </a:p>
          </p:txBody>
        </p:sp>
      </p:grpSp>
      <p:grpSp>
        <p:nvGrpSpPr>
          <p:cNvPr id="1039" name="그룹 1038">
            <a:extLst>
              <a:ext uri="{FF2B5EF4-FFF2-40B4-BE49-F238E27FC236}">
                <a16:creationId xmlns:a16="http://schemas.microsoft.com/office/drawing/2014/main" id="{0BACDEA7-7F18-A789-268C-4651A6D0B374}"/>
              </a:ext>
            </a:extLst>
          </p:cNvPr>
          <p:cNvGrpSpPr/>
          <p:nvPr/>
        </p:nvGrpSpPr>
        <p:grpSpPr>
          <a:xfrm>
            <a:off x="2806613" y="1415480"/>
            <a:ext cx="1452808" cy="1033640"/>
            <a:chOff x="3379120" y="1063113"/>
            <a:chExt cx="1733550" cy="1264265"/>
          </a:xfrm>
        </p:grpSpPr>
        <p:grpSp>
          <p:nvGrpSpPr>
            <p:cNvPr id="52" name="그룹 51">
              <a:extLst>
                <a:ext uri="{FF2B5EF4-FFF2-40B4-BE49-F238E27FC236}">
                  <a16:creationId xmlns:a16="http://schemas.microsoft.com/office/drawing/2014/main" id="{4DCA1289-78D2-043E-D35C-F9FE3F3B2873}"/>
                </a:ext>
              </a:extLst>
            </p:cNvPr>
            <p:cNvGrpSpPr/>
            <p:nvPr/>
          </p:nvGrpSpPr>
          <p:grpSpPr>
            <a:xfrm>
              <a:off x="3526778" y="1063113"/>
              <a:ext cx="1351155" cy="859498"/>
              <a:chOff x="3568852" y="1110767"/>
              <a:chExt cx="1877390" cy="1158361"/>
            </a:xfrm>
          </p:grpSpPr>
          <p:pic>
            <p:nvPicPr>
              <p:cNvPr id="51" name="그림 50" descr="사람, 의류, 신발류, 거리이(가) 표시된 사진&#10;&#10;자동 생성된 설명">
                <a:extLst>
                  <a:ext uri="{FF2B5EF4-FFF2-40B4-BE49-F238E27FC236}">
                    <a16:creationId xmlns:a16="http://schemas.microsoft.com/office/drawing/2014/main" id="{30A66007-49AA-7AC8-8604-EE229DB708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568852" y="1110767"/>
                <a:ext cx="1559590" cy="877270"/>
              </a:xfrm>
              <a:prstGeom prst="rect">
                <a:avLst/>
              </a:prstGeom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48" name="그림 47" descr="신발류, 바닥재, 바닥, 사람이(가) 표시된 사진">
                <a:extLst>
                  <a:ext uri="{FF2B5EF4-FFF2-40B4-BE49-F238E27FC236}">
                    <a16:creationId xmlns:a16="http://schemas.microsoft.com/office/drawing/2014/main" id="{9FB6952E-8D90-FAF2-A587-9DAA008F25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670673" y="1194977"/>
                <a:ext cx="1526005" cy="858378"/>
              </a:xfrm>
              <a:prstGeom prst="rect">
                <a:avLst/>
              </a:prstGeom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50" name="그림 49" descr="청바지, 신발류, 사람, 그레이이(가) 표시된 사진&#10;&#10;자동 생성된 설명">
                <a:extLst>
                  <a:ext uri="{FF2B5EF4-FFF2-40B4-BE49-F238E27FC236}">
                    <a16:creationId xmlns:a16="http://schemas.microsoft.com/office/drawing/2014/main" id="{9F92BA12-A821-AA7E-CF93-024D0594C8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736630" y="1263373"/>
                <a:ext cx="1608776" cy="904937"/>
              </a:xfrm>
              <a:prstGeom prst="rect">
                <a:avLst/>
              </a:prstGeom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47" name="그림 46" descr="신발류, 사람, 청바지, 의류이(가) 표시된 사진&#10;&#10;자동 생성된 설명">
                <a:extLst>
                  <a:ext uri="{FF2B5EF4-FFF2-40B4-BE49-F238E27FC236}">
                    <a16:creationId xmlns:a16="http://schemas.microsoft.com/office/drawing/2014/main" id="{92FB6FB9-8234-644A-B33A-F6EBCE9DFE8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813150" y="1350513"/>
                <a:ext cx="1633092" cy="918615"/>
              </a:xfrm>
              <a:prstGeom prst="rect">
                <a:avLst/>
              </a:prstGeom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</p:pic>
        </p:grp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DAB74752-92EA-B485-0565-D4736732F5E6}"/>
                </a:ext>
              </a:extLst>
            </p:cNvPr>
            <p:cNvSpPr/>
            <p:nvPr/>
          </p:nvSpPr>
          <p:spPr>
            <a:xfrm>
              <a:off x="3379120" y="1993761"/>
              <a:ext cx="1733550" cy="33361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200" b="1">
                  <a:ln>
                    <a:solidFill>
                      <a:schemeClr val="tx1">
                        <a:lumMod val="65000"/>
                        <a:lumOff val="35000"/>
                        <a:alpha val="30000"/>
                      </a:scheme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rPr>
                <a:t>frame</a:t>
              </a:r>
              <a:endParaRPr lang="en-US" altLang="ko-KR" sz="1200" b="1" dirty="0">
                <a:ln>
                  <a:solidFill>
                    <a:schemeClr val="tx1">
                      <a:lumMod val="65000"/>
                      <a:lumOff val="35000"/>
                      <a:alpha val="3000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endParaRPr>
            </a:p>
          </p:txBody>
        </p:sp>
      </p:grp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9C5D973D-C84A-8D34-FBAE-8F27B2ADB5FC}"/>
              </a:ext>
            </a:extLst>
          </p:cNvPr>
          <p:cNvSpPr/>
          <p:nvPr/>
        </p:nvSpPr>
        <p:spPr>
          <a:xfrm>
            <a:off x="1535950" y="1466144"/>
            <a:ext cx="1733550" cy="3135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100" b="1">
                <a:ln>
                  <a:solidFill>
                    <a:schemeClr val="tx1">
                      <a:lumMod val="65000"/>
                      <a:lumOff val="35000"/>
                      <a:alpha val="3000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camera</a:t>
            </a:r>
            <a:endParaRPr lang="en-US" altLang="ko-KR" sz="1400" b="1" dirty="0">
              <a:ln>
                <a:solidFill>
                  <a:schemeClr val="tx1">
                    <a:lumMod val="65000"/>
                    <a:lumOff val="35000"/>
                    <a:alpha val="30000"/>
                  </a:scheme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E57FDCCF-E349-7F54-AFAC-3AF41FD59019}"/>
              </a:ext>
            </a:extLst>
          </p:cNvPr>
          <p:cNvSpPr/>
          <p:nvPr/>
        </p:nvSpPr>
        <p:spPr>
          <a:xfrm>
            <a:off x="1548608" y="3290837"/>
            <a:ext cx="1733550" cy="3135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100" b="1">
                <a:ln>
                  <a:solidFill>
                    <a:schemeClr val="tx1">
                      <a:lumMod val="65000"/>
                      <a:lumOff val="35000"/>
                      <a:alpha val="3000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IMU sensor</a:t>
            </a:r>
            <a:endParaRPr lang="en-US" altLang="ko-KR" sz="1400" b="1" dirty="0">
              <a:ln>
                <a:solidFill>
                  <a:schemeClr val="tx1">
                    <a:lumMod val="65000"/>
                    <a:lumOff val="35000"/>
                    <a:alpha val="30000"/>
                  </a:scheme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grpSp>
        <p:nvGrpSpPr>
          <p:cNvPr id="1038" name="그룹 1037">
            <a:extLst>
              <a:ext uri="{FF2B5EF4-FFF2-40B4-BE49-F238E27FC236}">
                <a16:creationId xmlns:a16="http://schemas.microsoft.com/office/drawing/2014/main" id="{62DF708E-DE31-5826-B3CC-EB1A26323167}"/>
              </a:ext>
            </a:extLst>
          </p:cNvPr>
          <p:cNvGrpSpPr/>
          <p:nvPr/>
        </p:nvGrpSpPr>
        <p:grpSpPr>
          <a:xfrm>
            <a:off x="4394683" y="1188074"/>
            <a:ext cx="1379056" cy="1475571"/>
            <a:chOff x="5311365" y="797014"/>
            <a:chExt cx="1733550" cy="1764725"/>
          </a:xfrm>
        </p:grpSpPr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44B948C8-C09B-F5C5-C952-FDF80A14B44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47157" y="913022"/>
              <a:ext cx="1211960" cy="1099827"/>
            </a:xfrm>
            <a:prstGeom prst="rect">
              <a:avLst/>
            </a:prstGeom>
            <a:noFill/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1" name="그림 60" descr="블랙, 어둠이(가) 표시된 사진&#10;&#10;자동 생성된 설명">
              <a:extLst>
                <a:ext uri="{FF2B5EF4-FFF2-40B4-BE49-F238E27FC236}">
                  <a16:creationId xmlns:a16="http://schemas.microsoft.com/office/drawing/2014/main" id="{7F3C1A39-90CA-67C6-516A-3119E19A88E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99589" y="797014"/>
              <a:ext cx="373885" cy="373885"/>
            </a:xfrm>
            <a:prstGeom prst="rect">
              <a:avLst/>
            </a:prstGeom>
          </p:spPr>
        </p:pic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9D6CE200-CDA1-0115-3E0B-24E2BC2DAAE4}"/>
                </a:ext>
              </a:extLst>
            </p:cNvPr>
            <p:cNvSpPr/>
            <p:nvPr/>
          </p:nvSpPr>
          <p:spPr>
            <a:xfrm>
              <a:off x="5311365" y="1954393"/>
              <a:ext cx="1733550" cy="60734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200" b="1">
                  <a:ln>
                    <a:solidFill>
                      <a:schemeClr val="tx1">
                        <a:lumMod val="65000"/>
                        <a:lumOff val="35000"/>
                        <a:alpha val="30000"/>
                      </a:scheme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rPr>
                <a:t>yolo v8</a:t>
              </a:r>
            </a:p>
            <a:p>
              <a:pPr algn="ctr"/>
              <a:r>
                <a:rPr lang="en-US" altLang="ko-KR" sz="900" b="1">
                  <a:ln>
                    <a:solidFill>
                      <a:schemeClr val="tx1">
                        <a:lumMod val="65000"/>
                        <a:lumOff val="35000"/>
                        <a:alpha val="30000"/>
                      </a:scheme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rPr>
                <a:t>image classification</a:t>
              </a:r>
              <a:endParaRPr lang="en-US" altLang="ko-KR" sz="900" b="1" dirty="0">
                <a:ln>
                  <a:solidFill>
                    <a:schemeClr val="tx1">
                      <a:lumMod val="65000"/>
                      <a:lumOff val="35000"/>
                      <a:alpha val="3000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endParaRPr>
            </a:p>
          </p:txBody>
        </p:sp>
      </p:grpSp>
      <p:grpSp>
        <p:nvGrpSpPr>
          <p:cNvPr id="1040" name="그룹 1039">
            <a:extLst>
              <a:ext uri="{FF2B5EF4-FFF2-40B4-BE49-F238E27FC236}">
                <a16:creationId xmlns:a16="http://schemas.microsoft.com/office/drawing/2014/main" id="{A1107139-6592-39C9-D4F7-13A81C96B43F}"/>
              </a:ext>
            </a:extLst>
          </p:cNvPr>
          <p:cNvGrpSpPr/>
          <p:nvPr/>
        </p:nvGrpSpPr>
        <p:grpSpPr>
          <a:xfrm>
            <a:off x="6226206" y="1239735"/>
            <a:ext cx="1764072" cy="1423910"/>
            <a:chOff x="7052761" y="848285"/>
            <a:chExt cx="2217536" cy="1651990"/>
          </a:xfrm>
        </p:grpSpPr>
        <p:pic>
          <p:nvPicPr>
            <p:cNvPr id="1028" name="그림 1027">
              <a:extLst>
                <a:ext uri="{FF2B5EF4-FFF2-40B4-BE49-F238E27FC236}">
                  <a16:creationId xmlns:a16="http://schemas.microsoft.com/office/drawing/2014/main" id="{21379380-DF5C-D019-2FFF-AEB3650A357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7430789" y="1000832"/>
              <a:ext cx="1610452" cy="942878"/>
            </a:xfrm>
            <a:prstGeom prst="rect">
              <a:avLst/>
            </a:prstGeom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1024" name="그림 1023" descr="블랙, 어둠이(가) 표시된 사진&#10;&#10;자동 생성된 설명">
              <a:extLst>
                <a:ext uri="{FF2B5EF4-FFF2-40B4-BE49-F238E27FC236}">
                  <a16:creationId xmlns:a16="http://schemas.microsoft.com/office/drawing/2014/main" id="{A1AA6A55-F84E-37D2-9498-BF53D6E7E2C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78429" y="848285"/>
              <a:ext cx="373885" cy="373885"/>
            </a:xfrm>
            <a:prstGeom prst="rect">
              <a:avLst/>
            </a:prstGeom>
          </p:spPr>
        </p:pic>
        <p:sp>
          <p:nvSpPr>
            <p:cNvPr id="1025" name="직사각형 1024">
              <a:extLst>
                <a:ext uri="{FF2B5EF4-FFF2-40B4-BE49-F238E27FC236}">
                  <a16:creationId xmlns:a16="http://schemas.microsoft.com/office/drawing/2014/main" id="{F4FA0D53-D573-2CBE-C87E-FF2583631560}"/>
                </a:ext>
              </a:extLst>
            </p:cNvPr>
            <p:cNvSpPr/>
            <p:nvPr/>
          </p:nvSpPr>
          <p:spPr>
            <a:xfrm>
              <a:off x="7052761" y="1937881"/>
              <a:ext cx="2217536" cy="56239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100" b="1">
                  <a:ln>
                    <a:solidFill>
                      <a:schemeClr val="tx1">
                        <a:lumMod val="65000"/>
                        <a:lumOff val="35000"/>
                        <a:alpha val="30000"/>
                      </a:scheme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rPr>
                <a:t>LSTM</a:t>
              </a:r>
            </a:p>
            <a:p>
              <a:pPr algn="ctr"/>
              <a:r>
                <a:rPr lang="en-US" altLang="ko-KR" sz="900" b="1">
                  <a:ln>
                    <a:solidFill>
                      <a:schemeClr val="tx1">
                        <a:lumMod val="65000"/>
                        <a:lumOff val="35000"/>
                        <a:alpha val="30000"/>
                      </a:scheme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rPr>
                <a:t>temporal feature extraction</a:t>
              </a:r>
              <a:endParaRPr lang="en-US" altLang="ko-KR" sz="1200" b="1" dirty="0">
                <a:ln>
                  <a:solidFill>
                    <a:schemeClr val="tx1">
                      <a:lumMod val="65000"/>
                      <a:lumOff val="35000"/>
                      <a:alpha val="3000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endParaRPr>
            </a:p>
          </p:txBody>
        </p:sp>
      </p:grpSp>
      <p:sp>
        <p:nvSpPr>
          <p:cNvPr id="1033" name="사각형: 둥근 위쪽 모서리 1032">
            <a:extLst>
              <a:ext uri="{FF2B5EF4-FFF2-40B4-BE49-F238E27FC236}">
                <a16:creationId xmlns:a16="http://schemas.microsoft.com/office/drawing/2014/main" id="{27F01898-AF51-6C48-C915-264E0E6FAD59}"/>
              </a:ext>
            </a:extLst>
          </p:cNvPr>
          <p:cNvSpPr/>
          <p:nvPr/>
        </p:nvSpPr>
        <p:spPr>
          <a:xfrm>
            <a:off x="2973992" y="640347"/>
            <a:ext cx="2132503" cy="269416"/>
          </a:xfrm>
          <a:prstGeom prst="round2Same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ko-KR" sz="1100" b="1">
                <a:ln>
                  <a:solidFill>
                    <a:schemeClr val="bg1">
                      <a:alpha val="30000"/>
                    </a:schemeClr>
                  </a:solidFill>
                </a:ln>
                <a:solidFill>
                  <a:schemeClr val="bg1"/>
                </a:solidFill>
                <a:latin typeface="+mn-ea"/>
              </a:rPr>
              <a:t>environment recognition</a:t>
            </a:r>
            <a:endParaRPr lang="ko-KR" altLang="en-US" sz="1100" b="1">
              <a:ln>
                <a:solidFill>
                  <a:schemeClr val="bg1">
                    <a:alpha val="30000"/>
                  </a:schemeClr>
                </a:solidFill>
              </a:ln>
              <a:solidFill>
                <a:schemeClr val="bg1"/>
              </a:solidFill>
              <a:latin typeface="+mn-ea"/>
            </a:endParaRPr>
          </a:p>
        </p:txBody>
      </p:sp>
      <p:sp>
        <p:nvSpPr>
          <p:cNvPr id="1036" name="사각형: 둥근 위쪽 모서리 1035">
            <a:extLst>
              <a:ext uri="{FF2B5EF4-FFF2-40B4-BE49-F238E27FC236}">
                <a16:creationId xmlns:a16="http://schemas.microsoft.com/office/drawing/2014/main" id="{BB11B06F-6F9F-66E8-E98A-909D9167DE75}"/>
              </a:ext>
            </a:extLst>
          </p:cNvPr>
          <p:cNvSpPr/>
          <p:nvPr/>
        </p:nvSpPr>
        <p:spPr>
          <a:xfrm>
            <a:off x="2973883" y="4631065"/>
            <a:ext cx="2132503" cy="269416"/>
          </a:xfrm>
          <a:prstGeom prst="round2SameRect">
            <a:avLst>
              <a:gd name="adj1" fmla="val 0"/>
              <a:gd name="adj2" fmla="val 50000"/>
            </a:avLst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ko-KR" sz="1100" b="1">
                <a:ln>
                  <a:solidFill>
                    <a:schemeClr val="bg1">
                      <a:alpha val="30000"/>
                    </a:schemeClr>
                  </a:solidFill>
                </a:ln>
                <a:solidFill>
                  <a:schemeClr val="bg1"/>
                </a:solidFill>
                <a:latin typeface="+mn-ea"/>
              </a:rPr>
              <a:t>gait phase detection</a:t>
            </a:r>
            <a:endParaRPr lang="ko-KR" altLang="en-US" sz="1100" b="1">
              <a:ln>
                <a:solidFill>
                  <a:schemeClr val="bg1">
                    <a:alpha val="30000"/>
                  </a:schemeClr>
                </a:solidFill>
              </a:ln>
              <a:solidFill>
                <a:schemeClr val="bg1"/>
              </a:solidFill>
              <a:latin typeface="+mn-ea"/>
            </a:endParaRPr>
          </a:p>
        </p:txBody>
      </p:sp>
      <p:grpSp>
        <p:nvGrpSpPr>
          <p:cNvPr id="1057" name="그룹 1056">
            <a:extLst>
              <a:ext uri="{FF2B5EF4-FFF2-40B4-BE49-F238E27FC236}">
                <a16:creationId xmlns:a16="http://schemas.microsoft.com/office/drawing/2014/main" id="{42FC557E-DF7F-AC6C-040E-B3381F471356}"/>
              </a:ext>
            </a:extLst>
          </p:cNvPr>
          <p:cNvGrpSpPr/>
          <p:nvPr/>
        </p:nvGrpSpPr>
        <p:grpSpPr>
          <a:xfrm>
            <a:off x="3002434" y="3353967"/>
            <a:ext cx="1285429" cy="961028"/>
            <a:chOff x="3421934" y="3144295"/>
            <a:chExt cx="1733550" cy="1119257"/>
          </a:xfrm>
        </p:grpSpPr>
        <p:pic>
          <p:nvPicPr>
            <p:cNvPr id="58" name="그림 57">
              <a:extLst>
                <a:ext uri="{FF2B5EF4-FFF2-40B4-BE49-F238E27FC236}">
                  <a16:creationId xmlns:a16="http://schemas.microsoft.com/office/drawing/2014/main" id="{5E082851-5522-FEF5-8F39-FEA6ACB7CE7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3573089" y="3144295"/>
              <a:ext cx="1466185" cy="762336"/>
            </a:xfrm>
            <a:prstGeom prst="rect">
              <a:avLst/>
            </a:prstGeom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042" name="직사각형 1041">
              <a:extLst>
                <a:ext uri="{FF2B5EF4-FFF2-40B4-BE49-F238E27FC236}">
                  <a16:creationId xmlns:a16="http://schemas.microsoft.com/office/drawing/2014/main" id="{BB260843-F3E9-8C29-A232-F18DDB110D2E}"/>
                </a:ext>
              </a:extLst>
            </p:cNvPr>
            <p:cNvSpPr/>
            <p:nvPr/>
          </p:nvSpPr>
          <p:spPr>
            <a:xfrm>
              <a:off x="3421934" y="3950005"/>
              <a:ext cx="1733550" cy="31354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100" b="1">
                  <a:ln>
                    <a:solidFill>
                      <a:schemeClr val="tx1">
                        <a:lumMod val="65000"/>
                        <a:lumOff val="35000"/>
                        <a:alpha val="30000"/>
                      </a:scheme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rPr>
                <a:t>acc_x, gyro_z</a:t>
              </a:r>
              <a:endParaRPr lang="en-US" altLang="ko-KR" sz="1100" b="1" dirty="0">
                <a:ln>
                  <a:solidFill>
                    <a:schemeClr val="tx1">
                      <a:lumMod val="65000"/>
                      <a:lumOff val="35000"/>
                      <a:alpha val="3000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endParaRPr>
            </a:p>
          </p:txBody>
        </p:sp>
      </p:grpSp>
      <p:grpSp>
        <p:nvGrpSpPr>
          <p:cNvPr id="1058" name="그룹 1057">
            <a:extLst>
              <a:ext uri="{FF2B5EF4-FFF2-40B4-BE49-F238E27FC236}">
                <a16:creationId xmlns:a16="http://schemas.microsoft.com/office/drawing/2014/main" id="{CB5C8570-5BDD-9B7C-CE50-350699998424}"/>
              </a:ext>
            </a:extLst>
          </p:cNvPr>
          <p:cNvGrpSpPr/>
          <p:nvPr/>
        </p:nvGrpSpPr>
        <p:grpSpPr>
          <a:xfrm>
            <a:off x="6299221" y="3242306"/>
            <a:ext cx="1515115" cy="1207950"/>
            <a:chOff x="5237630" y="2900729"/>
            <a:chExt cx="1733550" cy="1445734"/>
          </a:xfrm>
        </p:grpSpPr>
        <p:sp>
          <p:nvSpPr>
            <p:cNvPr id="1054" name="직사각형 1053">
              <a:extLst>
                <a:ext uri="{FF2B5EF4-FFF2-40B4-BE49-F238E27FC236}">
                  <a16:creationId xmlns:a16="http://schemas.microsoft.com/office/drawing/2014/main" id="{8C17F6E0-E447-1D46-B50D-73DDA05C7BBF}"/>
                </a:ext>
              </a:extLst>
            </p:cNvPr>
            <p:cNvSpPr/>
            <p:nvPr/>
          </p:nvSpPr>
          <p:spPr>
            <a:xfrm>
              <a:off x="5237630" y="3983242"/>
              <a:ext cx="1733550" cy="36322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50" b="1">
                  <a:ln>
                    <a:solidFill>
                      <a:schemeClr val="tx1">
                        <a:lumMod val="65000"/>
                        <a:lumOff val="35000"/>
                        <a:alpha val="30000"/>
                      </a:scheme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rPr>
                <a:t>gait phase detection</a:t>
              </a:r>
              <a:endParaRPr lang="en-US" altLang="ko-KR" sz="1200" b="1" dirty="0">
                <a:ln>
                  <a:solidFill>
                    <a:schemeClr val="tx1">
                      <a:lumMod val="65000"/>
                      <a:lumOff val="35000"/>
                      <a:alpha val="3000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endParaRPr>
            </a:p>
          </p:txBody>
        </p:sp>
        <p:pic>
          <p:nvPicPr>
            <p:cNvPr id="1056" name="그림 1055">
              <a:extLst>
                <a:ext uri="{FF2B5EF4-FFF2-40B4-BE49-F238E27FC236}">
                  <a16:creationId xmlns:a16="http://schemas.microsoft.com/office/drawing/2014/main" id="{81ECDC69-1190-3875-0C07-65B21B4F048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/>
            <a:srcRect l="41738" t="64766"/>
            <a:stretch/>
          </p:blipFill>
          <p:spPr>
            <a:xfrm>
              <a:off x="5477357" y="2900729"/>
              <a:ext cx="1237678" cy="1058215"/>
            </a:xfrm>
            <a:prstGeom prst="rect">
              <a:avLst/>
            </a:prstGeom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1061" name="연결선: 꺾임 1060">
            <a:extLst>
              <a:ext uri="{FF2B5EF4-FFF2-40B4-BE49-F238E27FC236}">
                <a16:creationId xmlns:a16="http://schemas.microsoft.com/office/drawing/2014/main" id="{02FA7D5C-51DB-8B2B-6769-187BF7ED0972}"/>
              </a:ext>
            </a:extLst>
          </p:cNvPr>
          <p:cNvCxnSpPr>
            <a:cxnSpLocks/>
          </p:cNvCxnSpPr>
          <p:nvPr/>
        </p:nvCxnSpPr>
        <p:spPr>
          <a:xfrm rot="16200000" flipH="1">
            <a:off x="7797755" y="1962392"/>
            <a:ext cx="1389583" cy="980550"/>
          </a:xfrm>
          <a:prstGeom prst="bentConnector3">
            <a:avLst>
              <a:gd name="adj1" fmla="val -724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4" name="직선 화살표 연결선 1063">
            <a:extLst>
              <a:ext uri="{FF2B5EF4-FFF2-40B4-BE49-F238E27FC236}">
                <a16:creationId xmlns:a16="http://schemas.microsoft.com/office/drawing/2014/main" id="{74C51FC1-AFA3-F15B-9B9E-40B6962EDA5B}"/>
              </a:ext>
            </a:extLst>
          </p:cNvPr>
          <p:cNvCxnSpPr>
            <a:cxnSpLocks/>
          </p:cNvCxnSpPr>
          <p:nvPr/>
        </p:nvCxnSpPr>
        <p:spPr>
          <a:xfrm>
            <a:off x="4212760" y="1817888"/>
            <a:ext cx="26904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6" name="직선 화살표 연결선 1065">
            <a:extLst>
              <a:ext uri="{FF2B5EF4-FFF2-40B4-BE49-F238E27FC236}">
                <a16:creationId xmlns:a16="http://schemas.microsoft.com/office/drawing/2014/main" id="{7E92BAE3-088C-26AC-9B09-5D8352B4A440}"/>
              </a:ext>
            </a:extLst>
          </p:cNvPr>
          <p:cNvCxnSpPr>
            <a:cxnSpLocks/>
          </p:cNvCxnSpPr>
          <p:nvPr/>
        </p:nvCxnSpPr>
        <p:spPr>
          <a:xfrm>
            <a:off x="5652624" y="1819118"/>
            <a:ext cx="69102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7" name="직선 화살표 연결선 1066">
            <a:extLst>
              <a:ext uri="{FF2B5EF4-FFF2-40B4-BE49-F238E27FC236}">
                <a16:creationId xmlns:a16="http://schemas.microsoft.com/office/drawing/2014/main" id="{BAAE3EEA-3835-5493-1018-C8F2305916C5}"/>
              </a:ext>
            </a:extLst>
          </p:cNvPr>
          <p:cNvCxnSpPr>
            <a:cxnSpLocks/>
          </p:cNvCxnSpPr>
          <p:nvPr/>
        </p:nvCxnSpPr>
        <p:spPr>
          <a:xfrm>
            <a:off x="4287863" y="3681250"/>
            <a:ext cx="26904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8" name="직선 화살표 연결선 1067">
            <a:extLst>
              <a:ext uri="{FF2B5EF4-FFF2-40B4-BE49-F238E27FC236}">
                <a16:creationId xmlns:a16="http://schemas.microsoft.com/office/drawing/2014/main" id="{66B3D809-426C-D844-A2D4-C010D7CE12E2}"/>
              </a:ext>
            </a:extLst>
          </p:cNvPr>
          <p:cNvCxnSpPr>
            <a:cxnSpLocks/>
          </p:cNvCxnSpPr>
          <p:nvPr/>
        </p:nvCxnSpPr>
        <p:spPr>
          <a:xfrm>
            <a:off x="2146337" y="1839555"/>
            <a:ext cx="5397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9" name="직선 화살표 연결선 1068">
            <a:extLst>
              <a:ext uri="{FF2B5EF4-FFF2-40B4-BE49-F238E27FC236}">
                <a16:creationId xmlns:a16="http://schemas.microsoft.com/office/drawing/2014/main" id="{06BFB328-D295-AD95-A419-585C5F12F18C}"/>
              </a:ext>
            </a:extLst>
          </p:cNvPr>
          <p:cNvCxnSpPr>
            <a:cxnSpLocks/>
          </p:cNvCxnSpPr>
          <p:nvPr/>
        </p:nvCxnSpPr>
        <p:spPr>
          <a:xfrm>
            <a:off x="2109014" y="3643311"/>
            <a:ext cx="61273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76" name="직사각형 1075">
            <a:extLst>
              <a:ext uri="{FF2B5EF4-FFF2-40B4-BE49-F238E27FC236}">
                <a16:creationId xmlns:a16="http://schemas.microsoft.com/office/drawing/2014/main" id="{2B39D715-9F8F-DD7D-1E77-616D17B605D7}"/>
              </a:ext>
            </a:extLst>
          </p:cNvPr>
          <p:cNvSpPr/>
          <p:nvPr/>
        </p:nvSpPr>
        <p:spPr>
          <a:xfrm>
            <a:off x="8024202" y="1292948"/>
            <a:ext cx="1296306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50">
                <a:ln>
                  <a:solidFill>
                    <a:schemeClr val="tx1">
                      <a:lumMod val="65000"/>
                      <a:lumOff val="35000"/>
                      <a:alpha val="30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scenario class</a:t>
            </a:r>
          </a:p>
          <a:p>
            <a:r>
              <a:rPr lang="en-US" altLang="ko-KR" sz="1050">
                <a:ln>
                  <a:solidFill>
                    <a:schemeClr val="tx1">
                      <a:lumMod val="65000"/>
                      <a:lumOff val="35000"/>
                      <a:alpha val="30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: [0,1,2,3,4,5,6]</a:t>
            </a:r>
          </a:p>
        </p:txBody>
      </p:sp>
      <p:sp>
        <p:nvSpPr>
          <p:cNvPr id="1079" name="직사각형 1078">
            <a:extLst>
              <a:ext uri="{FF2B5EF4-FFF2-40B4-BE49-F238E27FC236}">
                <a16:creationId xmlns:a16="http://schemas.microsoft.com/office/drawing/2014/main" id="{0BE86187-667D-1499-B9CF-3A417C8CF641}"/>
              </a:ext>
            </a:extLst>
          </p:cNvPr>
          <p:cNvSpPr/>
          <p:nvPr/>
        </p:nvSpPr>
        <p:spPr>
          <a:xfrm>
            <a:off x="5534025" y="1457997"/>
            <a:ext cx="1286963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800">
                <a:ln>
                  <a:solidFill>
                    <a:schemeClr val="tx1">
                      <a:lumMod val="65000"/>
                      <a:lumOff val="35000"/>
                      <a:alpha val="30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environment class</a:t>
            </a:r>
          </a:p>
          <a:p>
            <a:r>
              <a:rPr lang="en-US" altLang="ko-KR" sz="800">
                <a:ln>
                  <a:solidFill>
                    <a:schemeClr val="tx1">
                      <a:lumMod val="65000"/>
                      <a:lumOff val="35000"/>
                      <a:alpha val="30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 + probability</a:t>
            </a:r>
          </a:p>
        </p:txBody>
      </p:sp>
      <p:grpSp>
        <p:nvGrpSpPr>
          <p:cNvPr id="1100" name="그룹 1099">
            <a:extLst>
              <a:ext uri="{FF2B5EF4-FFF2-40B4-BE49-F238E27FC236}">
                <a16:creationId xmlns:a16="http://schemas.microsoft.com/office/drawing/2014/main" id="{C8E91873-89B2-3893-2C98-89DE21B69B5C}"/>
              </a:ext>
            </a:extLst>
          </p:cNvPr>
          <p:cNvGrpSpPr/>
          <p:nvPr/>
        </p:nvGrpSpPr>
        <p:grpSpPr>
          <a:xfrm>
            <a:off x="8169142" y="3235484"/>
            <a:ext cx="1048578" cy="889741"/>
            <a:chOff x="8840271" y="2873591"/>
            <a:chExt cx="1352548" cy="1131086"/>
          </a:xfrm>
        </p:grpSpPr>
        <p:grpSp>
          <p:nvGrpSpPr>
            <p:cNvPr id="1093" name="그룹 1092">
              <a:extLst>
                <a:ext uri="{FF2B5EF4-FFF2-40B4-BE49-F238E27FC236}">
                  <a16:creationId xmlns:a16="http://schemas.microsoft.com/office/drawing/2014/main" id="{DCCC8343-2B53-B46D-019B-BDE2FA71CFB5}"/>
                </a:ext>
              </a:extLst>
            </p:cNvPr>
            <p:cNvGrpSpPr/>
            <p:nvPr/>
          </p:nvGrpSpPr>
          <p:grpSpPr>
            <a:xfrm>
              <a:off x="8840271" y="2873591"/>
              <a:ext cx="1352548" cy="1131086"/>
              <a:chOff x="11106433" y="1760814"/>
              <a:chExt cx="2462225" cy="1979913"/>
            </a:xfrm>
          </p:grpSpPr>
          <p:grpSp>
            <p:nvGrpSpPr>
              <p:cNvPr id="1094" name="그룹 1093">
                <a:extLst>
                  <a:ext uri="{FF2B5EF4-FFF2-40B4-BE49-F238E27FC236}">
                    <a16:creationId xmlns:a16="http://schemas.microsoft.com/office/drawing/2014/main" id="{734F2A3F-9271-3896-EF60-FDBDC6293C54}"/>
                  </a:ext>
                </a:extLst>
              </p:cNvPr>
              <p:cNvGrpSpPr/>
              <p:nvPr/>
            </p:nvGrpSpPr>
            <p:grpSpPr>
              <a:xfrm>
                <a:off x="11106433" y="1760814"/>
                <a:ext cx="2462225" cy="1979913"/>
                <a:chOff x="11106433" y="1760814"/>
                <a:chExt cx="2462225" cy="1979913"/>
              </a:xfrm>
            </p:grpSpPr>
            <p:cxnSp>
              <p:nvCxnSpPr>
                <p:cNvPr id="1096" name="직선 연결선 1095">
                  <a:extLst>
                    <a:ext uri="{FF2B5EF4-FFF2-40B4-BE49-F238E27FC236}">
                      <a16:creationId xmlns:a16="http://schemas.microsoft.com/office/drawing/2014/main" id="{92D9D158-C31F-65A3-96CE-C93F722620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1106433" y="1760814"/>
                  <a:ext cx="7911" cy="1979913"/>
                </a:xfrm>
                <a:prstGeom prst="line">
                  <a:avLst/>
                </a:prstGeom>
                <a:ln w="1905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97" name="직선 연결선 1096">
                  <a:extLst>
                    <a:ext uri="{FF2B5EF4-FFF2-40B4-BE49-F238E27FC236}">
                      <a16:creationId xmlns:a16="http://schemas.microsoft.com/office/drawing/2014/main" id="{78421DDD-1F73-62A2-E223-7019B7CE9D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12341502" y="2505615"/>
                  <a:ext cx="0" cy="2454312"/>
                </a:xfrm>
                <a:prstGeom prst="line">
                  <a:avLst/>
                </a:prstGeom>
                <a:ln w="1905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095" name="자유형: 도형 1094">
                <a:extLst>
                  <a:ext uri="{FF2B5EF4-FFF2-40B4-BE49-F238E27FC236}">
                    <a16:creationId xmlns:a16="http://schemas.microsoft.com/office/drawing/2014/main" id="{37C9CFE4-4ABC-D30F-8134-8C5CC38D6728}"/>
                  </a:ext>
                </a:extLst>
              </p:cNvPr>
              <p:cNvSpPr/>
              <p:nvPr/>
            </p:nvSpPr>
            <p:spPr>
              <a:xfrm>
                <a:off x="11166764" y="2018266"/>
                <a:ext cx="2382981" cy="1600322"/>
              </a:xfrm>
              <a:custGeom>
                <a:avLst/>
                <a:gdLst>
                  <a:gd name="connsiteX0" fmla="*/ 0 w 2382981"/>
                  <a:gd name="connsiteY0" fmla="*/ 1570061 h 1600322"/>
                  <a:gd name="connsiteX1" fmla="*/ 346363 w 2382981"/>
                  <a:gd name="connsiteY1" fmla="*/ 1140570 h 1600322"/>
                  <a:gd name="connsiteX2" fmla="*/ 637309 w 2382981"/>
                  <a:gd name="connsiteY2" fmla="*/ 1528498 h 1600322"/>
                  <a:gd name="connsiteX3" fmla="*/ 942109 w 2382981"/>
                  <a:gd name="connsiteY3" fmla="*/ 1556207 h 1600322"/>
                  <a:gd name="connsiteX4" fmla="*/ 1288472 w 2382981"/>
                  <a:gd name="connsiteY4" fmla="*/ 1057443 h 1600322"/>
                  <a:gd name="connsiteX5" fmla="*/ 1427018 w 2382981"/>
                  <a:gd name="connsiteY5" fmla="*/ 1112861 h 1600322"/>
                  <a:gd name="connsiteX6" fmla="*/ 1482436 w 2382981"/>
                  <a:gd name="connsiteY6" fmla="*/ 877334 h 1600322"/>
                  <a:gd name="connsiteX7" fmla="*/ 1551709 w 2382981"/>
                  <a:gd name="connsiteY7" fmla="*/ 988170 h 1600322"/>
                  <a:gd name="connsiteX8" fmla="*/ 1676400 w 2382981"/>
                  <a:gd name="connsiteY8" fmla="*/ 143043 h 1600322"/>
                  <a:gd name="connsiteX9" fmla="*/ 1939636 w 2382981"/>
                  <a:gd name="connsiteY9" fmla="*/ 87625 h 1600322"/>
                  <a:gd name="connsiteX10" fmla="*/ 2064327 w 2382981"/>
                  <a:gd name="connsiteY10" fmla="*/ 1029734 h 1600322"/>
                  <a:gd name="connsiteX11" fmla="*/ 2161309 w 2382981"/>
                  <a:gd name="connsiteY11" fmla="*/ 1279116 h 1600322"/>
                  <a:gd name="connsiteX12" fmla="*/ 2230581 w 2382981"/>
                  <a:gd name="connsiteY12" fmla="*/ 1528498 h 1600322"/>
                  <a:gd name="connsiteX13" fmla="*/ 2382981 w 2382981"/>
                  <a:gd name="connsiteY13" fmla="*/ 1514643 h 16003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382981" h="1600322">
                    <a:moveTo>
                      <a:pt x="0" y="1570061"/>
                    </a:moveTo>
                    <a:cubicBezTo>
                      <a:pt x="120072" y="1358779"/>
                      <a:pt x="240145" y="1147497"/>
                      <a:pt x="346363" y="1140570"/>
                    </a:cubicBezTo>
                    <a:cubicBezTo>
                      <a:pt x="452581" y="1133643"/>
                      <a:pt x="538018" y="1459225"/>
                      <a:pt x="637309" y="1528498"/>
                    </a:cubicBezTo>
                    <a:cubicBezTo>
                      <a:pt x="736600" y="1597771"/>
                      <a:pt x="833582" y="1634716"/>
                      <a:pt x="942109" y="1556207"/>
                    </a:cubicBezTo>
                    <a:cubicBezTo>
                      <a:pt x="1050636" y="1477698"/>
                      <a:pt x="1207654" y="1131334"/>
                      <a:pt x="1288472" y="1057443"/>
                    </a:cubicBezTo>
                    <a:cubicBezTo>
                      <a:pt x="1369290" y="983552"/>
                      <a:pt x="1394691" y="1142879"/>
                      <a:pt x="1427018" y="1112861"/>
                    </a:cubicBezTo>
                    <a:cubicBezTo>
                      <a:pt x="1459345" y="1082843"/>
                      <a:pt x="1461654" y="898116"/>
                      <a:pt x="1482436" y="877334"/>
                    </a:cubicBezTo>
                    <a:cubicBezTo>
                      <a:pt x="1503218" y="856552"/>
                      <a:pt x="1519382" y="1110552"/>
                      <a:pt x="1551709" y="988170"/>
                    </a:cubicBezTo>
                    <a:cubicBezTo>
                      <a:pt x="1584036" y="865788"/>
                      <a:pt x="1611746" y="293134"/>
                      <a:pt x="1676400" y="143043"/>
                    </a:cubicBezTo>
                    <a:cubicBezTo>
                      <a:pt x="1741054" y="-7048"/>
                      <a:pt x="1874982" y="-60157"/>
                      <a:pt x="1939636" y="87625"/>
                    </a:cubicBezTo>
                    <a:cubicBezTo>
                      <a:pt x="2004290" y="235407"/>
                      <a:pt x="2027382" y="831152"/>
                      <a:pt x="2064327" y="1029734"/>
                    </a:cubicBezTo>
                    <a:cubicBezTo>
                      <a:pt x="2101273" y="1228316"/>
                      <a:pt x="2133600" y="1195989"/>
                      <a:pt x="2161309" y="1279116"/>
                    </a:cubicBezTo>
                    <a:cubicBezTo>
                      <a:pt x="2189018" y="1362243"/>
                      <a:pt x="2193636" y="1489243"/>
                      <a:pt x="2230581" y="1528498"/>
                    </a:cubicBezTo>
                    <a:cubicBezTo>
                      <a:pt x="2267526" y="1567753"/>
                      <a:pt x="2325253" y="1541198"/>
                      <a:pt x="2382981" y="1514643"/>
                    </a:cubicBezTo>
                  </a:path>
                </a:pathLst>
              </a:custGeom>
              <a:noFill/>
              <a:ln w="19050"/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1098" name="직선 연결선 1097">
              <a:extLst>
                <a:ext uri="{FF2B5EF4-FFF2-40B4-BE49-F238E27FC236}">
                  <a16:creationId xmlns:a16="http://schemas.microsoft.com/office/drawing/2014/main" id="{7660A1BB-3FA6-B534-A2AA-ACD3EDA1312E}"/>
                </a:ext>
              </a:extLst>
            </p:cNvPr>
            <p:cNvCxnSpPr>
              <a:cxnSpLocks/>
            </p:cNvCxnSpPr>
            <p:nvPr/>
          </p:nvCxnSpPr>
          <p:spPr>
            <a:xfrm>
              <a:off x="9882483" y="3092058"/>
              <a:ext cx="0" cy="873903"/>
            </a:xfrm>
            <a:prstGeom prst="line">
              <a:avLst/>
            </a:prstGeom>
            <a:ln w="2857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102" name="그림 1101">
            <a:extLst>
              <a:ext uri="{FF2B5EF4-FFF2-40B4-BE49-F238E27FC236}">
                <a16:creationId xmlns:a16="http://schemas.microsoft.com/office/drawing/2014/main" id="{44423D25-93FA-3503-065F-BB89222C7B6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666770" y="3242306"/>
            <a:ext cx="1191167" cy="884165"/>
          </a:xfrm>
          <a:prstGeom prst="rect">
            <a:avLst/>
          </a:prstGeom>
        </p:spPr>
      </p:pic>
      <p:cxnSp>
        <p:nvCxnSpPr>
          <p:cNvPr id="1103" name="직선 화살표 연결선 1102">
            <a:extLst>
              <a:ext uri="{FF2B5EF4-FFF2-40B4-BE49-F238E27FC236}">
                <a16:creationId xmlns:a16="http://schemas.microsoft.com/office/drawing/2014/main" id="{D29D78D4-8FCC-C939-A1E7-7090170CA836}"/>
              </a:ext>
            </a:extLst>
          </p:cNvPr>
          <p:cNvCxnSpPr>
            <a:cxnSpLocks/>
          </p:cNvCxnSpPr>
          <p:nvPr/>
        </p:nvCxnSpPr>
        <p:spPr>
          <a:xfrm>
            <a:off x="6026579" y="3651356"/>
            <a:ext cx="26904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4" name="직사각형 1103">
            <a:extLst>
              <a:ext uri="{FF2B5EF4-FFF2-40B4-BE49-F238E27FC236}">
                <a16:creationId xmlns:a16="http://schemas.microsoft.com/office/drawing/2014/main" id="{62586040-2BA3-BE82-A4B0-1CCE2521B356}"/>
              </a:ext>
            </a:extLst>
          </p:cNvPr>
          <p:cNvSpPr/>
          <p:nvPr/>
        </p:nvSpPr>
        <p:spPr>
          <a:xfrm>
            <a:off x="4458704" y="4126471"/>
            <a:ext cx="1515115" cy="3034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050" b="1">
                <a:ln>
                  <a:solidFill>
                    <a:schemeClr val="tx1">
                      <a:lumMod val="65000"/>
                      <a:lumOff val="35000"/>
                      <a:alpha val="3000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noise filtering</a:t>
            </a:r>
            <a:endParaRPr lang="en-US" altLang="ko-KR" sz="1200" b="1" dirty="0">
              <a:ln>
                <a:solidFill>
                  <a:schemeClr val="tx1">
                    <a:lumMod val="65000"/>
                    <a:lumOff val="35000"/>
                    <a:alpha val="30000"/>
                  </a:scheme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1105" name="직사각형 1104">
            <a:extLst>
              <a:ext uri="{FF2B5EF4-FFF2-40B4-BE49-F238E27FC236}">
                <a16:creationId xmlns:a16="http://schemas.microsoft.com/office/drawing/2014/main" id="{432714A9-D96C-13D8-565F-8B1F412F889A}"/>
              </a:ext>
            </a:extLst>
          </p:cNvPr>
          <p:cNvSpPr/>
          <p:nvPr/>
        </p:nvSpPr>
        <p:spPr>
          <a:xfrm>
            <a:off x="7896190" y="4300463"/>
            <a:ext cx="2267082" cy="3034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050" b="1">
                <a:ln>
                  <a:solidFill>
                    <a:schemeClr val="tx1">
                      <a:lumMod val="65000"/>
                      <a:lumOff val="35000"/>
                      <a:alpha val="3000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motor reference trajectory </a:t>
            </a:r>
            <a:endParaRPr lang="en-US" altLang="ko-KR" sz="1200" b="1" dirty="0">
              <a:ln>
                <a:solidFill>
                  <a:schemeClr val="tx1">
                    <a:lumMod val="65000"/>
                    <a:lumOff val="35000"/>
                    <a:alpha val="30000"/>
                  </a:scheme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grpSp>
        <p:nvGrpSpPr>
          <p:cNvPr id="1125" name="그룹 1124">
            <a:extLst>
              <a:ext uri="{FF2B5EF4-FFF2-40B4-BE49-F238E27FC236}">
                <a16:creationId xmlns:a16="http://schemas.microsoft.com/office/drawing/2014/main" id="{437CB813-EB23-99FB-2325-16991DEC34CE}"/>
              </a:ext>
            </a:extLst>
          </p:cNvPr>
          <p:cNvGrpSpPr/>
          <p:nvPr/>
        </p:nvGrpSpPr>
        <p:grpSpPr>
          <a:xfrm>
            <a:off x="9270405" y="3148993"/>
            <a:ext cx="645511" cy="1129218"/>
            <a:chOff x="9344113" y="3205715"/>
            <a:chExt cx="694528" cy="1210517"/>
          </a:xfrm>
        </p:grpSpPr>
        <p:grpSp>
          <p:nvGrpSpPr>
            <p:cNvPr id="1114" name="그룹 1113">
              <a:extLst>
                <a:ext uri="{FF2B5EF4-FFF2-40B4-BE49-F238E27FC236}">
                  <a16:creationId xmlns:a16="http://schemas.microsoft.com/office/drawing/2014/main" id="{5907CF2C-D134-48FE-1716-5274BBAF38BE}"/>
                </a:ext>
              </a:extLst>
            </p:cNvPr>
            <p:cNvGrpSpPr/>
            <p:nvPr/>
          </p:nvGrpSpPr>
          <p:grpSpPr>
            <a:xfrm>
              <a:off x="9656292" y="3205715"/>
              <a:ext cx="382349" cy="1210517"/>
              <a:chOff x="9926738" y="3058058"/>
              <a:chExt cx="382349" cy="1210517"/>
            </a:xfrm>
          </p:grpSpPr>
          <p:pic>
            <p:nvPicPr>
              <p:cNvPr id="1109" name="그림 1108" descr="블랙, 어둠이(가) 표시된 사진&#10;&#10;자동 생성된 설명">
                <a:extLst>
                  <a:ext uri="{FF2B5EF4-FFF2-40B4-BE49-F238E27FC236}">
                    <a16:creationId xmlns:a16="http://schemas.microsoft.com/office/drawing/2014/main" id="{8291FBA3-6E93-6337-7ACD-5D8CB65044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926738" y="3058058"/>
                <a:ext cx="374424" cy="374424"/>
              </a:xfrm>
              <a:prstGeom prst="rect">
                <a:avLst/>
              </a:prstGeom>
            </p:spPr>
          </p:pic>
          <p:pic>
            <p:nvPicPr>
              <p:cNvPr id="1110" name="그림 1109" descr="블랙, 어둠이(가) 표시된 사진&#10;&#10;자동 생성된 설명">
                <a:extLst>
                  <a:ext uri="{FF2B5EF4-FFF2-40B4-BE49-F238E27FC236}">
                    <a16:creationId xmlns:a16="http://schemas.microsoft.com/office/drawing/2014/main" id="{0EF7B9E9-3A61-E7DD-EF5C-313BD4329D4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934663" y="3483354"/>
                <a:ext cx="374424" cy="374424"/>
              </a:xfrm>
              <a:prstGeom prst="rect">
                <a:avLst/>
              </a:prstGeom>
            </p:spPr>
          </p:pic>
          <p:pic>
            <p:nvPicPr>
              <p:cNvPr id="1111" name="그림 1110" descr="블랙, 어둠이(가) 표시된 사진&#10;&#10;자동 생성된 설명">
                <a:extLst>
                  <a:ext uri="{FF2B5EF4-FFF2-40B4-BE49-F238E27FC236}">
                    <a16:creationId xmlns:a16="http://schemas.microsoft.com/office/drawing/2014/main" id="{5445EDDC-655C-63A8-CDF3-D13C1D912D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934663" y="3894151"/>
                <a:ext cx="374424" cy="374424"/>
              </a:xfrm>
              <a:prstGeom prst="rect">
                <a:avLst/>
              </a:prstGeom>
            </p:spPr>
          </p:pic>
        </p:grpSp>
        <p:grpSp>
          <p:nvGrpSpPr>
            <p:cNvPr id="1122" name="그룹 1121">
              <a:extLst>
                <a:ext uri="{FF2B5EF4-FFF2-40B4-BE49-F238E27FC236}">
                  <a16:creationId xmlns:a16="http://schemas.microsoft.com/office/drawing/2014/main" id="{43169E9E-78B4-D684-3ABF-7D9289231D84}"/>
                </a:ext>
              </a:extLst>
            </p:cNvPr>
            <p:cNvGrpSpPr/>
            <p:nvPr/>
          </p:nvGrpSpPr>
          <p:grpSpPr>
            <a:xfrm>
              <a:off x="9344113" y="3376307"/>
              <a:ext cx="263042" cy="856758"/>
              <a:chOff x="9486988" y="3262007"/>
              <a:chExt cx="263042" cy="856758"/>
            </a:xfrm>
          </p:grpSpPr>
          <p:cxnSp>
            <p:nvCxnSpPr>
              <p:cNvPr id="1116" name="직선 연결선 1115">
                <a:extLst>
                  <a:ext uri="{FF2B5EF4-FFF2-40B4-BE49-F238E27FC236}">
                    <a16:creationId xmlns:a16="http://schemas.microsoft.com/office/drawing/2014/main" id="{83674BAF-5DE4-F83B-AFA0-F704BEFEE5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486988" y="3262007"/>
                <a:ext cx="248070" cy="18000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17" name="직선 연결선 1116">
                <a:extLst>
                  <a:ext uri="{FF2B5EF4-FFF2-40B4-BE49-F238E27FC236}">
                    <a16:creationId xmlns:a16="http://schemas.microsoft.com/office/drawing/2014/main" id="{9FB3424A-8591-7383-E85C-F75309F18E6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486988" y="3699566"/>
                <a:ext cx="263042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19" name="직선 연결선 1118">
                <a:extLst>
                  <a:ext uri="{FF2B5EF4-FFF2-40B4-BE49-F238E27FC236}">
                    <a16:creationId xmlns:a16="http://schemas.microsoft.com/office/drawing/2014/main" id="{CE956B92-FF74-29CD-9C76-51066D39A20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9486988" y="3942988"/>
                <a:ext cx="252000" cy="17577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126" name="직선 화살표 연결선 1125">
            <a:extLst>
              <a:ext uri="{FF2B5EF4-FFF2-40B4-BE49-F238E27FC236}">
                <a16:creationId xmlns:a16="http://schemas.microsoft.com/office/drawing/2014/main" id="{BC58902F-26CC-A453-B030-C090DC0D6C5E}"/>
              </a:ext>
            </a:extLst>
          </p:cNvPr>
          <p:cNvCxnSpPr>
            <a:cxnSpLocks/>
          </p:cNvCxnSpPr>
          <p:nvPr/>
        </p:nvCxnSpPr>
        <p:spPr>
          <a:xfrm>
            <a:off x="7761667" y="3680354"/>
            <a:ext cx="26904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28" name="TextBox 1127">
            <a:extLst>
              <a:ext uri="{FF2B5EF4-FFF2-40B4-BE49-F238E27FC236}">
                <a16:creationId xmlns:a16="http://schemas.microsoft.com/office/drawing/2014/main" id="{C98FDF6C-8E38-30FE-7529-3BFB43E3C22C}"/>
              </a:ext>
            </a:extLst>
          </p:cNvPr>
          <p:cNvSpPr txBox="1"/>
          <p:nvPr/>
        </p:nvSpPr>
        <p:spPr>
          <a:xfrm>
            <a:off x="3395462" y="4976058"/>
            <a:ext cx="3279505" cy="373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400" b="1">
                <a:ln>
                  <a:solidFill>
                    <a:schemeClr val="tx1">
                      <a:lumMod val="65000"/>
                      <a:lumOff val="35000"/>
                      <a:alpha val="3000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high-level controller</a:t>
            </a:r>
            <a:endParaRPr lang="ko-KR" altLang="en-US" sz="1400" b="1">
              <a:ln>
                <a:solidFill>
                  <a:schemeClr val="tx1">
                    <a:lumMod val="65000"/>
                    <a:lumOff val="35000"/>
                    <a:alpha val="30000"/>
                  </a:scheme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1129" name="TextBox 1128">
            <a:extLst>
              <a:ext uri="{FF2B5EF4-FFF2-40B4-BE49-F238E27FC236}">
                <a16:creationId xmlns:a16="http://schemas.microsoft.com/office/drawing/2014/main" id="{B389B387-8273-16E7-6D15-9D4FA56616A0}"/>
              </a:ext>
            </a:extLst>
          </p:cNvPr>
          <p:cNvSpPr txBox="1"/>
          <p:nvPr/>
        </p:nvSpPr>
        <p:spPr>
          <a:xfrm>
            <a:off x="7389978" y="4945674"/>
            <a:ext cx="3279505" cy="373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400" b="1">
                <a:ln>
                  <a:solidFill>
                    <a:schemeClr val="tx1">
                      <a:lumMod val="65000"/>
                      <a:lumOff val="35000"/>
                      <a:alpha val="3000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mid-level controller</a:t>
            </a:r>
            <a:endParaRPr lang="ko-KR" altLang="en-US" sz="1400" b="1">
              <a:ln>
                <a:solidFill>
                  <a:schemeClr val="tx1">
                    <a:lumMod val="65000"/>
                    <a:lumOff val="35000"/>
                    <a:alpha val="30000"/>
                  </a:scheme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1130" name="TextBox 1129">
            <a:extLst>
              <a:ext uri="{FF2B5EF4-FFF2-40B4-BE49-F238E27FC236}">
                <a16:creationId xmlns:a16="http://schemas.microsoft.com/office/drawing/2014/main" id="{BBF4C3C6-1934-654C-A054-53BF7BCB7B1C}"/>
              </a:ext>
            </a:extLst>
          </p:cNvPr>
          <p:cNvSpPr txBox="1"/>
          <p:nvPr/>
        </p:nvSpPr>
        <p:spPr>
          <a:xfrm>
            <a:off x="9921549" y="4968884"/>
            <a:ext cx="2301125" cy="373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400" b="1">
                <a:ln>
                  <a:solidFill>
                    <a:schemeClr val="tx1">
                      <a:lumMod val="65000"/>
                      <a:lumOff val="35000"/>
                      <a:alpha val="3000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low-level controller</a:t>
            </a:r>
            <a:endParaRPr lang="ko-KR" altLang="en-US" sz="1400" b="1">
              <a:ln>
                <a:solidFill>
                  <a:schemeClr val="tx1">
                    <a:lumMod val="65000"/>
                    <a:lumOff val="35000"/>
                    <a:alpha val="30000"/>
                  </a:scheme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1131" name="직사각형 1130">
            <a:extLst>
              <a:ext uri="{FF2B5EF4-FFF2-40B4-BE49-F238E27FC236}">
                <a16:creationId xmlns:a16="http://schemas.microsoft.com/office/drawing/2014/main" id="{7A11DC3C-7544-E628-2F4F-C8C120AAC1AD}"/>
              </a:ext>
            </a:extLst>
          </p:cNvPr>
          <p:cNvSpPr/>
          <p:nvPr/>
        </p:nvSpPr>
        <p:spPr>
          <a:xfrm>
            <a:off x="9991000" y="4347311"/>
            <a:ext cx="2132503" cy="3034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050" b="1">
                <a:ln>
                  <a:solidFill>
                    <a:schemeClr val="tx1">
                      <a:lumMod val="65000"/>
                      <a:lumOff val="35000"/>
                      <a:alpha val="3000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position-based control</a:t>
            </a:r>
            <a:endParaRPr lang="en-US" altLang="ko-KR" sz="1200" b="1" dirty="0">
              <a:ln>
                <a:solidFill>
                  <a:schemeClr val="tx1">
                    <a:lumMod val="65000"/>
                    <a:lumOff val="35000"/>
                    <a:alpha val="30000"/>
                  </a:scheme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pic>
        <p:nvPicPr>
          <p:cNvPr id="1133" name="그림 1132" descr="블랙, 어둠이(가) 표시된 사진&#10;&#10;자동 생성된 설명">
            <a:extLst>
              <a:ext uri="{FF2B5EF4-FFF2-40B4-BE49-F238E27FC236}">
                <a16:creationId xmlns:a16="http://schemas.microsoft.com/office/drawing/2014/main" id="{7368390E-73A2-79FE-E25F-852E84DD3E88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64697" y="3202860"/>
            <a:ext cx="1014831" cy="1014831"/>
          </a:xfrm>
          <a:prstGeom prst="rect">
            <a:avLst/>
          </a:prstGeom>
        </p:spPr>
      </p:pic>
      <p:cxnSp>
        <p:nvCxnSpPr>
          <p:cNvPr id="1139" name="직선 화살표 연결선 1138">
            <a:extLst>
              <a:ext uri="{FF2B5EF4-FFF2-40B4-BE49-F238E27FC236}">
                <a16:creationId xmlns:a16="http://schemas.microsoft.com/office/drawing/2014/main" id="{8224EEA6-DD1A-A680-15B8-7ED89CD4443F}"/>
              </a:ext>
            </a:extLst>
          </p:cNvPr>
          <p:cNvCxnSpPr>
            <a:cxnSpLocks/>
          </p:cNvCxnSpPr>
          <p:nvPr/>
        </p:nvCxnSpPr>
        <p:spPr>
          <a:xfrm>
            <a:off x="10163272" y="3748579"/>
            <a:ext cx="26904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023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사각형: 둥근 모서리 1034">
            <a:extLst>
              <a:ext uri="{FF2B5EF4-FFF2-40B4-BE49-F238E27FC236}">
                <a16:creationId xmlns:a16="http://schemas.microsoft.com/office/drawing/2014/main" id="{C3A734D0-47FC-5C75-CF3C-6B09B1738671}"/>
              </a:ext>
            </a:extLst>
          </p:cNvPr>
          <p:cNvSpPr/>
          <p:nvPr/>
        </p:nvSpPr>
        <p:spPr>
          <a:xfrm>
            <a:off x="2897881" y="2859809"/>
            <a:ext cx="3132449" cy="1759692"/>
          </a:xfrm>
          <a:prstGeom prst="roundRect">
            <a:avLst>
              <a:gd name="adj" fmla="val 6704"/>
            </a:avLst>
          </a:prstGeom>
          <a:solidFill>
            <a:srgbClr val="EFF9EB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4" name="사각형: 둥근 모서리 1033">
            <a:extLst>
              <a:ext uri="{FF2B5EF4-FFF2-40B4-BE49-F238E27FC236}">
                <a16:creationId xmlns:a16="http://schemas.microsoft.com/office/drawing/2014/main" id="{ED4C6B46-45B1-936C-DE09-EC9217617707}"/>
              </a:ext>
            </a:extLst>
          </p:cNvPr>
          <p:cNvSpPr/>
          <p:nvPr/>
        </p:nvSpPr>
        <p:spPr>
          <a:xfrm>
            <a:off x="2844008" y="927287"/>
            <a:ext cx="3186322" cy="1759692"/>
          </a:xfrm>
          <a:prstGeom prst="roundRect">
            <a:avLst>
              <a:gd name="adj" fmla="val 6704"/>
            </a:avLst>
          </a:prstGeom>
          <a:solidFill>
            <a:srgbClr val="F2F7FC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969D9CE3-5579-AF4C-389E-D296407032BF}"/>
              </a:ext>
            </a:extLst>
          </p:cNvPr>
          <p:cNvGrpSpPr/>
          <p:nvPr/>
        </p:nvGrpSpPr>
        <p:grpSpPr>
          <a:xfrm>
            <a:off x="219659" y="1267509"/>
            <a:ext cx="1806463" cy="2869574"/>
            <a:chOff x="504825" y="480558"/>
            <a:chExt cx="2336048" cy="3570779"/>
          </a:xfrm>
        </p:grpSpPr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81FF95F9-46D0-C9F1-DE12-387949A7142C}"/>
                </a:ext>
              </a:extLst>
            </p:cNvPr>
            <p:cNvSpPr/>
            <p:nvPr/>
          </p:nvSpPr>
          <p:spPr>
            <a:xfrm>
              <a:off x="504825" y="876300"/>
              <a:ext cx="2290818" cy="3175037"/>
            </a:xfrm>
            <a:prstGeom prst="roundRect">
              <a:avLst>
                <a:gd name="adj" fmla="val 5857"/>
              </a:avLst>
            </a:prstGeom>
            <a:solidFill>
              <a:srgbClr val="F5F5F5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" name="그림 1" descr="스케치, 예술, 신발류, 그림이(가) 표시된 사진">
              <a:extLst>
                <a:ext uri="{FF2B5EF4-FFF2-40B4-BE49-F238E27FC236}">
                  <a16:creationId xmlns:a16="http://schemas.microsoft.com/office/drawing/2014/main" id="{8948FE92-B71E-2998-54D6-8617693145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-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4825" y="936605"/>
              <a:ext cx="2336048" cy="3114731"/>
            </a:xfrm>
            <a:prstGeom prst="rect">
              <a:avLst/>
            </a:prstGeom>
          </p:spPr>
        </p:pic>
        <p:sp>
          <p:nvSpPr>
            <p:cNvPr id="41" name="사각형: 둥근 위쪽 모서리 40">
              <a:extLst>
                <a:ext uri="{FF2B5EF4-FFF2-40B4-BE49-F238E27FC236}">
                  <a16:creationId xmlns:a16="http://schemas.microsoft.com/office/drawing/2014/main" id="{3A9D1EEB-C73C-C413-E402-5213C503E558}"/>
                </a:ext>
              </a:extLst>
            </p:cNvPr>
            <p:cNvSpPr/>
            <p:nvPr/>
          </p:nvSpPr>
          <p:spPr>
            <a:xfrm>
              <a:off x="602653" y="571500"/>
              <a:ext cx="2102447" cy="304799"/>
            </a:xfrm>
            <a:prstGeom prst="round2Same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C178F6F7-85C6-A399-969A-57DFF2775E18}"/>
                </a:ext>
              </a:extLst>
            </p:cNvPr>
            <p:cNvSpPr/>
            <p:nvPr/>
          </p:nvSpPr>
          <p:spPr>
            <a:xfrm>
              <a:off x="783459" y="480558"/>
              <a:ext cx="1733550" cy="42298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200" b="1">
                  <a:ln>
                    <a:solidFill>
                      <a:schemeClr val="bg1">
                        <a:alpha val="30000"/>
                      </a:schemeClr>
                    </a:solidFill>
                  </a:ln>
                  <a:solidFill>
                    <a:schemeClr val="bg1"/>
                  </a:solidFill>
                  <a:latin typeface="+mn-ea"/>
                </a:rPr>
                <a:t>exosuit</a:t>
              </a:r>
              <a:endParaRPr lang="en-US" altLang="ko-KR" sz="1200" b="1" dirty="0">
                <a:ln>
                  <a:solidFill>
                    <a:schemeClr val="bg1">
                      <a:alpha val="30000"/>
                    </a:schemeClr>
                  </a:solidFill>
                </a:ln>
                <a:solidFill>
                  <a:schemeClr val="bg1"/>
                </a:solidFill>
                <a:latin typeface="+mn-ea"/>
              </a:endParaRPr>
            </a:p>
          </p:txBody>
        </p:sp>
      </p:grpSp>
      <p:grpSp>
        <p:nvGrpSpPr>
          <p:cNvPr id="1039" name="그룹 1038">
            <a:extLst>
              <a:ext uri="{FF2B5EF4-FFF2-40B4-BE49-F238E27FC236}">
                <a16:creationId xmlns:a16="http://schemas.microsoft.com/office/drawing/2014/main" id="{0BACDEA7-7F18-A789-268C-4651A6D0B374}"/>
              </a:ext>
            </a:extLst>
          </p:cNvPr>
          <p:cNvGrpSpPr/>
          <p:nvPr/>
        </p:nvGrpSpPr>
        <p:grpSpPr>
          <a:xfrm>
            <a:off x="2806613" y="1415480"/>
            <a:ext cx="1452808" cy="1033640"/>
            <a:chOff x="3379120" y="1063113"/>
            <a:chExt cx="1733550" cy="1264265"/>
          </a:xfrm>
        </p:grpSpPr>
        <p:grpSp>
          <p:nvGrpSpPr>
            <p:cNvPr id="52" name="그룹 51">
              <a:extLst>
                <a:ext uri="{FF2B5EF4-FFF2-40B4-BE49-F238E27FC236}">
                  <a16:creationId xmlns:a16="http://schemas.microsoft.com/office/drawing/2014/main" id="{4DCA1289-78D2-043E-D35C-F9FE3F3B2873}"/>
                </a:ext>
              </a:extLst>
            </p:cNvPr>
            <p:cNvGrpSpPr/>
            <p:nvPr/>
          </p:nvGrpSpPr>
          <p:grpSpPr>
            <a:xfrm>
              <a:off x="3526778" y="1063113"/>
              <a:ext cx="1351155" cy="859498"/>
              <a:chOff x="3568852" y="1110767"/>
              <a:chExt cx="1877390" cy="1158361"/>
            </a:xfrm>
          </p:grpSpPr>
          <p:pic>
            <p:nvPicPr>
              <p:cNvPr id="51" name="그림 50" descr="사람, 의류, 신발류, 거리이(가) 표시된 사진&#10;&#10;자동 생성된 설명">
                <a:extLst>
                  <a:ext uri="{FF2B5EF4-FFF2-40B4-BE49-F238E27FC236}">
                    <a16:creationId xmlns:a16="http://schemas.microsoft.com/office/drawing/2014/main" id="{30A66007-49AA-7AC8-8604-EE229DB708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568852" y="1110767"/>
                <a:ext cx="1559590" cy="877270"/>
              </a:xfrm>
              <a:prstGeom prst="rect">
                <a:avLst/>
              </a:prstGeom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48" name="그림 47" descr="신발류, 바닥재, 바닥, 사람이(가) 표시된 사진">
                <a:extLst>
                  <a:ext uri="{FF2B5EF4-FFF2-40B4-BE49-F238E27FC236}">
                    <a16:creationId xmlns:a16="http://schemas.microsoft.com/office/drawing/2014/main" id="{9FB6952E-8D90-FAF2-A587-9DAA008F25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670673" y="1194977"/>
                <a:ext cx="1526005" cy="858378"/>
              </a:xfrm>
              <a:prstGeom prst="rect">
                <a:avLst/>
              </a:prstGeom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50" name="그림 49" descr="청바지, 신발류, 사람, 그레이이(가) 표시된 사진&#10;&#10;자동 생성된 설명">
                <a:extLst>
                  <a:ext uri="{FF2B5EF4-FFF2-40B4-BE49-F238E27FC236}">
                    <a16:creationId xmlns:a16="http://schemas.microsoft.com/office/drawing/2014/main" id="{9F92BA12-A821-AA7E-CF93-024D0594C8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736630" y="1263373"/>
                <a:ext cx="1608776" cy="904937"/>
              </a:xfrm>
              <a:prstGeom prst="rect">
                <a:avLst/>
              </a:prstGeom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47" name="그림 46" descr="신발류, 사람, 청바지, 의류이(가) 표시된 사진&#10;&#10;자동 생성된 설명">
                <a:extLst>
                  <a:ext uri="{FF2B5EF4-FFF2-40B4-BE49-F238E27FC236}">
                    <a16:creationId xmlns:a16="http://schemas.microsoft.com/office/drawing/2014/main" id="{92FB6FB9-8234-644A-B33A-F6EBCE9DFE8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813150" y="1350513"/>
                <a:ext cx="1633092" cy="918615"/>
              </a:xfrm>
              <a:prstGeom prst="rect">
                <a:avLst/>
              </a:prstGeom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</p:pic>
        </p:grp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DAB74752-92EA-B485-0565-D4736732F5E6}"/>
                </a:ext>
              </a:extLst>
            </p:cNvPr>
            <p:cNvSpPr/>
            <p:nvPr/>
          </p:nvSpPr>
          <p:spPr>
            <a:xfrm>
              <a:off x="3379120" y="1993761"/>
              <a:ext cx="1733550" cy="33361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200" b="1">
                  <a:ln>
                    <a:solidFill>
                      <a:schemeClr val="tx1">
                        <a:lumMod val="65000"/>
                        <a:lumOff val="35000"/>
                        <a:alpha val="30000"/>
                      </a:scheme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rPr>
                <a:t>frame</a:t>
              </a:r>
              <a:endParaRPr lang="en-US" altLang="ko-KR" sz="1200" b="1" dirty="0">
                <a:ln>
                  <a:solidFill>
                    <a:schemeClr val="tx1">
                      <a:lumMod val="65000"/>
                      <a:lumOff val="35000"/>
                      <a:alpha val="3000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endParaRPr>
            </a:p>
          </p:txBody>
        </p:sp>
      </p:grp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9C5D973D-C84A-8D34-FBAE-8F27B2ADB5FC}"/>
              </a:ext>
            </a:extLst>
          </p:cNvPr>
          <p:cNvSpPr/>
          <p:nvPr/>
        </p:nvSpPr>
        <p:spPr>
          <a:xfrm>
            <a:off x="1535950" y="1466144"/>
            <a:ext cx="1733550" cy="3135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100" b="1">
                <a:ln>
                  <a:solidFill>
                    <a:schemeClr val="tx1">
                      <a:lumMod val="65000"/>
                      <a:lumOff val="35000"/>
                      <a:alpha val="3000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camera</a:t>
            </a:r>
            <a:endParaRPr lang="en-US" altLang="ko-KR" sz="1400" b="1" dirty="0">
              <a:ln>
                <a:solidFill>
                  <a:schemeClr val="tx1">
                    <a:lumMod val="65000"/>
                    <a:lumOff val="35000"/>
                    <a:alpha val="30000"/>
                  </a:scheme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E57FDCCF-E349-7F54-AFAC-3AF41FD59019}"/>
              </a:ext>
            </a:extLst>
          </p:cNvPr>
          <p:cNvSpPr/>
          <p:nvPr/>
        </p:nvSpPr>
        <p:spPr>
          <a:xfrm>
            <a:off x="1548608" y="3290837"/>
            <a:ext cx="1733550" cy="3135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100" b="1">
                <a:ln>
                  <a:solidFill>
                    <a:schemeClr val="tx1">
                      <a:lumMod val="65000"/>
                      <a:lumOff val="35000"/>
                      <a:alpha val="3000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IMU sensor</a:t>
            </a:r>
            <a:endParaRPr lang="en-US" altLang="ko-KR" sz="1400" b="1" dirty="0">
              <a:ln>
                <a:solidFill>
                  <a:schemeClr val="tx1">
                    <a:lumMod val="65000"/>
                    <a:lumOff val="35000"/>
                    <a:alpha val="30000"/>
                  </a:scheme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grpSp>
        <p:nvGrpSpPr>
          <p:cNvPr id="1038" name="그룹 1037">
            <a:extLst>
              <a:ext uri="{FF2B5EF4-FFF2-40B4-BE49-F238E27FC236}">
                <a16:creationId xmlns:a16="http://schemas.microsoft.com/office/drawing/2014/main" id="{62DF708E-DE31-5826-B3CC-EB1A26323167}"/>
              </a:ext>
            </a:extLst>
          </p:cNvPr>
          <p:cNvGrpSpPr/>
          <p:nvPr/>
        </p:nvGrpSpPr>
        <p:grpSpPr>
          <a:xfrm>
            <a:off x="4593351" y="1133627"/>
            <a:ext cx="1379056" cy="1475571"/>
            <a:chOff x="5311365" y="797014"/>
            <a:chExt cx="1733550" cy="1764725"/>
          </a:xfrm>
        </p:grpSpPr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44B948C8-C09B-F5C5-C952-FDF80A14B44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47157" y="913022"/>
              <a:ext cx="1211960" cy="1099827"/>
            </a:xfrm>
            <a:prstGeom prst="rect">
              <a:avLst/>
            </a:prstGeom>
            <a:noFill/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1" name="그림 60" descr="블랙, 어둠이(가) 표시된 사진&#10;&#10;자동 생성된 설명">
              <a:extLst>
                <a:ext uri="{FF2B5EF4-FFF2-40B4-BE49-F238E27FC236}">
                  <a16:creationId xmlns:a16="http://schemas.microsoft.com/office/drawing/2014/main" id="{7F3C1A39-90CA-67C6-516A-3119E19A88E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99589" y="797014"/>
              <a:ext cx="373885" cy="373885"/>
            </a:xfrm>
            <a:prstGeom prst="rect">
              <a:avLst/>
            </a:prstGeom>
          </p:spPr>
        </p:pic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9D6CE200-CDA1-0115-3E0B-24E2BC2DAAE4}"/>
                </a:ext>
              </a:extLst>
            </p:cNvPr>
            <p:cNvSpPr/>
            <p:nvPr/>
          </p:nvSpPr>
          <p:spPr>
            <a:xfrm>
              <a:off x="5311365" y="1954393"/>
              <a:ext cx="1733550" cy="60734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200" b="1">
                  <a:ln>
                    <a:solidFill>
                      <a:schemeClr val="tx1">
                        <a:lumMod val="65000"/>
                        <a:lumOff val="35000"/>
                        <a:alpha val="30000"/>
                      </a:scheme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rPr>
                <a:t>yolo v8</a:t>
              </a:r>
            </a:p>
            <a:p>
              <a:pPr algn="ctr"/>
              <a:r>
                <a:rPr lang="en-US" altLang="ko-KR" sz="900" b="1">
                  <a:ln>
                    <a:solidFill>
                      <a:schemeClr val="tx1">
                        <a:lumMod val="65000"/>
                        <a:lumOff val="35000"/>
                        <a:alpha val="30000"/>
                      </a:scheme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rPr>
                <a:t>image classification</a:t>
              </a:r>
              <a:endParaRPr lang="en-US" altLang="ko-KR" sz="900" b="1" dirty="0">
                <a:ln>
                  <a:solidFill>
                    <a:schemeClr val="tx1">
                      <a:lumMod val="65000"/>
                      <a:lumOff val="35000"/>
                      <a:alpha val="3000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endParaRPr>
            </a:p>
          </p:txBody>
        </p:sp>
      </p:grpSp>
      <p:grpSp>
        <p:nvGrpSpPr>
          <p:cNvPr id="1040" name="그룹 1039">
            <a:extLst>
              <a:ext uri="{FF2B5EF4-FFF2-40B4-BE49-F238E27FC236}">
                <a16:creationId xmlns:a16="http://schemas.microsoft.com/office/drawing/2014/main" id="{A1107139-6592-39C9-D4F7-13A81C96B43F}"/>
              </a:ext>
            </a:extLst>
          </p:cNvPr>
          <p:cNvGrpSpPr/>
          <p:nvPr/>
        </p:nvGrpSpPr>
        <p:grpSpPr>
          <a:xfrm>
            <a:off x="6419385" y="2200181"/>
            <a:ext cx="1764072" cy="1423910"/>
            <a:chOff x="7052761" y="848285"/>
            <a:chExt cx="2217536" cy="1651990"/>
          </a:xfrm>
        </p:grpSpPr>
        <p:pic>
          <p:nvPicPr>
            <p:cNvPr id="1028" name="그림 1027">
              <a:extLst>
                <a:ext uri="{FF2B5EF4-FFF2-40B4-BE49-F238E27FC236}">
                  <a16:creationId xmlns:a16="http://schemas.microsoft.com/office/drawing/2014/main" id="{21379380-DF5C-D019-2FFF-AEB3650A357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7430789" y="1000832"/>
              <a:ext cx="1610452" cy="942878"/>
            </a:xfrm>
            <a:prstGeom prst="rect">
              <a:avLst/>
            </a:prstGeom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1024" name="그림 1023" descr="블랙, 어둠이(가) 표시된 사진&#10;&#10;자동 생성된 설명">
              <a:extLst>
                <a:ext uri="{FF2B5EF4-FFF2-40B4-BE49-F238E27FC236}">
                  <a16:creationId xmlns:a16="http://schemas.microsoft.com/office/drawing/2014/main" id="{A1AA6A55-F84E-37D2-9498-BF53D6E7E2C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78429" y="848285"/>
              <a:ext cx="373885" cy="373885"/>
            </a:xfrm>
            <a:prstGeom prst="rect">
              <a:avLst/>
            </a:prstGeom>
          </p:spPr>
        </p:pic>
        <p:sp>
          <p:nvSpPr>
            <p:cNvPr id="1025" name="직사각형 1024">
              <a:extLst>
                <a:ext uri="{FF2B5EF4-FFF2-40B4-BE49-F238E27FC236}">
                  <a16:creationId xmlns:a16="http://schemas.microsoft.com/office/drawing/2014/main" id="{F4FA0D53-D573-2CBE-C87E-FF2583631560}"/>
                </a:ext>
              </a:extLst>
            </p:cNvPr>
            <p:cNvSpPr/>
            <p:nvPr/>
          </p:nvSpPr>
          <p:spPr>
            <a:xfrm>
              <a:off x="7052761" y="1937881"/>
              <a:ext cx="2217536" cy="56239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100" b="1">
                  <a:ln>
                    <a:solidFill>
                      <a:schemeClr val="tx1">
                        <a:lumMod val="65000"/>
                        <a:lumOff val="35000"/>
                        <a:alpha val="30000"/>
                      </a:scheme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rPr>
                <a:t>LSTM</a:t>
              </a:r>
            </a:p>
            <a:p>
              <a:pPr algn="ctr"/>
              <a:r>
                <a:rPr lang="en-US" altLang="ko-KR" sz="900" b="1">
                  <a:ln>
                    <a:solidFill>
                      <a:schemeClr val="tx1">
                        <a:lumMod val="65000"/>
                        <a:lumOff val="35000"/>
                        <a:alpha val="30000"/>
                      </a:scheme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rPr>
                <a:t>temporal feature extraction</a:t>
              </a:r>
              <a:endParaRPr lang="en-US" altLang="ko-KR" sz="1200" b="1" dirty="0">
                <a:ln>
                  <a:solidFill>
                    <a:schemeClr val="tx1">
                      <a:lumMod val="65000"/>
                      <a:lumOff val="35000"/>
                      <a:alpha val="3000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endParaRPr>
            </a:p>
          </p:txBody>
        </p:sp>
      </p:grpSp>
      <p:sp>
        <p:nvSpPr>
          <p:cNvPr id="1033" name="사각형: 둥근 위쪽 모서리 1032">
            <a:extLst>
              <a:ext uri="{FF2B5EF4-FFF2-40B4-BE49-F238E27FC236}">
                <a16:creationId xmlns:a16="http://schemas.microsoft.com/office/drawing/2014/main" id="{27F01898-AF51-6C48-C915-264E0E6FAD59}"/>
              </a:ext>
            </a:extLst>
          </p:cNvPr>
          <p:cNvSpPr/>
          <p:nvPr/>
        </p:nvSpPr>
        <p:spPr>
          <a:xfrm>
            <a:off x="2973992" y="640347"/>
            <a:ext cx="2132503" cy="269416"/>
          </a:xfrm>
          <a:prstGeom prst="round2Same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ko-KR" sz="1100" b="1">
                <a:ln>
                  <a:solidFill>
                    <a:schemeClr val="bg1">
                      <a:alpha val="30000"/>
                    </a:schemeClr>
                  </a:solidFill>
                </a:ln>
                <a:solidFill>
                  <a:schemeClr val="bg1"/>
                </a:solidFill>
                <a:latin typeface="+mn-ea"/>
              </a:rPr>
              <a:t>environment recognition</a:t>
            </a:r>
            <a:endParaRPr lang="ko-KR" altLang="en-US" sz="1100" b="1">
              <a:ln>
                <a:solidFill>
                  <a:schemeClr val="bg1">
                    <a:alpha val="30000"/>
                  </a:schemeClr>
                </a:solidFill>
              </a:ln>
              <a:solidFill>
                <a:schemeClr val="bg1"/>
              </a:solidFill>
              <a:latin typeface="+mn-ea"/>
            </a:endParaRPr>
          </a:p>
        </p:txBody>
      </p:sp>
      <p:sp>
        <p:nvSpPr>
          <p:cNvPr id="1036" name="사각형: 둥근 위쪽 모서리 1035">
            <a:extLst>
              <a:ext uri="{FF2B5EF4-FFF2-40B4-BE49-F238E27FC236}">
                <a16:creationId xmlns:a16="http://schemas.microsoft.com/office/drawing/2014/main" id="{BB11B06F-6F9F-66E8-E98A-909D9167DE75}"/>
              </a:ext>
            </a:extLst>
          </p:cNvPr>
          <p:cNvSpPr/>
          <p:nvPr/>
        </p:nvSpPr>
        <p:spPr>
          <a:xfrm>
            <a:off x="2973883" y="4631065"/>
            <a:ext cx="2132503" cy="269416"/>
          </a:xfrm>
          <a:prstGeom prst="round2SameRect">
            <a:avLst>
              <a:gd name="adj1" fmla="val 0"/>
              <a:gd name="adj2" fmla="val 50000"/>
            </a:avLst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ko-KR" sz="1100" b="1">
                <a:ln>
                  <a:solidFill>
                    <a:schemeClr val="bg1">
                      <a:alpha val="30000"/>
                    </a:schemeClr>
                  </a:solidFill>
                </a:ln>
                <a:solidFill>
                  <a:schemeClr val="bg1"/>
                </a:solidFill>
                <a:latin typeface="+mn-ea"/>
              </a:rPr>
              <a:t>gait phase detection</a:t>
            </a:r>
            <a:endParaRPr lang="ko-KR" altLang="en-US" sz="1100" b="1">
              <a:ln>
                <a:solidFill>
                  <a:schemeClr val="bg1">
                    <a:alpha val="30000"/>
                  </a:schemeClr>
                </a:solidFill>
              </a:ln>
              <a:solidFill>
                <a:schemeClr val="bg1"/>
              </a:solidFill>
              <a:latin typeface="+mn-ea"/>
            </a:endParaRPr>
          </a:p>
        </p:txBody>
      </p:sp>
      <p:grpSp>
        <p:nvGrpSpPr>
          <p:cNvPr id="1057" name="그룹 1056">
            <a:extLst>
              <a:ext uri="{FF2B5EF4-FFF2-40B4-BE49-F238E27FC236}">
                <a16:creationId xmlns:a16="http://schemas.microsoft.com/office/drawing/2014/main" id="{42FC557E-DF7F-AC6C-040E-B3381F471356}"/>
              </a:ext>
            </a:extLst>
          </p:cNvPr>
          <p:cNvGrpSpPr/>
          <p:nvPr/>
        </p:nvGrpSpPr>
        <p:grpSpPr>
          <a:xfrm>
            <a:off x="3002434" y="3353967"/>
            <a:ext cx="1285429" cy="961028"/>
            <a:chOff x="3421934" y="3144295"/>
            <a:chExt cx="1733550" cy="1119257"/>
          </a:xfrm>
        </p:grpSpPr>
        <p:pic>
          <p:nvPicPr>
            <p:cNvPr id="58" name="그림 57">
              <a:extLst>
                <a:ext uri="{FF2B5EF4-FFF2-40B4-BE49-F238E27FC236}">
                  <a16:creationId xmlns:a16="http://schemas.microsoft.com/office/drawing/2014/main" id="{5E082851-5522-FEF5-8F39-FEA6ACB7CE7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3573089" y="3144295"/>
              <a:ext cx="1466185" cy="762336"/>
            </a:xfrm>
            <a:prstGeom prst="rect">
              <a:avLst/>
            </a:prstGeom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042" name="직사각형 1041">
              <a:extLst>
                <a:ext uri="{FF2B5EF4-FFF2-40B4-BE49-F238E27FC236}">
                  <a16:creationId xmlns:a16="http://schemas.microsoft.com/office/drawing/2014/main" id="{BB260843-F3E9-8C29-A232-F18DDB110D2E}"/>
                </a:ext>
              </a:extLst>
            </p:cNvPr>
            <p:cNvSpPr/>
            <p:nvPr/>
          </p:nvSpPr>
          <p:spPr>
            <a:xfrm>
              <a:off x="3421934" y="3950005"/>
              <a:ext cx="1733550" cy="31354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100" b="1">
                  <a:ln>
                    <a:solidFill>
                      <a:schemeClr val="tx1">
                        <a:lumMod val="65000"/>
                        <a:lumOff val="35000"/>
                        <a:alpha val="30000"/>
                      </a:scheme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rPr>
                <a:t>acc_x, gyro_z</a:t>
              </a:r>
              <a:endParaRPr lang="en-US" altLang="ko-KR" sz="1100" b="1" dirty="0">
                <a:ln>
                  <a:solidFill>
                    <a:schemeClr val="tx1">
                      <a:lumMod val="65000"/>
                      <a:lumOff val="35000"/>
                      <a:alpha val="3000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endParaRPr>
            </a:p>
          </p:txBody>
        </p:sp>
      </p:grpSp>
      <p:cxnSp>
        <p:nvCxnSpPr>
          <p:cNvPr id="1064" name="직선 화살표 연결선 1063">
            <a:extLst>
              <a:ext uri="{FF2B5EF4-FFF2-40B4-BE49-F238E27FC236}">
                <a16:creationId xmlns:a16="http://schemas.microsoft.com/office/drawing/2014/main" id="{74C51FC1-AFA3-F15B-9B9E-40B6962EDA5B}"/>
              </a:ext>
            </a:extLst>
          </p:cNvPr>
          <p:cNvCxnSpPr>
            <a:cxnSpLocks/>
          </p:cNvCxnSpPr>
          <p:nvPr/>
        </p:nvCxnSpPr>
        <p:spPr>
          <a:xfrm>
            <a:off x="4287863" y="1807133"/>
            <a:ext cx="26904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7" name="직선 화살표 연결선 1066">
            <a:extLst>
              <a:ext uri="{FF2B5EF4-FFF2-40B4-BE49-F238E27FC236}">
                <a16:creationId xmlns:a16="http://schemas.microsoft.com/office/drawing/2014/main" id="{BAAE3EEA-3835-5493-1018-C8F2305916C5}"/>
              </a:ext>
            </a:extLst>
          </p:cNvPr>
          <p:cNvCxnSpPr>
            <a:cxnSpLocks/>
          </p:cNvCxnSpPr>
          <p:nvPr/>
        </p:nvCxnSpPr>
        <p:spPr>
          <a:xfrm>
            <a:off x="4287863" y="3681250"/>
            <a:ext cx="26904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8" name="직선 화살표 연결선 1067">
            <a:extLst>
              <a:ext uri="{FF2B5EF4-FFF2-40B4-BE49-F238E27FC236}">
                <a16:creationId xmlns:a16="http://schemas.microsoft.com/office/drawing/2014/main" id="{66B3D809-426C-D844-A2D4-C010D7CE12E2}"/>
              </a:ext>
            </a:extLst>
          </p:cNvPr>
          <p:cNvCxnSpPr>
            <a:cxnSpLocks/>
          </p:cNvCxnSpPr>
          <p:nvPr/>
        </p:nvCxnSpPr>
        <p:spPr>
          <a:xfrm>
            <a:off x="2146337" y="1839555"/>
            <a:ext cx="5397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9" name="직선 화살표 연결선 1068">
            <a:extLst>
              <a:ext uri="{FF2B5EF4-FFF2-40B4-BE49-F238E27FC236}">
                <a16:creationId xmlns:a16="http://schemas.microsoft.com/office/drawing/2014/main" id="{06BFB328-D295-AD95-A419-585C5F12F18C}"/>
              </a:ext>
            </a:extLst>
          </p:cNvPr>
          <p:cNvCxnSpPr>
            <a:cxnSpLocks/>
          </p:cNvCxnSpPr>
          <p:nvPr/>
        </p:nvCxnSpPr>
        <p:spPr>
          <a:xfrm>
            <a:off x="2109014" y="3643311"/>
            <a:ext cx="61273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79" name="직사각형 1078">
            <a:extLst>
              <a:ext uri="{FF2B5EF4-FFF2-40B4-BE49-F238E27FC236}">
                <a16:creationId xmlns:a16="http://schemas.microsoft.com/office/drawing/2014/main" id="{0BE86187-667D-1499-B9CF-3A417C8CF641}"/>
              </a:ext>
            </a:extLst>
          </p:cNvPr>
          <p:cNvSpPr/>
          <p:nvPr/>
        </p:nvSpPr>
        <p:spPr>
          <a:xfrm>
            <a:off x="6104220" y="1152002"/>
            <a:ext cx="203424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900">
                <a:ln>
                  <a:solidFill>
                    <a:schemeClr val="tx1">
                      <a:lumMod val="65000"/>
                      <a:lumOff val="35000"/>
                      <a:alpha val="30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environment class</a:t>
            </a:r>
          </a:p>
          <a:p>
            <a:r>
              <a:rPr lang="en-US" altLang="ko-KR" sz="900">
                <a:ln>
                  <a:solidFill>
                    <a:schemeClr val="tx1">
                      <a:lumMod val="65000"/>
                      <a:lumOff val="35000"/>
                      <a:alpha val="30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:[0,1,2,3,4,5,6]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6C1F3A1A-4442-03A3-1F3C-9163F65740D6}"/>
              </a:ext>
            </a:extLst>
          </p:cNvPr>
          <p:cNvGrpSpPr/>
          <p:nvPr/>
        </p:nvGrpSpPr>
        <p:grpSpPr>
          <a:xfrm>
            <a:off x="8223585" y="2219365"/>
            <a:ext cx="2267082" cy="1454951"/>
            <a:chOff x="7896190" y="3148993"/>
            <a:chExt cx="2267082" cy="1454951"/>
          </a:xfrm>
        </p:grpSpPr>
        <p:grpSp>
          <p:nvGrpSpPr>
            <p:cNvPr id="1100" name="그룹 1099">
              <a:extLst>
                <a:ext uri="{FF2B5EF4-FFF2-40B4-BE49-F238E27FC236}">
                  <a16:creationId xmlns:a16="http://schemas.microsoft.com/office/drawing/2014/main" id="{C8E91873-89B2-3893-2C98-89DE21B69B5C}"/>
                </a:ext>
              </a:extLst>
            </p:cNvPr>
            <p:cNvGrpSpPr/>
            <p:nvPr/>
          </p:nvGrpSpPr>
          <p:grpSpPr>
            <a:xfrm>
              <a:off x="8169142" y="3235484"/>
              <a:ext cx="1048578" cy="889741"/>
              <a:chOff x="8840271" y="2873591"/>
              <a:chExt cx="1352548" cy="1131086"/>
            </a:xfrm>
          </p:grpSpPr>
          <p:grpSp>
            <p:nvGrpSpPr>
              <p:cNvPr id="1093" name="그룹 1092">
                <a:extLst>
                  <a:ext uri="{FF2B5EF4-FFF2-40B4-BE49-F238E27FC236}">
                    <a16:creationId xmlns:a16="http://schemas.microsoft.com/office/drawing/2014/main" id="{DCCC8343-2B53-B46D-019B-BDE2FA71CFB5}"/>
                  </a:ext>
                </a:extLst>
              </p:cNvPr>
              <p:cNvGrpSpPr/>
              <p:nvPr/>
            </p:nvGrpSpPr>
            <p:grpSpPr>
              <a:xfrm>
                <a:off x="8840271" y="2873591"/>
                <a:ext cx="1352548" cy="1131086"/>
                <a:chOff x="11106433" y="1760814"/>
                <a:chExt cx="2462225" cy="1979913"/>
              </a:xfrm>
            </p:grpSpPr>
            <p:grpSp>
              <p:nvGrpSpPr>
                <p:cNvPr id="1094" name="그룹 1093">
                  <a:extLst>
                    <a:ext uri="{FF2B5EF4-FFF2-40B4-BE49-F238E27FC236}">
                      <a16:creationId xmlns:a16="http://schemas.microsoft.com/office/drawing/2014/main" id="{734F2A3F-9271-3896-EF60-FDBDC6293C54}"/>
                    </a:ext>
                  </a:extLst>
                </p:cNvPr>
                <p:cNvGrpSpPr/>
                <p:nvPr/>
              </p:nvGrpSpPr>
              <p:grpSpPr>
                <a:xfrm>
                  <a:off x="11106433" y="1760814"/>
                  <a:ext cx="2462225" cy="1979913"/>
                  <a:chOff x="11106433" y="1760814"/>
                  <a:chExt cx="2462225" cy="1979913"/>
                </a:xfrm>
              </p:grpSpPr>
              <p:cxnSp>
                <p:nvCxnSpPr>
                  <p:cNvPr id="1096" name="직선 연결선 1095">
                    <a:extLst>
                      <a:ext uri="{FF2B5EF4-FFF2-40B4-BE49-F238E27FC236}">
                        <a16:creationId xmlns:a16="http://schemas.microsoft.com/office/drawing/2014/main" id="{92D9D158-C31F-65A3-96CE-C93F7226204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1106433" y="1760814"/>
                    <a:ext cx="7911" cy="1979913"/>
                  </a:xfrm>
                  <a:prstGeom prst="line">
                    <a:avLst/>
                  </a:prstGeom>
                  <a:ln w="19050">
                    <a:solidFill>
                      <a:schemeClr val="bg2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97" name="직선 연결선 1096">
                    <a:extLst>
                      <a:ext uri="{FF2B5EF4-FFF2-40B4-BE49-F238E27FC236}">
                        <a16:creationId xmlns:a16="http://schemas.microsoft.com/office/drawing/2014/main" id="{78421DDD-1F73-62A2-E223-7019B7CE9DB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200000">
                    <a:off x="12341502" y="2505615"/>
                    <a:ext cx="0" cy="2454312"/>
                  </a:xfrm>
                  <a:prstGeom prst="line">
                    <a:avLst/>
                  </a:prstGeom>
                  <a:ln w="19050">
                    <a:solidFill>
                      <a:schemeClr val="bg2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095" name="자유형: 도형 1094">
                  <a:extLst>
                    <a:ext uri="{FF2B5EF4-FFF2-40B4-BE49-F238E27FC236}">
                      <a16:creationId xmlns:a16="http://schemas.microsoft.com/office/drawing/2014/main" id="{37C9CFE4-4ABC-D30F-8134-8C5CC38D6728}"/>
                    </a:ext>
                  </a:extLst>
                </p:cNvPr>
                <p:cNvSpPr/>
                <p:nvPr/>
              </p:nvSpPr>
              <p:spPr>
                <a:xfrm>
                  <a:off x="11166764" y="2018266"/>
                  <a:ext cx="2382981" cy="1600322"/>
                </a:xfrm>
                <a:custGeom>
                  <a:avLst/>
                  <a:gdLst>
                    <a:gd name="connsiteX0" fmla="*/ 0 w 2382981"/>
                    <a:gd name="connsiteY0" fmla="*/ 1570061 h 1600322"/>
                    <a:gd name="connsiteX1" fmla="*/ 346363 w 2382981"/>
                    <a:gd name="connsiteY1" fmla="*/ 1140570 h 1600322"/>
                    <a:gd name="connsiteX2" fmla="*/ 637309 w 2382981"/>
                    <a:gd name="connsiteY2" fmla="*/ 1528498 h 1600322"/>
                    <a:gd name="connsiteX3" fmla="*/ 942109 w 2382981"/>
                    <a:gd name="connsiteY3" fmla="*/ 1556207 h 1600322"/>
                    <a:gd name="connsiteX4" fmla="*/ 1288472 w 2382981"/>
                    <a:gd name="connsiteY4" fmla="*/ 1057443 h 1600322"/>
                    <a:gd name="connsiteX5" fmla="*/ 1427018 w 2382981"/>
                    <a:gd name="connsiteY5" fmla="*/ 1112861 h 1600322"/>
                    <a:gd name="connsiteX6" fmla="*/ 1482436 w 2382981"/>
                    <a:gd name="connsiteY6" fmla="*/ 877334 h 1600322"/>
                    <a:gd name="connsiteX7" fmla="*/ 1551709 w 2382981"/>
                    <a:gd name="connsiteY7" fmla="*/ 988170 h 1600322"/>
                    <a:gd name="connsiteX8" fmla="*/ 1676400 w 2382981"/>
                    <a:gd name="connsiteY8" fmla="*/ 143043 h 1600322"/>
                    <a:gd name="connsiteX9" fmla="*/ 1939636 w 2382981"/>
                    <a:gd name="connsiteY9" fmla="*/ 87625 h 1600322"/>
                    <a:gd name="connsiteX10" fmla="*/ 2064327 w 2382981"/>
                    <a:gd name="connsiteY10" fmla="*/ 1029734 h 1600322"/>
                    <a:gd name="connsiteX11" fmla="*/ 2161309 w 2382981"/>
                    <a:gd name="connsiteY11" fmla="*/ 1279116 h 1600322"/>
                    <a:gd name="connsiteX12" fmla="*/ 2230581 w 2382981"/>
                    <a:gd name="connsiteY12" fmla="*/ 1528498 h 1600322"/>
                    <a:gd name="connsiteX13" fmla="*/ 2382981 w 2382981"/>
                    <a:gd name="connsiteY13" fmla="*/ 1514643 h 16003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2382981" h="1600322">
                      <a:moveTo>
                        <a:pt x="0" y="1570061"/>
                      </a:moveTo>
                      <a:cubicBezTo>
                        <a:pt x="120072" y="1358779"/>
                        <a:pt x="240145" y="1147497"/>
                        <a:pt x="346363" y="1140570"/>
                      </a:cubicBezTo>
                      <a:cubicBezTo>
                        <a:pt x="452581" y="1133643"/>
                        <a:pt x="538018" y="1459225"/>
                        <a:pt x="637309" y="1528498"/>
                      </a:cubicBezTo>
                      <a:cubicBezTo>
                        <a:pt x="736600" y="1597771"/>
                        <a:pt x="833582" y="1634716"/>
                        <a:pt x="942109" y="1556207"/>
                      </a:cubicBezTo>
                      <a:cubicBezTo>
                        <a:pt x="1050636" y="1477698"/>
                        <a:pt x="1207654" y="1131334"/>
                        <a:pt x="1288472" y="1057443"/>
                      </a:cubicBezTo>
                      <a:cubicBezTo>
                        <a:pt x="1369290" y="983552"/>
                        <a:pt x="1394691" y="1142879"/>
                        <a:pt x="1427018" y="1112861"/>
                      </a:cubicBezTo>
                      <a:cubicBezTo>
                        <a:pt x="1459345" y="1082843"/>
                        <a:pt x="1461654" y="898116"/>
                        <a:pt x="1482436" y="877334"/>
                      </a:cubicBezTo>
                      <a:cubicBezTo>
                        <a:pt x="1503218" y="856552"/>
                        <a:pt x="1519382" y="1110552"/>
                        <a:pt x="1551709" y="988170"/>
                      </a:cubicBezTo>
                      <a:cubicBezTo>
                        <a:pt x="1584036" y="865788"/>
                        <a:pt x="1611746" y="293134"/>
                        <a:pt x="1676400" y="143043"/>
                      </a:cubicBezTo>
                      <a:cubicBezTo>
                        <a:pt x="1741054" y="-7048"/>
                        <a:pt x="1874982" y="-60157"/>
                        <a:pt x="1939636" y="87625"/>
                      </a:cubicBezTo>
                      <a:cubicBezTo>
                        <a:pt x="2004290" y="235407"/>
                        <a:pt x="2027382" y="831152"/>
                        <a:pt x="2064327" y="1029734"/>
                      </a:cubicBezTo>
                      <a:cubicBezTo>
                        <a:pt x="2101273" y="1228316"/>
                        <a:pt x="2133600" y="1195989"/>
                        <a:pt x="2161309" y="1279116"/>
                      </a:cubicBezTo>
                      <a:cubicBezTo>
                        <a:pt x="2189018" y="1362243"/>
                        <a:pt x="2193636" y="1489243"/>
                        <a:pt x="2230581" y="1528498"/>
                      </a:cubicBezTo>
                      <a:cubicBezTo>
                        <a:pt x="2267526" y="1567753"/>
                        <a:pt x="2325253" y="1541198"/>
                        <a:pt x="2382981" y="1514643"/>
                      </a:cubicBezTo>
                    </a:path>
                  </a:pathLst>
                </a:custGeom>
                <a:noFill/>
                <a:ln w="19050"/>
              </p:spPr>
              <p:style>
                <a:lnRef idx="1">
                  <a:schemeClr val="accent3"/>
                </a:lnRef>
                <a:fillRef idx="0">
                  <a:schemeClr val="accent3"/>
                </a:fillRef>
                <a:effectRef idx="0">
                  <a:schemeClr val="accent3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cxnSp>
            <p:nvCxnSpPr>
              <p:cNvPr id="1098" name="직선 연결선 1097">
                <a:extLst>
                  <a:ext uri="{FF2B5EF4-FFF2-40B4-BE49-F238E27FC236}">
                    <a16:creationId xmlns:a16="http://schemas.microsoft.com/office/drawing/2014/main" id="{7660A1BB-3FA6-B534-A2AA-ACD3EDA131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82483" y="3092058"/>
                <a:ext cx="0" cy="873903"/>
              </a:xfrm>
              <a:prstGeom prst="line">
                <a:avLst/>
              </a:prstGeom>
              <a:ln w="28575">
                <a:solidFill>
                  <a:schemeClr val="bg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05" name="직사각형 1104">
              <a:extLst>
                <a:ext uri="{FF2B5EF4-FFF2-40B4-BE49-F238E27FC236}">
                  <a16:creationId xmlns:a16="http://schemas.microsoft.com/office/drawing/2014/main" id="{432714A9-D96C-13D8-565F-8B1F412F889A}"/>
                </a:ext>
              </a:extLst>
            </p:cNvPr>
            <p:cNvSpPr/>
            <p:nvPr/>
          </p:nvSpPr>
          <p:spPr>
            <a:xfrm>
              <a:off x="7896190" y="4300463"/>
              <a:ext cx="2267082" cy="30348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50" b="1">
                  <a:ln>
                    <a:solidFill>
                      <a:schemeClr val="tx1">
                        <a:lumMod val="65000"/>
                        <a:lumOff val="35000"/>
                        <a:alpha val="30000"/>
                      </a:scheme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rPr>
                <a:t>motor reference trajectory </a:t>
              </a:r>
              <a:endParaRPr lang="en-US" altLang="ko-KR" sz="1200" b="1" dirty="0">
                <a:ln>
                  <a:solidFill>
                    <a:schemeClr val="tx1">
                      <a:lumMod val="65000"/>
                      <a:lumOff val="35000"/>
                      <a:alpha val="3000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endParaRPr>
            </a:p>
          </p:txBody>
        </p:sp>
        <p:grpSp>
          <p:nvGrpSpPr>
            <p:cNvPr id="1125" name="그룹 1124">
              <a:extLst>
                <a:ext uri="{FF2B5EF4-FFF2-40B4-BE49-F238E27FC236}">
                  <a16:creationId xmlns:a16="http://schemas.microsoft.com/office/drawing/2014/main" id="{437CB813-EB23-99FB-2325-16991DEC34CE}"/>
                </a:ext>
              </a:extLst>
            </p:cNvPr>
            <p:cNvGrpSpPr/>
            <p:nvPr/>
          </p:nvGrpSpPr>
          <p:grpSpPr>
            <a:xfrm>
              <a:off x="9270405" y="3148993"/>
              <a:ext cx="645511" cy="1129218"/>
              <a:chOff x="9344113" y="3205715"/>
              <a:chExt cx="694528" cy="1210517"/>
            </a:xfrm>
          </p:grpSpPr>
          <p:grpSp>
            <p:nvGrpSpPr>
              <p:cNvPr id="1114" name="그룹 1113">
                <a:extLst>
                  <a:ext uri="{FF2B5EF4-FFF2-40B4-BE49-F238E27FC236}">
                    <a16:creationId xmlns:a16="http://schemas.microsoft.com/office/drawing/2014/main" id="{5907CF2C-D134-48FE-1716-5274BBAF38BE}"/>
                  </a:ext>
                </a:extLst>
              </p:cNvPr>
              <p:cNvGrpSpPr/>
              <p:nvPr/>
            </p:nvGrpSpPr>
            <p:grpSpPr>
              <a:xfrm>
                <a:off x="9656292" y="3205715"/>
                <a:ext cx="382349" cy="1210517"/>
                <a:chOff x="9926738" y="3058058"/>
                <a:chExt cx="382349" cy="1210517"/>
              </a:xfrm>
            </p:grpSpPr>
            <p:pic>
              <p:nvPicPr>
                <p:cNvPr id="1109" name="그림 1108" descr="블랙, 어둠이(가) 표시된 사진&#10;&#10;자동 생성된 설명">
                  <a:extLst>
                    <a:ext uri="{FF2B5EF4-FFF2-40B4-BE49-F238E27FC236}">
                      <a16:creationId xmlns:a16="http://schemas.microsoft.com/office/drawing/2014/main" id="{8291FBA3-6E93-6337-7ACD-5D8CB650441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926738" y="3058058"/>
                  <a:ext cx="374424" cy="374424"/>
                </a:xfrm>
                <a:prstGeom prst="rect">
                  <a:avLst/>
                </a:prstGeom>
              </p:spPr>
            </p:pic>
            <p:pic>
              <p:nvPicPr>
                <p:cNvPr id="1110" name="그림 1109" descr="블랙, 어둠이(가) 표시된 사진&#10;&#10;자동 생성된 설명">
                  <a:extLst>
                    <a:ext uri="{FF2B5EF4-FFF2-40B4-BE49-F238E27FC236}">
                      <a16:creationId xmlns:a16="http://schemas.microsoft.com/office/drawing/2014/main" id="{0EF7B9E9-3A61-E7DD-EF5C-313BD4329D4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934663" y="3483354"/>
                  <a:ext cx="374424" cy="374424"/>
                </a:xfrm>
                <a:prstGeom prst="rect">
                  <a:avLst/>
                </a:prstGeom>
              </p:spPr>
            </p:pic>
            <p:pic>
              <p:nvPicPr>
                <p:cNvPr id="1111" name="그림 1110" descr="블랙, 어둠이(가) 표시된 사진&#10;&#10;자동 생성된 설명">
                  <a:extLst>
                    <a:ext uri="{FF2B5EF4-FFF2-40B4-BE49-F238E27FC236}">
                      <a16:creationId xmlns:a16="http://schemas.microsoft.com/office/drawing/2014/main" id="{5445EDDC-655C-63A8-CDF3-D13C1D912DE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934663" y="3894151"/>
                  <a:ext cx="374424" cy="374424"/>
                </a:xfrm>
                <a:prstGeom prst="rect">
                  <a:avLst/>
                </a:prstGeom>
              </p:spPr>
            </p:pic>
          </p:grpSp>
          <p:grpSp>
            <p:nvGrpSpPr>
              <p:cNvPr id="1122" name="그룹 1121">
                <a:extLst>
                  <a:ext uri="{FF2B5EF4-FFF2-40B4-BE49-F238E27FC236}">
                    <a16:creationId xmlns:a16="http://schemas.microsoft.com/office/drawing/2014/main" id="{43169E9E-78B4-D684-3ABF-7D9289231D84}"/>
                  </a:ext>
                </a:extLst>
              </p:cNvPr>
              <p:cNvGrpSpPr/>
              <p:nvPr/>
            </p:nvGrpSpPr>
            <p:grpSpPr>
              <a:xfrm>
                <a:off x="9344113" y="3376307"/>
                <a:ext cx="263042" cy="856758"/>
                <a:chOff x="9486988" y="3262007"/>
                <a:chExt cx="263042" cy="856758"/>
              </a:xfrm>
            </p:grpSpPr>
            <p:cxnSp>
              <p:nvCxnSpPr>
                <p:cNvPr id="1116" name="직선 연결선 1115">
                  <a:extLst>
                    <a:ext uri="{FF2B5EF4-FFF2-40B4-BE49-F238E27FC236}">
                      <a16:creationId xmlns:a16="http://schemas.microsoft.com/office/drawing/2014/main" id="{83674BAF-5DE4-F83B-AFA0-F704BEFEE53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9486988" y="3262007"/>
                  <a:ext cx="248070" cy="18000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117" name="직선 연결선 1116">
                  <a:extLst>
                    <a:ext uri="{FF2B5EF4-FFF2-40B4-BE49-F238E27FC236}">
                      <a16:creationId xmlns:a16="http://schemas.microsoft.com/office/drawing/2014/main" id="{9FB3424A-8591-7383-E85C-F75309F18E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9486988" y="3699566"/>
                  <a:ext cx="263042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119" name="직선 연결선 1118">
                  <a:extLst>
                    <a:ext uri="{FF2B5EF4-FFF2-40B4-BE49-F238E27FC236}">
                      <a16:creationId xmlns:a16="http://schemas.microsoft.com/office/drawing/2014/main" id="{CE956B92-FF74-29CD-9C76-51066D39A2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9486988" y="3942988"/>
                  <a:ext cx="252000" cy="175777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1128" name="TextBox 1127">
            <a:extLst>
              <a:ext uri="{FF2B5EF4-FFF2-40B4-BE49-F238E27FC236}">
                <a16:creationId xmlns:a16="http://schemas.microsoft.com/office/drawing/2014/main" id="{C98FDF6C-8E38-30FE-7529-3BFB43E3C22C}"/>
              </a:ext>
            </a:extLst>
          </p:cNvPr>
          <p:cNvSpPr txBox="1"/>
          <p:nvPr/>
        </p:nvSpPr>
        <p:spPr>
          <a:xfrm>
            <a:off x="2885569" y="5018834"/>
            <a:ext cx="3279505" cy="373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400" b="1">
                <a:ln>
                  <a:solidFill>
                    <a:schemeClr val="tx1">
                      <a:lumMod val="65000"/>
                      <a:lumOff val="35000"/>
                      <a:alpha val="3000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high-level controller</a:t>
            </a:r>
            <a:endParaRPr lang="ko-KR" altLang="en-US" sz="1400" b="1">
              <a:ln>
                <a:solidFill>
                  <a:schemeClr val="tx1">
                    <a:lumMod val="65000"/>
                    <a:lumOff val="35000"/>
                    <a:alpha val="30000"/>
                  </a:scheme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1129" name="TextBox 1128">
            <a:extLst>
              <a:ext uri="{FF2B5EF4-FFF2-40B4-BE49-F238E27FC236}">
                <a16:creationId xmlns:a16="http://schemas.microsoft.com/office/drawing/2014/main" id="{B389B387-8273-16E7-6D15-9D4FA56616A0}"/>
              </a:ext>
            </a:extLst>
          </p:cNvPr>
          <p:cNvSpPr txBox="1"/>
          <p:nvPr/>
        </p:nvSpPr>
        <p:spPr>
          <a:xfrm>
            <a:off x="7664771" y="4969711"/>
            <a:ext cx="3279505" cy="373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400" b="1">
                <a:ln>
                  <a:solidFill>
                    <a:schemeClr val="tx1">
                      <a:lumMod val="65000"/>
                      <a:lumOff val="35000"/>
                      <a:alpha val="3000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mid-level controller</a:t>
            </a:r>
            <a:endParaRPr lang="ko-KR" altLang="en-US" sz="1400" b="1">
              <a:ln>
                <a:solidFill>
                  <a:schemeClr val="tx1">
                    <a:lumMod val="65000"/>
                    <a:lumOff val="35000"/>
                    <a:alpha val="30000"/>
                  </a:scheme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1130" name="TextBox 1129">
            <a:extLst>
              <a:ext uri="{FF2B5EF4-FFF2-40B4-BE49-F238E27FC236}">
                <a16:creationId xmlns:a16="http://schemas.microsoft.com/office/drawing/2014/main" id="{BBF4C3C6-1934-654C-A054-53BF7BCB7B1C}"/>
              </a:ext>
            </a:extLst>
          </p:cNvPr>
          <p:cNvSpPr txBox="1"/>
          <p:nvPr/>
        </p:nvSpPr>
        <p:spPr>
          <a:xfrm>
            <a:off x="10209390" y="4969711"/>
            <a:ext cx="2301125" cy="373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400" b="1">
                <a:ln>
                  <a:solidFill>
                    <a:schemeClr val="tx1">
                      <a:lumMod val="65000"/>
                      <a:lumOff val="35000"/>
                      <a:alpha val="3000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low-level controller</a:t>
            </a:r>
            <a:endParaRPr lang="ko-KR" altLang="en-US" sz="1400" b="1">
              <a:ln>
                <a:solidFill>
                  <a:schemeClr val="tx1">
                    <a:lumMod val="65000"/>
                    <a:lumOff val="35000"/>
                    <a:alpha val="30000"/>
                  </a:scheme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1131" name="직사각형 1130">
            <a:extLst>
              <a:ext uri="{FF2B5EF4-FFF2-40B4-BE49-F238E27FC236}">
                <a16:creationId xmlns:a16="http://schemas.microsoft.com/office/drawing/2014/main" id="{7A11DC3C-7544-E628-2F4F-C8C120AAC1AD}"/>
              </a:ext>
            </a:extLst>
          </p:cNvPr>
          <p:cNvSpPr/>
          <p:nvPr/>
        </p:nvSpPr>
        <p:spPr>
          <a:xfrm>
            <a:off x="10213996" y="3391793"/>
            <a:ext cx="2132503" cy="3034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050" b="1">
                <a:ln>
                  <a:solidFill>
                    <a:schemeClr val="tx1">
                      <a:lumMod val="65000"/>
                      <a:lumOff val="35000"/>
                      <a:alpha val="3000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position-based control</a:t>
            </a:r>
            <a:endParaRPr lang="en-US" altLang="ko-KR" sz="1200" b="1" dirty="0">
              <a:ln>
                <a:solidFill>
                  <a:schemeClr val="tx1">
                    <a:lumMod val="65000"/>
                    <a:lumOff val="35000"/>
                    <a:alpha val="30000"/>
                  </a:scheme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pic>
        <p:nvPicPr>
          <p:cNvPr id="1133" name="그림 1132" descr="블랙, 어둠이(가) 표시된 사진&#10;&#10;자동 생성된 설명">
            <a:extLst>
              <a:ext uri="{FF2B5EF4-FFF2-40B4-BE49-F238E27FC236}">
                <a16:creationId xmlns:a16="http://schemas.microsoft.com/office/drawing/2014/main" id="{7368390E-73A2-79FE-E25F-852E84DD3E8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4551" y="2279256"/>
            <a:ext cx="1014831" cy="1014831"/>
          </a:xfrm>
          <a:prstGeom prst="rect">
            <a:avLst/>
          </a:prstGeom>
        </p:spPr>
      </p:pic>
      <p:cxnSp>
        <p:nvCxnSpPr>
          <p:cNvPr id="1139" name="직선 화살표 연결선 1138">
            <a:extLst>
              <a:ext uri="{FF2B5EF4-FFF2-40B4-BE49-F238E27FC236}">
                <a16:creationId xmlns:a16="http://schemas.microsoft.com/office/drawing/2014/main" id="{8224EEA6-DD1A-A680-15B8-7ED89CD4443F}"/>
              </a:ext>
            </a:extLst>
          </p:cNvPr>
          <p:cNvCxnSpPr>
            <a:cxnSpLocks/>
          </p:cNvCxnSpPr>
          <p:nvPr/>
        </p:nvCxnSpPr>
        <p:spPr>
          <a:xfrm>
            <a:off x="10503126" y="2824975"/>
            <a:ext cx="26904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연결선: 꺾임 4">
            <a:extLst>
              <a:ext uri="{FF2B5EF4-FFF2-40B4-BE49-F238E27FC236}">
                <a16:creationId xmlns:a16="http://schemas.microsoft.com/office/drawing/2014/main" id="{A7907B14-41EA-3193-C3F4-E572FBCB9311}"/>
              </a:ext>
            </a:extLst>
          </p:cNvPr>
          <p:cNvCxnSpPr>
            <a:cxnSpLocks/>
          </p:cNvCxnSpPr>
          <p:nvPr/>
        </p:nvCxnSpPr>
        <p:spPr>
          <a:xfrm>
            <a:off x="6188288" y="1535005"/>
            <a:ext cx="1238850" cy="636735"/>
          </a:xfrm>
          <a:prstGeom prst="bentConnector3">
            <a:avLst>
              <a:gd name="adj1" fmla="val 99976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955CDF44-500C-1F42-6041-B906047A57D5}"/>
              </a:ext>
            </a:extLst>
          </p:cNvPr>
          <p:cNvCxnSpPr>
            <a:cxnSpLocks/>
          </p:cNvCxnSpPr>
          <p:nvPr/>
        </p:nvCxnSpPr>
        <p:spPr>
          <a:xfrm>
            <a:off x="8125989" y="2796079"/>
            <a:ext cx="26904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4" name="그림 13">
            <a:extLst>
              <a:ext uri="{FF2B5EF4-FFF2-40B4-BE49-F238E27FC236}">
                <a16:creationId xmlns:a16="http://schemas.microsoft.com/office/drawing/2014/main" id="{358BDEE5-DEBB-5879-2D81-A7601705F3A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666770" y="3242306"/>
            <a:ext cx="1191167" cy="884165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DACEAB2D-6988-F606-C605-5DB6F9B33E3A}"/>
              </a:ext>
            </a:extLst>
          </p:cNvPr>
          <p:cNvSpPr/>
          <p:nvPr/>
        </p:nvSpPr>
        <p:spPr>
          <a:xfrm>
            <a:off x="4458704" y="4126471"/>
            <a:ext cx="1515115" cy="3034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050" b="1">
                <a:ln>
                  <a:solidFill>
                    <a:schemeClr val="tx1">
                      <a:lumMod val="65000"/>
                      <a:lumOff val="35000"/>
                      <a:alpha val="3000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noise filtering</a:t>
            </a:r>
            <a:endParaRPr lang="en-US" altLang="ko-KR" sz="1200" b="1" dirty="0">
              <a:ln>
                <a:solidFill>
                  <a:schemeClr val="tx1">
                    <a:lumMod val="65000"/>
                    <a:lumOff val="35000"/>
                    <a:alpha val="30000"/>
                  </a:scheme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cxnSp>
        <p:nvCxnSpPr>
          <p:cNvPr id="16" name="연결선: 꺾임 15">
            <a:extLst>
              <a:ext uri="{FF2B5EF4-FFF2-40B4-BE49-F238E27FC236}">
                <a16:creationId xmlns:a16="http://schemas.microsoft.com/office/drawing/2014/main" id="{CDDAE6AA-B54D-0B39-8606-B18E80AF6910}"/>
              </a:ext>
            </a:extLst>
          </p:cNvPr>
          <p:cNvCxnSpPr>
            <a:cxnSpLocks/>
          </p:cNvCxnSpPr>
          <p:nvPr/>
        </p:nvCxnSpPr>
        <p:spPr>
          <a:xfrm flipV="1">
            <a:off x="6201356" y="3700883"/>
            <a:ext cx="1238850" cy="636735"/>
          </a:xfrm>
          <a:prstGeom prst="bentConnector3">
            <a:avLst>
              <a:gd name="adj1" fmla="val 99976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B02BAA4-8715-8E60-75C5-06CD297158DD}"/>
              </a:ext>
            </a:extLst>
          </p:cNvPr>
          <p:cNvSpPr/>
          <p:nvPr/>
        </p:nvSpPr>
        <p:spPr>
          <a:xfrm>
            <a:off x="6104220" y="4337618"/>
            <a:ext cx="2034246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900">
                <a:ln>
                  <a:solidFill>
                    <a:schemeClr val="tx1">
                      <a:lumMod val="65000"/>
                      <a:lumOff val="35000"/>
                      <a:alpha val="30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shank &amp; thigh: acc_x, gyro_z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5FAE55C3-28F9-2A23-7370-7F5495795E96}"/>
              </a:ext>
            </a:extLst>
          </p:cNvPr>
          <p:cNvSpPr/>
          <p:nvPr/>
        </p:nvSpPr>
        <p:spPr>
          <a:xfrm>
            <a:off x="8496537" y="3725268"/>
            <a:ext cx="2034246" cy="4810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900">
                <a:ln>
                  <a:solidFill>
                    <a:schemeClr val="tx1">
                      <a:lumMod val="65000"/>
                      <a:lumOff val="35000"/>
                      <a:alpha val="30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특정 </a:t>
            </a:r>
            <a:r>
              <a:rPr lang="en-US" altLang="ko-KR" sz="900">
                <a:ln>
                  <a:solidFill>
                    <a:schemeClr val="tx1">
                      <a:lumMod val="65000"/>
                      <a:lumOff val="35000"/>
                      <a:alpha val="30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environmen</a:t>
            </a:r>
            <a:r>
              <a:rPr lang="ko-KR" altLang="en-US" sz="900">
                <a:ln>
                  <a:solidFill>
                    <a:schemeClr val="tx1">
                      <a:lumMod val="65000"/>
                      <a:lumOff val="35000"/>
                      <a:alpha val="30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의 </a:t>
            </a:r>
            <a:r>
              <a:rPr lang="en-US" altLang="ko-KR" sz="900">
                <a:ln>
                  <a:solidFill>
                    <a:schemeClr val="tx1">
                      <a:lumMod val="65000"/>
                      <a:lumOff val="35000"/>
                      <a:alpha val="30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gait cycle (%)</a:t>
            </a:r>
          </a:p>
          <a:p>
            <a:pPr>
              <a:lnSpc>
                <a:spcPct val="150000"/>
              </a:lnSpc>
            </a:pPr>
            <a:r>
              <a:rPr lang="en-US" altLang="ko-KR" sz="900">
                <a:ln>
                  <a:solidFill>
                    <a:schemeClr val="tx1">
                      <a:lumMod val="65000"/>
                      <a:lumOff val="35000"/>
                      <a:alpha val="30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- ex) stair incline</a:t>
            </a:r>
            <a:r>
              <a:rPr lang="ko-KR" altLang="en-US" sz="900">
                <a:ln>
                  <a:solidFill>
                    <a:schemeClr val="tx1">
                      <a:lumMod val="65000"/>
                      <a:lumOff val="35000"/>
                      <a:alpha val="30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의 </a:t>
            </a:r>
            <a:r>
              <a:rPr lang="en-US" altLang="ko-KR" sz="900">
                <a:ln>
                  <a:solidFill>
                    <a:schemeClr val="tx1">
                      <a:lumMod val="65000"/>
                      <a:lumOff val="35000"/>
                      <a:alpha val="30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gait cycle 8%</a:t>
            </a:r>
          </a:p>
        </p:txBody>
      </p:sp>
    </p:spTree>
    <p:extLst>
      <p:ext uri="{BB962C8B-B14F-4D97-AF65-F5344CB8AC3E}">
        <p14:creationId xmlns:p14="http://schemas.microsoft.com/office/powerpoint/2010/main" val="31789537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</TotalTime>
  <Words>150</Words>
  <Application>Microsoft Office PowerPoint</Application>
  <PresentationFormat>와이드스크린</PresentationFormat>
  <Paragraphs>52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Arial</vt:lpstr>
      <vt:lpstr>맑은 고딕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양가영</dc:creator>
  <cp:lastModifiedBy>양가영</cp:lastModifiedBy>
  <cp:revision>6</cp:revision>
  <dcterms:created xsi:type="dcterms:W3CDTF">2024-04-17T04:33:06Z</dcterms:created>
  <dcterms:modified xsi:type="dcterms:W3CDTF">2024-04-17T07:40:27Z</dcterms:modified>
</cp:coreProperties>
</file>