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94" r:id="rId2"/>
    <p:sldId id="263" r:id="rId3"/>
    <p:sldId id="259" r:id="rId4"/>
    <p:sldId id="288" r:id="rId5"/>
    <p:sldId id="289" r:id="rId6"/>
    <p:sldId id="280" r:id="rId7"/>
    <p:sldId id="281" r:id="rId8"/>
    <p:sldId id="290" r:id="rId9"/>
    <p:sldId id="291" r:id="rId10"/>
    <p:sldId id="283" r:id="rId11"/>
    <p:sldId id="286" r:id="rId12"/>
    <p:sldId id="285" r:id="rId13"/>
    <p:sldId id="287" r:id="rId14"/>
    <p:sldId id="293" r:id="rId15"/>
    <p:sldId id="276" r:id="rId16"/>
    <p:sldId id="292" r:id="rId17"/>
    <p:sldId id="278" r:id="rId18"/>
  </p:sldIdLst>
  <p:sldSz cx="12192000" cy="6858000"/>
  <p:notesSz cx="6858000" cy="9144000"/>
  <p:embeddedFontLst>
    <p:embeddedFont>
      <p:font typeface="Cambria Math" panose="02040503050406030204" pitchFamily="18" charset="0"/>
      <p:regular r:id="rId20"/>
    </p:embeddedFont>
    <p:embeddedFont>
      <p:font typeface="Roboto" panose="02000000000000000000" pitchFamily="2" charset="0"/>
      <p:regular r:id="rId21"/>
    </p:embeddedFont>
    <p:embeddedFont>
      <p:font typeface="Tahoma" panose="020B0604030504040204" pitchFamily="34" charset="0"/>
      <p:regular r:id="rId22"/>
      <p:bold r:id="rId23"/>
    </p:embeddedFont>
    <p:embeddedFont>
      <p:font typeface="맑은 고딕" panose="020B0503020000020004" pitchFamily="50" charset="-127"/>
      <p:regular r:id="rId24"/>
      <p:bold r:id="rId2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2D7B"/>
    <a:srgbClr val="32518D"/>
    <a:srgbClr val="E1E2E2"/>
    <a:srgbClr val="F9F9F9"/>
    <a:srgbClr val="065F09"/>
    <a:srgbClr val="FBEBEB"/>
    <a:srgbClr val="B4D9D3"/>
    <a:srgbClr val="EBF1F9"/>
    <a:srgbClr val="DEEEEB"/>
    <a:srgbClr val="FA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87" autoAdjust="0"/>
    <p:restoredTop sz="90909" autoAdjust="0"/>
  </p:normalViewPr>
  <p:slideViewPr>
    <p:cSldViewPr snapToGrid="0">
      <p:cViewPr varScale="1">
        <p:scale>
          <a:sx n="100" d="100"/>
          <a:sy n="100" d="100"/>
        </p:scale>
        <p:origin x="46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슬라이드 노트 개체 틀 14">
            <a:extLst>
              <a:ext uri="{FF2B5EF4-FFF2-40B4-BE49-F238E27FC236}">
                <a16:creationId xmlns:a16="http://schemas.microsoft.com/office/drawing/2014/main" id="{C0132356-8D74-8554-A985-51DCE51E1B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6" name="슬라이드 이미지 개체 틀 15">
            <a:extLst>
              <a:ext uri="{FF2B5EF4-FFF2-40B4-BE49-F238E27FC236}">
                <a16:creationId xmlns:a16="http://schemas.microsoft.com/office/drawing/2014/main" id="{89241381-4230-E289-5980-6D895B1C04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621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lnSpc>
        <a:spcPct val="150000"/>
      </a:lnSpc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lnSpc>
        <a:spcPct val="150000"/>
      </a:lnSpc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lnSpc>
        <a:spcPct val="150000"/>
      </a:lnSpc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lnSpc>
        <a:spcPct val="150000"/>
      </a:lnSpc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lnSpc>
        <a:spcPct val="150000"/>
      </a:lnSpc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0523E-F0C1-D3D2-F506-151E4EE3E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CB1173-2C93-D949-ADE3-A81BBF20B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BC3A76-B961-4B20-A5C4-856D1608E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/>
          <a:lstStyle/>
          <a:p>
            <a:pPr latinLnBrk="1">
              <a:spcAft>
                <a:spcPts val="800"/>
              </a:spcAft>
            </a:pPr>
            <a:endParaRPr lang="ko-KR" altLang="ko-KR" sz="1800" kern="10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35C1F6-7D37-C531-7AEE-65783A5A68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12A0C11-97F6-40C0-A616-245429031A9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196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Here</a:t>
            </a:r>
            <a:r>
              <a:rPr lang="en-US" altLang="ko-KR" baseline="0" dirty="0"/>
              <a:t> is the content of this presentation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12A0C11-97F6-40C0-A616-245429031A9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489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/>
          <a:lstStyle/>
          <a:p>
            <a:pPr algn="l"/>
            <a:endParaRPr lang="ko-KR" altLang="ko-KR" sz="1600" kern="1200" dirty="0">
              <a:solidFill>
                <a:srgbClr val="000000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12A0C11-97F6-40C0-A616-245429031A9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129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/>
          <a:lstStyle/>
          <a:p>
            <a:pPr algn="l"/>
            <a:endParaRPr lang="ko-KR" altLang="ko-KR" sz="1600" kern="1200" dirty="0">
              <a:solidFill>
                <a:srgbClr val="000000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12A0C11-97F6-40C0-A616-245429031A9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930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/>
          <a:lstStyle/>
          <a:p>
            <a:pPr algn="l"/>
            <a:endParaRPr lang="ko-KR" altLang="ko-KR" sz="1600" kern="1200" dirty="0">
              <a:solidFill>
                <a:srgbClr val="000000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12A0C11-97F6-40C0-A616-245429031A9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4158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/>
          <a:lstStyle/>
          <a:p>
            <a:pPr marL="0" algn="l" defTabSz="914400" rtl="0" eaLnBrk="1" hangingPunct="1">
              <a:lnSpc>
                <a:spcPct val="150000"/>
              </a:lnSpc>
            </a:pPr>
            <a:endParaRPr lang="ko-KR" altLang="en-US" sz="1300" kern="1200" dirty="0">
              <a:solidFill>
                <a:srgbClr val="000000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12A0C11-97F6-40C0-A616-245429031A9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11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/>
          <a:lstStyle/>
          <a:p>
            <a:pPr marL="0" algn="l" defTabSz="914400" rtl="0" eaLnBrk="1" hangingPunct="1">
              <a:lnSpc>
                <a:spcPct val="150000"/>
              </a:lnSpc>
            </a:pPr>
            <a:endParaRPr lang="ko-KR" altLang="en-US" sz="1300" kern="1200" dirty="0">
              <a:solidFill>
                <a:srgbClr val="000000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12A0C11-97F6-40C0-A616-245429031A9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314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/>
          <a:lstStyle/>
          <a:p>
            <a:pPr marL="0" algn="l" defTabSz="914400" rtl="0" eaLnBrk="1" hangingPunct="1">
              <a:lnSpc>
                <a:spcPct val="150000"/>
              </a:lnSpc>
            </a:pPr>
            <a:endParaRPr lang="ko-KR" altLang="en-US" sz="1300" kern="1200" dirty="0">
              <a:solidFill>
                <a:srgbClr val="000000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12A0C11-97F6-40C0-A616-245429031A9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6903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/>
          <a:lstStyle/>
          <a:p>
            <a:pPr marL="0" algn="l" defTabSz="914400" rtl="0" eaLnBrk="1" hangingPunct="1">
              <a:lnSpc>
                <a:spcPct val="150000"/>
              </a:lnSpc>
            </a:pPr>
            <a:endParaRPr lang="ko-KR" altLang="en-US" sz="1300" kern="1200" dirty="0">
              <a:solidFill>
                <a:srgbClr val="000000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12A0C11-97F6-40C0-A616-245429031A9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2820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/>
          <a:lstStyle/>
          <a:p>
            <a:pPr marL="0" algn="l" defTabSz="914400" rtl="0" eaLnBrk="1" hangingPunct="1">
              <a:lnSpc>
                <a:spcPct val="150000"/>
              </a:lnSpc>
            </a:pPr>
            <a:endParaRPr lang="ko-KR" altLang="en-US" sz="1300" kern="1200" dirty="0">
              <a:solidFill>
                <a:srgbClr val="000000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12A0C11-97F6-40C0-A616-245429031A9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2448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/>
          <a:lstStyle/>
          <a:p>
            <a:pPr marL="0" algn="l" defTabSz="914400" rtl="0" eaLnBrk="1" hangingPunct="1">
              <a:lnSpc>
                <a:spcPct val="150000"/>
              </a:lnSpc>
            </a:pPr>
            <a:endParaRPr lang="ko-KR" altLang="en-US" sz="1300" kern="1200" dirty="0">
              <a:solidFill>
                <a:srgbClr val="000000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12A0C11-97F6-40C0-A616-245429031A9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1769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/>
          <a:lstStyle/>
          <a:p>
            <a:pPr marL="0" algn="l" defTabSz="914400" rtl="0" eaLnBrk="1" hangingPunct="1">
              <a:lnSpc>
                <a:spcPct val="150000"/>
              </a:lnSpc>
            </a:pPr>
            <a:endParaRPr lang="ko-KR" altLang="en-US" sz="1300" kern="1200" dirty="0">
              <a:solidFill>
                <a:srgbClr val="000000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12A0C11-97F6-40C0-A616-245429031A9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4509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/>
          <a:lstStyle/>
          <a:p>
            <a:pPr marL="0" algn="l" defTabSz="914400" rtl="0" eaLnBrk="1" hangingPunct="1">
              <a:lnSpc>
                <a:spcPct val="150000"/>
              </a:lnSpc>
            </a:pPr>
            <a:endParaRPr lang="ko-KR" altLang="en-US" sz="1300" kern="1200" dirty="0">
              <a:solidFill>
                <a:srgbClr val="000000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12A0C11-97F6-40C0-A616-245429031A9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9193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C0112-D286-57A3-A203-834BE714F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5E7427-53FD-D0B8-553F-324621AD0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4786DF-B01C-6DA3-27B0-92143CDE3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/>
          <a:lstStyle/>
          <a:p>
            <a:pPr marL="0" algn="l" defTabSz="914400" rtl="0" eaLnBrk="1" hangingPunct="1">
              <a:lnSpc>
                <a:spcPct val="150000"/>
              </a:lnSpc>
            </a:pPr>
            <a:endParaRPr lang="ko-KR" altLang="en-US" sz="1300" kern="1200" dirty="0">
              <a:solidFill>
                <a:srgbClr val="000000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D38639-0555-73A2-9E29-A2B60BBD6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12A0C11-97F6-40C0-A616-245429031A9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0591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/>
          <a:lstStyle/>
          <a:p>
            <a:pPr marL="0" algn="l" defTabSz="914400" rtl="0" eaLnBrk="1" hangingPunct="1">
              <a:lnSpc>
                <a:spcPct val="150000"/>
              </a:lnSpc>
            </a:pPr>
            <a:endParaRPr lang="ko-KR" altLang="en-US" sz="1300" kern="1200" dirty="0">
              <a:solidFill>
                <a:srgbClr val="000000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12A0C11-97F6-40C0-A616-245429031A9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814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64D0F-4665-F5F2-5722-1A196BD03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1B248F-2BD6-CA8D-9E61-C0B76D5E3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5ED59E-389C-DDDE-2605-696CB8155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/>
          <a:lstStyle/>
          <a:p>
            <a:pPr marL="0" algn="l" defTabSz="914400" rtl="0" eaLnBrk="1" hangingPunct="1">
              <a:lnSpc>
                <a:spcPct val="150000"/>
              </a:lnSpc>
            </a:pPr>
            <a:endParaRPr lang="ko-KR" altLang="en-US" sz="1300" kern="1200" dirty="0">
              <a:solidFill>
                <a:srgbClr val="000000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4E36F5-CFB0-47C6-AE79-023D83742C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12A0C11-97F6-40C0-A616-245429031A9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1474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/>
          <a:lstStyle/>
          <a:p>
            <a:pPr marL="0" algn="l" defTabSz="914400" rtl="0" eaLnBrk="1" hangingPunct="1">
              <a:lnSpc>
                <a:spcPct val="150000"/>
              </a:lnSpc>
            </a:pPr>
            <a:r>
              <a:rPr lang="en-US" altLang="ko-KR" sz="2400"/>
              <a:t>Thank you for your attention, and I welcome any questions or discussions on our research.</a:t>
            </a:r>
          </a:p>
          <a:p>
            <a:pPr marL="0" algn="l" defTabSz="914400" rtl="0" eaLnBrk="1" hangingPunct="1">
              <a:lnSpc>
                <a:spcPct val="150000"/>
              </a:lnSpc>
            </a:pPr>
            <a:r>
              <a:rPr lang="ko-KR" altLang="en-US" sz="1300" kern="1200" baseline="0">
                <a:solidFill>
                  <a:srgbClr val="000000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질문 </a:t>
            </a:r>
            <a:r>
              <a:rPr lang="ko-KR" altLang="en-US" sz="1300" kern="1200" baseline="0" dirty="0">
                <a:solidFill>
                  <a:srgbClr val="000000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답변이 어려운 경우</a:t>
            </a:r>
            <a:r>
              <a:rPr lang="en-US" altLang="ko-KR" sz="1300" kern="1200" baseline="0" dirty="0">
                <a:solidFill>
                  <a:srgbClr val="000000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: I don’t have information about this yet</a:t>
            </a:r>
            <a:endParaRPr lang="ko-KR" altLang="en-US" sz="1300" kern="1200" dirty="0">
              <a:solidFill>
                <a:srgbClr val="000000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12A0C11-97F6-40C0-A616-245429031A9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901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4C4C8D-5E69-4E3B-9113-6CCCF865D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AD2A63-DB26-4E21-A28E-486496EF2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F2516B-CACF-4B16-8DE0-EF4479896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CF7289-8825-45AB-AB03-DEBE7783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C13490-E9C5-46F1-9316-FD2D3E453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563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A4478A-95A5-44C0-9065-4A4555278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BCCCAB-EDCB-4DEB-8829-65D9D366F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11A8F7-361C-4141-9B2E-FC592F157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46F61F-BADB-4AC2-8B69-437A3B17D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0BD9C5-B34E-4AAB-8377-AF8DFB118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086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20DAF6-D7E6-4D33-B850-54F99D208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A4B3E0-73A4-4A72-BA7A-63DEFF29A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59446C-9096-480E-AB5F-B96C77FF2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623449-00CF-4EFE-8DCE-37CA27A6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C9618E-8D1C-42CF-A630-00AF7699B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991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37B99E-884D-475E-B612-E0506AE15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A59753-2F58-4F95-964D-797A923809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F57A64-1427-4BFC-BFB0-C15D5F690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F5A9D4-9FB9-4B13-A7E9-CF947D246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248376-A751-44FC-9DF4-10710443B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F4295E-4655-4EA8-8395-FEB42761C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034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339BF5-FDEA-4F3B-BD8D-3ACD536B9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68631A-0721-4C53-8306-6649F7943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94FC7E-4BF1-4157-933A-AC7864790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851BD7-8624-4B07-A746-164951CCBC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3C870E3-4F26-4A86-93E5-B0B53A8B67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6A0566-382B-4256-8073-BA71C3069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A8F21B-DAF2-4455-B077-061F299C6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8D1B069-427B-4549-8046-6E907EA0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128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A824B5-BF38-49E7-B4FF-F614759E5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E2D06F4-ED54-4D62-A213-DC7BE2D6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AA152F9-C161-47C4-B2C6-F45666EB0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32A262-DB12-4D55-9651-26E00565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090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D220AA4-0515-47B5-8077-040C9C139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6AC7298-5E99-4554-A889-022EB51E7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114EAB-A7BC-42C0-9739-D44863A50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2132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945DA9-2CB4-496A-9C7C-E08DCF8B5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30DB97-54C0-468E-805F-B4AB2C1FB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948D323-88DB-4800-9486-11F228661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96FF92-27E8-46E9-9DC2-23FD53E58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28E2E8-C57B-4E85-A7D5-653B9119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53D3EA-58F0-4E84-AFFA-F3D993BF6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238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7B7DD-1A64-41A8-9025-8BC029D6B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54B8945-21AB-4BE7-BBAE-66923121C0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17F580-B158-47C1-992D-3DF0D009FE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6E3F2C-31F0-46B5-A453-0A5D98574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0FF5DD-34B8-44CD-88BD-FE01351A9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EC2BD0-03BB-4721-988B-B156B7556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131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309A20-9934-42AD-BD8B-6C219EB41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0AB2CD-1CBC-4B7B-835F-D7EC3D84C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50B5D7-B382-43E5-A750-46DFB0F18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89757E-E44A-4C7F-BFDD-2925ECF95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34BC8C-2F2E-4F37-8E54-476B86228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748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1A6C105-AB24-4FE2-ADBB-D3A0B5611F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62700E-8EBB-4872-A2AF-2D460EBDD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DE8D5E-9F7C-417F-83E0-31F3EA888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D74D0-C08C-4FA0-B1AC-58A8B9A14615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DB5587-AAC5-4CCF-8A7A-196E85B8A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BDC317-A57D-4627-85A2-5D676C769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992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6796DA4-1717-4E96-9362-C688A577E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6BE35E-AF86-4E40-9259-E56A78E0E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99C7FE-85A4-4306-9DA9-E775126747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D74D0-C08C-4FA0-B1AC-58A8B9A14615}" type="datetimeFigureOut">
              <a:rPr lang="ko-KR" altLang="en-US" smtClean="0"/>
              <a:t>2024-12-05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1C45BA-E608-4D32-9D6B-72C445ECF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1BE4C1-E047-4523-A66F-F5BB510734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1E1EF-90A0-4171-8CF9-B3BC5042A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28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6.jp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2.sv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actuators@mdpi.com" TargetMode="External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74268-9734-F54B-C310-562C8D297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59F145D-D3F3-F849-066B-E7EA416196C1}"/>
              </a:ext>
            </a:extLst>
          </p:cNvPr>
          <p:cNvSpPr/>
          <p:nvPr/>
        </p:nvSpPr>
        <p:spPr>
          <a:xfrm>
            <a:off x="0" y="-1323"/>
            <a:ext cx="12192000" cy="3820848"/>
          </a:xfrm>
          <a:prstGeom prst="rect">
            <a:avLst/>
          </a:prstGeom>
          <a:solidFill>
            <a:srgbClr val="332D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4D4E80-2A07-9C96-0D8A-E428CBC2F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8775" y="6002222"/>
            <a:ext cx="1857375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15F441-2DE6-A7F8-9CA6-343591520E15}"/>
              </a:ext>
            </a:extLst>
          </p:cNvPr>
          <p:cNvSpPr txBox="1"/>
          <p:nvPr/>
        </p:nvSpPr>
        <p:spPr>
          <a:xfrm>
            <a:off x="4349275" y="3974325"/>
            <a:ext cx="7386221" cy="1657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b="1" err="1">
                <a:ln>
                  <a:solidFill>
                    <a:srgbClr val="332D7B">
                      <a:alpha val="30000"/>
                    </a:srgbClr>
                  </a:solidFill>
                </a:ln>
                <a:solidFill>
                  <a:srgbClr val="332D7B"/>
                </a:solidFill>
                <a:latin typeface="Roboto" panose="02000000000000000000" pitchFamily="2" charset="0"/>
                <a:ea typeface="Roboto" panose="02000000000000000000" pitchFamily="2" charset="0"/>
                <a:cs typeface="Tahoma" panose="020B0604030504040204" pitchFamily="34" charset="0"/>
              </a:rPr>
              <a:t>Gayoung</a:t>
            </a:r>
            <a:r>
              <a:rPr lang="en-US" altLang="ko-KR" b="1">
                <a:ln>
                  <a:solidFill>
                    <a:srgbClr val="332D7B">
                      <a:alpha val="30000"/>
                    </a:srgbClr>
                  </a:solidFill>
                </a:ln>
                <a:solidFill>
                  <a:srgbClr val="332D7B"/>
                </a:solidFill>
                <a:latin typeface="Roboto" panose="02000000000000000000" pitchFamily="2" charset="0"/>
                <a:ea typeface="Roboto" panose="02000000000000000000" pitchFamily="2" charset="0"/>
                <a:cs typeface="Tahoma" panose="020B0604030504040204" pitchFamily="34" charset="0"/>
              </a:rPr>
              <a:t> Yang</a:t>
            </a:r>
            <a:endParaRPr lang="en-US" altLang="ko-KR" b="1" dirty="0">
              <a:ln>
                <a:solidFill>
                  <a:srgbClr val="332D7B">
                    <a:alpha val="30000"/>
                  </a:srgbClr>
                </a:solidFill>
              </a:ln>
              <a:solidFill>
                <a:srgbClr val="332D7B"/>
              </a:solidFill>
              <a:latin typeface="Roboto" panose="02000000000000000000" pitchFamily="2" charset="0"/>
              <a:ea typeface="Roboto" panose="02000000000000000000" pitchFamily="2" charset="0"/>
              <a:cs typeface="Tahoma" panose="020B0604030504040204" pitchFamily="34" charset="0"/>
            </a:endParaRPr>
          </a:p>
          <a:p>
            <a:pPr algn="r">
              <a:lnSpc>
                <a:spcPct val="150000"/>
              </a:lnSpc>
            </a:pPr>
            <a:r>
              <a:rPr lang="en-US" altLang="ko-KR" sz="1200" dirty="0">
                <a:ln>
                  <a:solidFill>
                    <a:srgbClr val="332D7B">
                      <a:alpha val="30000"/>
                    </a:srgbClr>
                  </a:solidFill>
                </a:ln>
                <a:solidFill>
                  <a:srgbClr val="332D7B"/>
                </a:solidFill>
                <a:latin typeface="Roboto" panose="02000000000000000000" pitchFamily="2" charset="0"/>
                <a:ea typeface="Roboto" panose="02000000000000000000" pitchFamily="2" charset="0"/>
                <a:cs typeface="Tahoma" panose="020B0604030504040204" pitchFamily="34" charset="0"/>
              </a:rPr>
              <a:t>Intelligence Robotics Lab</a:t>
            </a:r>
          </a:p>
          <a:p>
            <a:pPr algn="r">
              <a:lnSpc>
                <a:spcPct val="150000"/>
              </a:lnSpc>
            </a:pPr>
            <a:r>
              <a:rPr lang="en-US" altLang="ko-KR" sz="1200" dirty="0">
                <a:ln>
                  <a:solidFill>
                    <a:srgbClr val="332D7B">
                      <a:alpha val="30000"/>
                    </a:srgbClr>
                  </a:solidFill>
                </a:ln>
                <a:solidFill>
                  <a:srgbClr val="332D7B"/>
                </a:solidFill>
                <a:latin typeface="Roboto" panose="02000000000000000000" pitchFamily="2" charset="0"/>
                <a:ea typeface="Roboto" panose="02000000000000000000" pitchFamily="2" charset="0"/>
                <a:cs typeface="Tahoma" panose="020B0604030504040204" pitchFamily="34" charset="0"/>
              </a:rPr>
              <a:t>School of Intelligent Mechatronics Engineering</a:t>
            </a:r>
          </a:p>
          <a:p>
            <a:pPr algn="r">
              <a:lnSpc>
                <a:spcPct val="150000"/>
              </a:lnSpc>
            </a:pPr>
            <a:r>
              <a:rPr lang="en-US" altLang="ko-KR" sz="1200" dirty="0">
                <a:ln>
                  <a:solidFill>
                    <a:srgbClr val="332D7B">
                      <a:alpha val="30000"/>
                    </a:srgbClr>
                  </a:solidFill>
                </a:ln>
                <a:solidFill>
                  <a:srgbClr val="332D7B"/>
                </a:solidFill>
                <a:latin typeface="Roboto" panose="02000000000000000000" pitchFamily="2" charset="0"/>
                <a:ea typeface="Roboto" panose="02000000000000000000" pitchFamily="2" charset="0"/>
                <a:cs typeface="Tahoma" panose="020B0604030504040204" pitchFamily="34" charset="0"/>
              </a:rPr>
              <a:t>Sejong University</a:t>
            </a:r>
          </a:p>
          <a:p>
            <a:pPr algn="r">
              <a:lnSpc>
                <a:spcPct val="150000"/>
              </a:lnSpc>
            </a:pPr>
            <a:endParaRPr lang="en-US" altLang="ko-KR" sz="1400" dirty="0">
              <a:ln>
                <a:solidFill>
                  <a:srgbClr val="332D7B">
                    <a:alpha val="30000"/>
                  </a:srgbClr>
                </a:solidFill>
              </a:ln>
              <a:solidFill>
                <a:srgbClr val="332D7B"/>
              </a:solidFill>
              <a:latin typeface="Roboto" panose="02000000000000000000" pitchFamily="2" charset="0"/>
              <a:ea typeface="Roboto" panose="02000000000000000000" pitchFamily="2" charset="0"/>
              <a:cs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D1AFE2-9DB5-EB25-A1F6-3AB27645CED2}"/>
              </a:ext>
            </a:extLst>
          </p:cNvPr>
          <p:cNvSpPr txBox="1"/>
          <p:nvPr/>
        </p:nvSpPr>
        <p:spPr>
          <a:xfrm>
            <a:off x="120706" y="89565"/>
            <a:ext cx="15366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ahoma" panose="020B0604030504040204" pitchFamily="34" charset="0"/>
              </a:rPr>
              <a:t>2024.12.11</a:t>
            </a:r>
            <a:endParaRPr lang="en-US" altLang="ko-KR" sz="1200" dirty="0">
              <a:ln>
                <a:solidFill>
                  <a:schemeClr val="bg1">
                    <a:alpha val="10000"/>
                  </a:schemeClr>
                </a:solidFill>
              </a:ln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Tahoma" panose="020B0604030504040204" pitchFamily="34" charset="0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DF43B4D-5635-E47C-CE9E-27D948108F22}"/>
              </a:ext>
            </a:extLst>
          </p:cNvPr>
          <p:cNvGrpSpPr/>
          <p:nvPr/>
        </p:nvGrpSpPr>
        <p:grpSpPr>
          <a:xfrm>
            <a:off x="6168028" y="6002222"/>
            <a:ext cx="1979965" cy="586598"/>
            <a:chOff x="5667685" y="6153183"/>
            <a:chExt cx="1831470" cy="491936"/>
          </a:xfrm>
        </p:grpSpPr>
        <p:pic>
          <p:nvPicPr>
            <p:cNvPr id="18" name="그림 17" descr="그래픽, 그래픽 디자인, 클립아트, 디자인이(가) 표시된 사진&#10;&#10;자동 생성된 설명">
              <a:extLst>
                <a:ext uri="{FF2B5EF4-FFF2-40B4-BE49-F238E27FC236}">
                  <a16:creationId xmlns:a16="http://schemas.microsoft.com/office/drawing/2014/main" id="{76D3036C-7BC1-460A-7389-E4843ECCFE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67685" y="6153183"/>
              <a:ext cx="330993" cy="413237"/>
            </a:xfrm>
            <a:prstGeom prst="rect">
              <a:avLst/>
            </a:prstGeom>
          </p:spPr>
        </p:pic>
        <p:pic>
          <p:nvPicPr>
            <p:cNvPr id="20" name="그림 19" descr="폰트, 그래픽, 텍스트, 그래픽 디자인이(가) 표시된 사진&#10;&#10;자동 생성된 설명">
              <a:extLst>
                <a:ext uri="{FF2B5EF4-FFF2-40B4-BE49-F238E27FC236}">
                  <a16:creationId xmlns:a16="http://schemas.microsoft.com/office/drawing/2014/main" id="{94B8D4C5-1E7D-BA91-3F74-F6DD372A14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458"/>
            <a:stretch/>
          </p:blipFill>
          <p:spPr>
            <a:xfrm>
              <a:off x="5997164" y="6153183"/>
              <a:ext cx="1501991" cy="491936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5F2B4C9-3AF4-2190-93C9-461342555ADE}"/>
              </a:ext>
            </a:extLst>
          </p:cNvPr>
          <p:cNvSpPr txBox="1"/>
          <p:nvPr/>
        </p:nvSpPr>
        <p:spPr>
          <a:xfrm>
            <a:off x="708053" y="1605312"/>
            <a:ext cx="107758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>
                <a:ln>
                  <a:solidFill>
                    <a:schemeClr val="tx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ahoma" panose="020B0604030504040204" pitchFamily="34" charset="0"/>
              </a:rPr>
              <a:t>Vision-based Intelligent Gait Environment Detection System for Soft Ankle Exoskeleton</a:t>
            </a:r>
            <a:endParaRPr lang="ko-KR" altLang="en-US" sz="3600" b="1" dirty="0">
              <a:ln>
                <a:solidFill>
                  <a:schemeClr val="tx1">
                    <a:alpha val="30000"/>
                  </a:schemeClr>
                </a:solidFill>
              </a:ln>
              <a:solidFill>
                <a:schemeClr val="bg1"/>
              </a:solidFill>
              <a:latin typeface="Roboto" panose="02000000000000000000" pitchFamily="2" charset="0"/>
              <a:cs typeface="Tahom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E9495B-868A-7B55-6B67-731C6AB7A574}"/>
              </a:ext>
            </a:extLst>
          </p:cNvPr>
          <p:cNvSpPr txBox="1"/>
          <p:nvPr/>
        </p:nvSpPr>
        <p:spPr>
          <a:xfrm>
            <a:off x="708053" y="1260716"/>
            <a:ext cx="7386221" cy="379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ahoma" panose="020B0604030504040204" pitchFamily="34" charset="0"/>
              </a:rPr>
              <a:t>Master Degree Thesis</a:t>
            </a:r>
            <a:endParaRPr lang="en-US" altLang="ko-KR" sz="1200" dirty="0">
              <a:ln>
                <a:solidFill>
                  <a:schemeClr val="bg1">
                    <a:alpha val="30000"/>
                  </a:schemeClr>
                </a:solidFill>
              </a:ln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613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C4A9BBCB-9B18-B6B5-8EC7-87DB146E3080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A5F2B7ED-1FDA-E798-34DC-5C8E250E067B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이등변 삼각형 6">
              <a:extLst>
                <a:ext uri="{FF2B5EF4-FFF2-40B4-BE49-F238E27FC236}">
                  <a16:creationId xmlns:a16="http://schemas.microsoft.com/office/drawing/2014/main" id="{96582BAB-1632-4FA1-262A-765D03543F3C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37F359D-2F40-D5C2-DF36-A192C68BBD12}"/>
              </a:ext>
            </a:extLst>
          </p:cNvPr>
          <p:cNvSpPr txBox="1"/>
          <p:nvPr/>
        </p:nvSpPr>
        <p:spPr>
          <a:xfrm>
            <a:off x="419100" y="54766"/>
            <a:ext cx="2612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Roboto" panose="02000000000000000000" pitchFamily="2" charset="0"/>
                <a:ea typeface="Roboto" panose="02000000000000000000" pitchFamily="2" charset="0"/>
                <a:cs typeface="Tahoma" panose="020B0604030504040204" pitchFamily="34" charset="0"/>
              </a:rPr>
              <a:t>Index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853D8FC-77CB-1B3B-66DD-0BB94208B789}"/>
              </a:ext>
            </a:extLst>
          </p:cNvPr>
          <p:cNvGrpSpPr/>
          <p:nvPr/>
        </p:nvGrpSpPr>
        <p:grpSpPr>
          <a:xfrm>
            <a:off x="742950" y="742967"/>
            <a:ext cx="5988132" cy="5706974"/>
            <a:chOff x="758658" y="771542"/>
            <a:chExt cx="5988132" cy="5706974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E5BF889-9510-9E8B-A0F3-A062937B5231}"/>
                </a:ext>
              </a:extLst>
            </p:cNvPr>
            <p:cNvSpPr txBox="1"/>
            <p:nvPr/>
          </p:nvSpPr>
          <p:spPr>
            <a:xfrm>
              <a:off x="758658" y="771542"/>
              <a:ext cx="5412507" cy="498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000" b="1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Roboto" panose="02000000000000000000" pitchFamily="2" charset="0"/>
                  <a:ea typeface="Roboto" panose="02000000000000000000" pitchFamily="2" charset="0"/>
                  <a:cs typeface="Tahoma" panose="020B0604030504040204" pitchFamily="34" charset="0"/>
                </a:rPr>
                <a:t>I. Introduction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EA07E62-0070-902B-FAD7-89006C4EBB00}"/>
                </a:ext>
              </a:extLst>
            </p:cNvPr>
            <p:cNvSpPr txBox="1"/>
            <p:nvPr/>
          </p:nvSpPr>
          <p:spPr>
            <a:xfrm>
              <a:off x="758658" y="4081079"/>
              <a:ext cx="5988132" cy="498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000" b="1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Roboto" panose="02000000000000000000" pitchFamily="2" charset="0"/>
                  <a:ea typeface="Roboto" panose="02000000000000000000" pitchFamily="2" charset="0"/>
                  <a:cs typeface="Tahoma" panose="020B0604030504040204" pitchFamily="34" charset="0"/>
                </a:rPr>
                <a:t>IV. Experiments</a:t>
              </a:r>
              <a:endPara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Roboto" panose="02000000000000000000" pitchFamily="2" charset="0"/>
                <a:ea typeface="Roboto" panose="02000000000000000000" pitchFamily="2" charset="0"/>
                <a:cs typeface="Tahoma" panose="020B060403050404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CEC4E90-B773-28BA-D541-8C6E811CECE5}"/>
                </a:ext>
              </a:extLst>
            </p:cNvPr>
            <p:cNvSpPr txBox="1"/>
            <p:nvPr/>
          </p:nvSpPr>
          <p:spPr>
            <a:xfrm>
              <a:off x="758658" y="5979853"/>
              <a:ext cx="4488872" cy="498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000" b="1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Roboto" panose="02000000000000000000" pitchFamily="2" charset="0"/>
                  <a:ea typeface="Roboto" panose="02000000000000000000" pitchFamily="2" charset="0"/>
                  <a:cs typeface="Tahoma" panose="020B0604030504040204" pitchFamily="34" charset="0"/>
                </a:rPr>
                <a:t>VI. </a:t>
              </a:r>
              <a:r>
                <a:rPr lang="en-US" altLang="ko-KR" sz="2000" b="1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Roboto" panose="02000000000000000000" pitchFamily="2" charset="0"/>
                  <a:ea typeface="Roboto" panose="02000000000000000000" pitchFamily="2" charset="0"/>
                  <a:cs typeface="Tahoma" panose="020B0604030504040204" pitchFamily="34" charset="0"/>
                </a:rPr>
                <a:t>Conclusion</a:t>
              </a:r>
              <a:endParaRPr lang="en-US" altLang="ko-KR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Roboto" panose="02000000000000000000" pitchFamily="2" charset="0"/>
                <a:ea typeface="Roboto" panose="02000000000000000000" pitchFamily="2" charset="0"/>
                <a:cs typeface="Tahoma" panose="020B0604030504040204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AEF2018-0E02-51A0-B01C-C5F4C6AAE8AE}"/>
                </a:ext>
              </a:extLst>
            </p:cNvPr>
            <p:cNvSpPr txBox="1"/>
            <p:nvPr/>
          </p:nvSpPr>
          <p:spPr>
            <a:xfrm>
              <a:off x="758658" y="1416456"/>
              <a:ext cx="5541818" cy="12484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000" b="1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Roboto" panose="02000000000000000000" pitchFamily="2" charset="0"/>
                  <a:ea typeface="Roboto" panose="02000000000000000000" pitchFamily="2" charset="0"/>
                  <a:cs typeface="Tahoma" panose="020B0604030504040204" pitchFamily="34" charset="0"/>
                </a:rPr>
                <a:t>II</a:t>
              </a:r>
              <a:r>
                <a:rPr lang="en-US" altLang="ko-KR" sz="2000" b="1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Roboto" panose="02000000000000000000" pitchFamily="2" charset="0"/>
                  <a:ea typeface="Roboto" panose="02000000000000000000" pitchFamily="2" charset="0"/>
                  <a:cs typeface="Tahoma" panose="020B0604030504040204" pitchFamily="34" charset="0"/>
                </a:rPr>
                <a:t>. Soft Exosuit</a:t>
              </a:r>
              <a:endPara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Roboto" panose="02000000000000000000" pitchFamily="2" charset="0"/>
                <a:ea typeface="Roboto" panose="02000000000000000000" pitchFamily="2" charset="0"/>
                <a:cs typeface="Tahoma" panose="020B060403050404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6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Roboto" panose="02000000000000000000" pitchFamily="2" charset="0"/>
                  <a:cs typeface="Tahoma" panose="020B0604030504040204" pitchFamily="34" charset="0"/>
                </a:rPr>
                <a:t>　</a:t>
              </a:r>
              <a:r>
                <a:rPr lang="en-US" altLang="ko-KR" sz="16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Roboto" panose="02000000000000000000" pitchFamily="2" charset="0"/>
                  <a:ea typeface="Roboto" panose="02000000000000000000" pitchFamily="2" charset="0"/>
                  <a:cs typeface="Tahoma" panose="020B0604030504040204" pitchFamily="34" charset="0"/>
                </a:rPr>
                <a:t> 1. Soft Exosuit Prototype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6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Roboto" panose="02000000000000000000" pitchFamily="2" charset="0"/>
                  <a:ea typeface="Roboto" panose="02000000000000000000" pitchFamily="2" charset="0"/>
                  <a:cs typeface="Tahoma" panose="020B0604030504040204" pitchFamily="34" charset="0"/>
                </a:rPr>
                <a:t>     2. Control Strategy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8653913-595D-E4B4-2FF5-E551721A69CE}"/>
                </a:ext>
              </a:extLst>
            </p:cNvPr>
            <p:cNvSpPr txBox="1"/>
            <p:nvPr/>
          </p:nvSpPr>
          <p:spPr>
            <a:xfrm>
              <a:off x="758658" y="4653985"/>
              <a:ext cx="5719518" cy="12516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000" b="1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Roboto" panose="02000000000000000000" pitchFamily="2" charset="0"/>
                  <a:ea typeface="Roboto" panose="02000000000000000000" pitchFamily="2" charset="0"/>
                  <a:cs typeface="Tahoma" panose="020B0604030504040204" pitchFamily="34" charset="0"/>
                </a:rPr>
                <a:t>V. Results</a:t>
              </a:r>
              <a:endParaRPr lang="en-US" altLang="ko-KR" sz="2000" b="1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Roboto" panose="02000000000000000000" pitchFamily="2" charset="0"/>
                <a:ea typeface="Roboto" panose="02000000000000000000" pitchFamily="2" charset="0"/>
                <a:cs typeface="Tahoma" panose="020B060403050404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6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Roboto" panose="02000000000000000000" pitchFamily="2" charset="0"/>
                  <a:cs typeface="Tahoma" panose="020B0604030504040204" pitchFamily="34" charset="0"/>
                </a:rPr>
                <a:t>　</a:t>
              </a:r>
              <a:r>
                <a:rPr lang="en-US" altLang="ko-KR" sz="16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Roboto" panose="02000000000000000000" pitchFamily="2" charset="0"/>
                  <a:ea typeface="Roboto" panose="02000000000000000000" pitchFamily="2" charset="0"/>
                  <a:cs typeface="Tahoma" panose="020B0604030504040204" pitchFamily="34" charset="0"/>
                </a:rPr>
                <a:t> 1. YOLO-LSTM based approach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6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Roboto" panose="02000000000000000000" pitchFamily="2" charset="0"/>
                  <a:ea typeface="Roboto" panose="02000000000000000000" pitchFamily="2" charset="0"/>
                  <a:cs typeface="Tahoma" panose="020B0604030504040204" pitchFamily="34" charset="0"/>
                </a:rPr>
                <a:t>     2. EfficientNet-HED based approach</a:t>
              </a:r>
              <a:endParaRPr lang="en-US" altLang="ko-KR" sz="16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Roboto" panose="02000000000000000000" pitchFamily="2" charset="0"/>
                <a:ea typeface="Roboto" panose="02000000000000000000" pitchFamily="2" charset="0"/>
                <a:cs typeface="Tahoma" panose="020B060403050404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35D8B35-C2B6-669C-78A9-7E7D23F354DE}"/>
                </a:ext>
              </a:extLst>
            </p:cNvPr>
            <p:cNvSpPr txBox="1"/>
            <p:nvPr/>
          </p:nvSpPr>
          <p:spPr>
            <a:xfrm>
              <a:off x="758658" y="2695067"/>
              <a:ext cx="5988132" cy="12516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000" b="1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Roboto" panose="02000000000000000000" pitchFamily="2" charset="0"/>
                  <a:ea typeface="Roboto" panose="02000000000000000000" pitchFamily="2" charset="0"/>
                  <a:cs typeface="Tahoma" panose="020B0604030504040204" pitchFamily="34" charset="0"/>
                </a:rPr>
                <a:t>III</a:t>
              </a:r>
              <a:r>
                <a:rPr lang="en-US" altLang="ko-KR" sz="2000" b="1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Roboto" panose="02000000000000000000" pitchFamily="2" charset="0"/>
                  <a:ea typeface="Roboto" panose="02000000000000000000" pitchFamily="2" charset="0"/>
                  <a:cs typeface="Tahoma" panose="020B0604030504040204" pitchFamily="34" charset="0"/>
                </a:rPr>
                <a:t>. Environment Recognition System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6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Roboto" panose="02000000000000000000" pitchFamily="2" charset="0"/>
                  <a:cs typeface="Tahoma" panose="020B0604030504040204" pitchFamily="34" charset="0"/>
                </a:rPr>
                <a:t>　</a:t>
              </a:r>
              <a:r>
                <a:rPr lang="en-US" altLang="ko-KR" sz="16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Roboto" panose="02000000000000000000" pitchFamily="2" charset="0"/>
                  <a:ea typeface="Roboto" panose="02000000000000000000" pitchFamily="2" charset="0"/>
                  <a:cs typeface="Tahoma" panose="020B0604030504040204" pitchFamily="34" charset="0"/>
                </a:rPr>
                <a:t> 1. YOLO-LSTM based approach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6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Roboto" panose="02000000000000000000" pitchFamily="2" charset="0"/>
                  <a:ea typeface="Roboto" panose="02000000000000000000" pitchFamily="2" charset="0"/>
                  <a:cs typeface="Tahoma" panose="020B0604030504040204" pitchFamily="34" charset="0"/>
                </a:rPr>
                <a:t>     2. EfficientNet-HED based approach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4890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100" y="58144"/>
            <a:ext cx="2612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I. Introduction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868BA0D4-7B85-453D-4D2E-00E1F838DD37}"/>
              </a:ext>
            </a:extLst>
          </p:cNvPr>
          <p:cNvSpPr/>
          <p:nvPr/>
        </p:nvSpPr>
        <p:spPr>
          <a:xfrm>
            <a:off x="926718" y="1582251"/>
            <a:ext cx="7650161" cy="7807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functional impairments &amp; gait disturbances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en-US" altLang="ko-KR" sz="1600">
                <a:ln>
                  <a:solidFill>
                    <a:srgbClr val="2F518D">
                      <a:alpha val="30000"/>
                    </a:srgbClr>
                  </a:solidFill>
                </a:ln>
                <a:solidFill>
                  <a:srgbClr val="2F518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foot drop </a:t>
            </a: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altLang="ko-KR" sz="1600" u="sng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reduction in foot clearance</a:t>
            </a: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(swing phase of gait cycle)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8040A77-8C65-F402-2A2A-3EB9F85C46DD}"/>
              </a:ext>
            </a:extLst>
          </p:cNvPr>
          <p:cNvSpPr/>
          <p:nvPr/>
        </p:nvSpPr>
        <p:spPr>
          <a:xfrm>
            <a:off x="7206018" y="4583785"/>
            <a:ext cx="4420309" cy="411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assist gait for stair environment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D46319-0A01-B5A9-C3C7-22B0641C78D4}"/>
              </a:ext>
            </a:extLst>
          </p:cNvPr>
          <p:cNvSpPr txBox="1"/>
          <p:nvPr/>
        </p:nvSpPr>
        <p:spPr>
          <a:xfrm>
            <a:off x="7364493" y="4003818"/>
            <a:ext cx="4103360" cy="4912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Lower Limb Exoskeleton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4" name="그림 13" descr="블랙, 어둠이(가) 표시된 사진&#10;&#10;자동 생성된 설명">
            <a:extLst>
              <a:ext uri="{FF2B5EF4-FFF2-40B4-BE49-F238E27FC236}">
                <a16:creationId xmlns:a16="http://schemas.microsoft.com/office/drawing/2014/main" id="{41165886-F785-4D2A-F5D8-FA63BEF53EF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518268" y="4801681"/>
            <a:ext cx="374365" cy="374365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822902CE-AE87-5838-FFAB-98B9982F06D5}"/>
              </a:ext>
            </a:extLst>
          </p:cNvPr>
          <p:cNvGrpSpPr/>
          <p:nvPr/>
        </p:nvGrpSpPr>
        <p:grpSpPr>
          <a:xfrm>
            <a:off x="710984" y="942570"/>
            <a:ext cx="2817099" cy="514263"/>
            <a:chOff x="749301" y="942569"/>
            <a:chExt cx="2404181" cy="514263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E414EC18-233A-6928-F451-DB5375D8DD21}"/>
                </a:ext>
              </a:extLst>
            </p:cNvPr>
            <p:cNvSpPr/>
            <p:nvPr/>
          </p:nvSpPr>
          <p:spPr>
            <a:xfrm>
              <a:off x="749301" y="1002283"/>
              <a:ext cx="1975579" cy="454549"/>
            </a:xfrm>
            <a:prstGeom prst="roundRect">
              <a:avLst>
                <a:gd name="adj" fmla="val 50000"/>
              </a:avLst>
            </a:prstGeom>
            <a:solidFill>
              <a:srgbClr val="32518D"/>
            </a:solidFill>
            <a:ln>
              <a:solidFill>
                <a:srgbClr val="32518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2E38107-E593-C867-91D8-389F15BB69A1}"/>
                </a:ext>
              </a:extLst>
            </p:cNvPr>
            <p:cNvSpPr txBox="1"/>
            <p:nvPr/>
          </p:nvSpPr>
          <p:spPr>
            <a:xfrm>
              <a:off x="959727" y="942569"/>
              <a:ext cx="2193755" cy="491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000">
                  <a:ln>
                    <a:solidFill>
                      <a:schemeClr val="bg1">
                        <a:alpha val="30000"/>
                      </a:schemeClr>
                    </a:solidFill>
                  </a:ln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Stroke Patients</a:t>
              </a:r>
              <a:endParaRPr lang="en-US" altLang="ko-KR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8" name="그림 7" descr="블랙, 어둠이(가) 표시된 사진&#10;&#10;자동 생성된 설명">
            <a:extLst>
              <a:ext uri="{FF2B5EF4-FFF2-40B4-BE49-F238E27FC236}">
                <a16:creationId xmlns:a16="http://schemas.microsoft.com/office/drawing/2014/main" id="{B13E6D53-428B-E672-18FA-1C197EE424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095" y="2621381"/>
            <a:ext cx="765057" cy="76505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5B88496-D3A6-7355-7F07-42861B8B2DE3}"/>
              </a:ext>
            </a:extLst>
          </p:cNvPr>
          <p:cNvSpPr/>
          <p:nvPr/>
        </p:nvSpPr>
        <p:spPr>
          <a:xfrm>
            <a:off x="1002671" y="3901130"/>
            <a:ext cx="5889962" cy="10179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en-US" altLang="ko-KR" sz="1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common activity 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en-US" altLang="ko-KR" sz="1400" u="sng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challenging task</a:t>
            </a:r>
            <a:r>
              <a:rPr lang="en-US" altLang="ko-KR" sz="1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joint range, muscular moment ↑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en-US" altLang="ko-KR" sz="1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ascent: </a:t>
            </a:r>
            <a:r>
              <a:rPr lang="en-US" altLang="ko-KR" sz="1400" u="sng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insufficient clearance</a:t>
            </a:r>
            <a:r>
              <a:rPr lang="en-US" altLang="ko-KR" sz="1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between foot &amp; stair nosing</a:t>
            </a:r>
            <a:endParaRPr lang="en-US" altLang="ko-KR" sz="1400" dirty="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DBEDCEAD-AEB5-3377-CD04-737231AE847D}"/>
              </a:ext>
            </a:extLst>
          </p:cNvPr>
          <p:cNvGrpSpPr/>
          <p:nvPr/>
        </p:nvGrpSpPr>
        <p:grpSpPr>
          <a:xfrm>
            <a:off x="1971278" y="5014895"/>
            <a:ext cx="1671306" cy="1201268"/>
            <a:chOff x="1312280" y="5033674"/>
            <a:chExt cx="1671306" cy="1201268"/>
          </a:xfrm>
        </p:grpSpPr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BF5252A6-B421-617A-E53D-C778AFA53CEF}"/>
                </a:ext>
              </a:extLst>
            </p:cNvPr>
            <p:cNvGrpSpPr/>
            <p:nvPr/>
          </p:nvGrpSpPr>
          <p:grpSpPr>
            <a:xfrm>
              <a:off x="1537278" y="5033674"/>
              <a:ext cx="1310747" cy="1201268"/>
              <a:chOff x="1584903" y="5057112"/>
              <a:chExt cx="1310747" cy="1201268"/>
            </a:xfrm>
          </p:grpSpPr>
          <p:pic>
            <p:nvPicPr>
              <p:cNvPr id="10" name="그림 9" descr="블랙, 어둠이(가) 표시된 사진&#10;&#10;자동 생성된 설명">
                <a:extLst>
                  <a:ext uri="{FF2B5EF4-FFF2-40B4-BE49-F238E27FC236}">
                    <a16:creationId xmlns:a16="http://schemas.microsoft.com/office/drawing/2014/main" id="{0049407A-E8F4-C0D7-F35E-3E84EF46D0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9691766">
                <a:off x="1584903" y="5057112"/>
                <a:ext cx="700003" cy="691214"/>
              </a:xfrm>
              <a:prstGeom prst="rect">
                <a:avLst/>
              </a:prstGeom>
            </p:spPr>
          </p:pic>
          <p:grpSp>
            <p:nvGrpSpPr>
              <p:cNvPr id="43" name="그룹 42">
                <a:extLst>
                  <a:ext uri="{FF2B5EF4-FFF2-40B4-BE49-F238E27FC236}">
                    <a16:creationId xmlns:a16="http://schemas.microsoft.com/office/drawing/2014/main" id="{CB0562A7-EEE3-64F2-DB21-8AF58E61D6BE}"/>
                  </a:ext>
                </a:extLst>
              </p:cNvPr>
              <p:cNvGrpSpPr/>
              <p:nvPr/>
            </p:nvGrpSpPr>
            <p:grpSpPr>
              <a:xfrm>
                <a:off x="1735099" y="5620411"/>
                <a:ext cx="1160551" cy="637969"/>
                <a:chOff x="2230399" y="5620411"/>
                <a:chExt cx="1160551" cy="637969"/>
              </a:xfrm>
            </p:grpSpPr>
            <p:grpSp>
              <p:nvGrpSpPr>
                <p:cNvPr id="41" name="그룹 40">
                  <a:extLst>
                    <a:ext uri="{FF2B5EF4-FFF2-40B4-BE49-F238E27FC236}">
                      <a16:creationId xmlns:a16="http://schemas.microsoft.com/office/drawing/2014/main" id="{2A201B91-69CD-6C39-7F7F-42DE2B844D58}"/>
                    </a:ext>
                  </a:extLst>
                </p:cNvPr>
                <p:cNvGrpSpPr/>
                <p:nvPr/>
              </p:nvGrpSpPr>
              <p:grpSpPr>
                <a:xfrm>
                  <a:off x="2630014" y="5620411"/>
                  <a:ext cx="760936" cy="637969"/>
                  <a:chOff x="3144748" y="5855716"/>
                  <a:chExt cx="504562" cy="487934"/>
                </a:xfrm>
              </p:grpSpPr>
              <p:grpSp>
                <p:nvGrpSpPr>
                  <p:cNvPr id="29" name="그룹 28">
                    <a:extLst>
                      <a:ext uri="{FF2B5EF4-FFF2-40B4-BE49-F238E27FC236}">
                        <a16:creationId xmlns:a16="http://schemas.microsoft.com/office/drawing/2014/main" id="{7E1EF1F9-9359-EF28-0865-CD46C0F3AF99}"/>
                      </a:ext>
                    </a:extLst>
                  </p:cNvPr>
                  <p:cNvGrpSpPr/>
                  <p:nvPr/>
                </p:nvGrpSpPr>
                <p:grpSpPr>
                  <a:xfrm>
                    <a:off x="3144748" y="6081399"/>
                    <a:ext cx="264977" cy="262251"/>
                    <a:chOff x="3250882" y="5629275"/>
                    <a:chExt cx="264977" cy="262251"/>
                  </a:xfrm>
                </p:grpSpPr>
                <p:cxnSp>
                  <p:nvCxnSpPr>
                    <p:cNvPr id="17" name="직선 연결선 16">
                      <a:extLst>
                        <a:ext uri="{FF2B5EF4-FFF2-40B4-BE49-F238E27FC236}">
                          <a16:creationId xmlns:a16="http://schemas.microsoft.com/office/drawing/2014/main" id="{026DA83E-EA1D-4F54-1502-ADC9D2421A4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3250882" y="5629275"/>
                      <a:ext cx="3221" cy="262251"/>
                    </a:xfrm>
                    <a:prstGeom prst="line">
                      <a:avLst/>
                    </a:prstGeom>
                    <a:ln w="2857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" name="직선 연결선 17">
                      <a:extLst>
                        <a:ext uri="{FF2B5EF4-FFF2-40B4-BE49-F238E27FC236}">
                          <a16:creationId xmlns:a16="http://schemas.microsoft.com/office/drawing/2014/main" id="{334D42BB-0F72-41E1-A928-F006202455C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250882" y="5633724"/>
                      <a:ext cx="264977" cy="0"/>
                    </a:xfrm>
                    <a:prstGeom prst="line">
                      <a:avLst/>
                    </a:prstGeom>
                    <a:ln w="2857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0" name="그룹 29">
                    <a:extLst>
                      <a:ext uri="{FF2B5EF4-FFF2-40B4-BE49-F238E27FC236}">
                        <a16:creationId xmlns:a16="http://schemas.microsoft.com/office/drawing/2014/main" id="{01A6366B-AC4A-724B-FB42-7C815BB400CA}"/>
                      </a:ext>
                    </a:extLst>
                  </p:cNvPr>
                  <p:cNvGrpSpPr/>
                  <p:nvPr/>
                </p:nvGrpSpPr>
                <p:grpSpPr>
                  <a:xfrm>
                    <a:off x="3384333" y="5855716"/>
                    <a:ext cx="264977" cy="242449"/>
                    <a:chOff x="3250882" y="5629275"/>
                    <a:chExt cx="264977" cy="242449"/>
                  </a:xfrm>
                </p:grpSpPr>
                <p:cxnSp>
                  <p:nvCxnSpPr>
                    <p:cNvPr id="31" name="직선 연결선 30">
                      <a:extLst>
                        <a:ext uri="{FF2B5EF4-FFF2-40B4-BE49-F238E27FC236}">
                          <a16:creationId xmlns:a16="http://schemas.microsoft.com/office/drawing/2014/main" id="{14774129-CBF2-728E-894B-5AD9C376EC6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254103" y="5629275"/>
                      <a:ext cx="3222" cy="242449"/>
                    </a:xfrm>
                    <a:prstGeom prst="line">
                      <a:avLst/>
                    </a:prstGeom>
                    <a:ln w="2857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" name="직선 연결선 31">
                      <a:extLst>
                        <a:ext uri="{FF2B5EF4-FFF2-40B4-BE49-F238E27FC236}">
                          <a16:creationId xmlns:a16="http://schemas.microsoft.com/office/drawing/2014/main" id="{A6D2181B-00C4-1C4C-0393-D5A1E951BB6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250882" y="5633724"/>
                      <a:ext cx="264977" cy="0"/>
                    </a:xfrm>
                    <a:prstGeom prst="line">
                      <a:avLst/>
                    </a:prstGeom>
                    <a:ln w="2857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290A7635-A4EC-364C-F9C7-AE6ED6E209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30399" y="6258380"/>
                  <a:ext cx="399615" cy="0"/>
                </a:xfrm>
                <a:prstGeom prst="line">
                  <a:avLst/>
                </a:prstGeom>
                <a:ln w="2857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45" name="그림 44" descr="블랙, 어둠이(가) 표시된 사진&#10;&#10;자동 생성된 설명">
                <a:extLst>
                  <a:ext uri="{FF2B5EF4-FFF2-40B4-BE49-F238E27FC236}">
                    <a16:creationId xmlns:a16="http://schemas.microsoft.com/office/drawing/2014/main" id="{D9410127-6B40-3C95-686E-6DA9F3B8CB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400000">
                <a:off x="2025955" y="5613516"/>
                <a:ext cx="270640" cy="294951"/>
              </a:xfrm>
              <a:prstGeom prst="rect">
                <a:avLst/>
              </a:prstGeom>
            </p:spPr>
          </p:pic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7244B0E-4E60-5755-7982-13C8D8861ECD}"/>
                </a:ext>
              </a:extLst>
            </p:cNvPr>
            <p:cNvSpPr txBox="1"/>
            <p:nvPr/>
          </p:nvSpPr>
          <p:spPr>
            <a:xfrm>
              <a:off x="2087089" y="5872874"/>
              <a:ext cx="89649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nosing</a:t>
              </a:r>
              <a:endParaRPr lang="ko-KR" altLang="en-US" sz="110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ADD7835-05AC-5933-974F-9BDABE1408B0}"/>
                </a:ext>
              </a:extLst>
            </p:cNvPr>
            <p:cNvSpPr txBox="1"/>
            <p:nvPr/>
          </p:nvSpPr>
          <p:spPr>
            <a:xfrm>
              <a:off x="1312280" y="5647368"/>
              <a:ext cx="89649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clearance</a:t>
              </a:r>
              <a:endParaRPr lang="ko-KR" altLang="en-US" sz="110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97D2DCB1-BBE4-29D9-FB5C-783B17C2E32B}"/>
              </a:ext>
            </a:extLst>
          </p:cNvPr>
          <p:cNvSpPr/>
          <p:nvPr/>
        </p:nvSpPr>
        <p:spPr>
          <a:xfrm>
            <a:off x="876053" y="3699789"/>
            <a:ext cx="5418471" cy="2681961"/>
          </a:xfrm>
          <a:prstGeom prst="roundRect">
            <a:avLst>
              <a:gd name="adj" fmla="val 860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7550636-EE74-7FD5-02FC-10838E87993A}"/>
              </a:ext>
            </a:extLst>
          </p:cNvPr>
          <p:cNvSpPr/>
          <p:nvPr/>
        </p:nvSpPr>
        <p:spPr>
          <a:xfrm>
            <a:off x="2419526" y="3379899"/>
            <a:ext cx="2380498" cy="45140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stair ambulation</a:t>
            </a:r>
            <a:endParaRPr lang="en-US" altLang="ko-KR" dirty="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98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100" y="58144"/>
            <a:ext cx="2612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altLang="ko-KR" sz="2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altLang="ko-KR" sz="2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868BA0D4-7B85-453D-4D2E-00E1F838DD37}"/>
              </a:ext>
            </a:extLst>
          </p:cNvPr>
          <p:cNvSpPr/>
          <p:nvPr/>
        </p:nvSpPr>
        <p:spPr>
          <a:xfrm>
            <a:off x="1227714" y="1631747"/>
            <a:ext cx="5932048" cy="451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inertial measurement unit (IMU) &amp; insole sensor</a:t>
            </a:r>
            <a:endParaRPr lang="en-US" altLang="ko-KR" sz="2000" dirty="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107ED9-2CFB-8B9E-0A7D-48F9B92994AA}"/>
              </a:ext>
            </a:extLst>
          </p:cNvPr>
          <p:cNvSpPr/>
          <p:nvPr/>
        </p:nvSpPr>
        <p:spPr>
          <a:xfrm>
            <a:off x="1701312" y="2082032"/>
            <a:ext cx="5356443" cy="7807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provide current state of gait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Limitation: </a:t>
            </a:r>
            <a:r>
              <a:rPr lang="en-US" altLang="ko-KR" sz="1600" u="sng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Lack of prior environmental information </a:t>
            </a:r>
            <a:endParaRPr lang="en-US" altLang="ko-KR" u="sng" dirty="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2C88456-CFAB-B502-BF3D-72FFB90545BF}"/>
              </a:ext>
            </a:extLst>
          </p:cNvPr>
          <p:cNvSpPr/>
          <p:nvPr/>
        </p:nvSpPr>
        <p:spPr>
          <a:xfrm>
            <a:off x="1227714" y="3179668"/>
            <a:ext cx="5932048" cy="451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vision – based perception</a:t>
            </a:r>
            <a:endParaRPr lang="en-US" altLang="ko-KR" sz="2000" dirty="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2E07168-730A-7A1D-750E-B7B9A7B80F52}"/>
              </a:ext>
            </a:extLst>
          </p:cNvPr>
          <p:cNvSpPr/>
          <p:nvPr/>
        </p:nvSpPr>
        <p:spPr>
          <a:xfrm>
            <a:off x="2472837" y="5376383"/>
            <a:ext cx="3398971" cy="694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 recognition of step location</a:t>
            </a:r>
          </a:p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continuous monitoring stage</a:t>
            </a:r>
            <a:endParaRPr lang="en-US" altLang="ko-KR" sz="120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0" name="그림 39" descr="원, 그래픽, 다채로움, 디자인이(가) 표시된 사진&#10;&#10;자동 생성된 설명">
            <a:extLst>
              <a:ext uri="{FF2B5EF4-FFF2-40B4-BE49-F238E27FC236}">
                <a16:creationId xmlns:a16="http://schemas.microsoft.com/office/drawing/2014/main" id="{8A8FB5E1-1478-3030-78B1-2C6FFE6226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522" y="3828433"/>
            <a:ext cx="806606" cy="806606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A9317B94-013A-9537-5B48-9ED660EB9E8A}"/>
              </a:ext>
            </a:extLst>
          </p:cNvPr>
          <p:cNvSpPr txBox="1"/>
          <p:nvPr/>
        </p:nvSpPr>
        <p:spPr>
          <a:xfrm>
            <a:off x="3306171" y="4649207"/>
            <a:ext cx="20831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>
                <a:ln>
                  <a:solidFill>
                    <a:srgbClr val="3086A9">
                      <a:alpha val="30000"/>
                    </a:srgbClr>
                  </a:solidFill>
                </a:ln>
                <a:solidFill>
                  <a:srgbClr val="3086A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human</a:t>
            </a:r>
          </a:p>
          <a:p>
            <a:pPr algn="ctr"/>
            <a:r>
              <a:rPr lang="en-US" altLang="ko-KR">
                <a:ln>
                  <a:solidFill>
                    <a:srgbClr val="3086A9">
                      <a:alpha val="30000"/>
                    </a:srgbClr>
                  </a:solidFill>
                </a:ln>
                <a:solidFill>
                  <a:srgbClr val="3086A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peripheral vision</a:t>
            </a:r>
            <a:endParaRPr lang="ko-KR" altLang="en-US" sz="2000">
              <a:ln>
                <a:solidFill>
                  <a:srgbClr val="3086A9">
                    <a:alpha val="30000"/>
                  </a:srgbClr>
                </a:solidFill>
              </a:ln>
              <a:solidFill>
                <a:srgbClr val="3086A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1821505A-8E41-FE6B-0A51-E78FBB5EAE9C}"/>
              </a:ext>
            </a:extLst>
          </p:cNvPr>
          <p:cNvGrpSpPr/>
          <p:nvPr/>
        </p:nvGrpSpPr>
        <p:grpSpPr>
          <a:xfrm>
            <a:off x="7633896" y="3963101"/>
            <a:ext cx="1800227" cy="1343876"/>
            <a:chOff x="4718990" y="3986274"/>
            <a:chExt cx="1800227" cy="1343876"/>
          </a:xfrm>
        </p:grpSpPr>
        <p:pic>
          <p:nvPicPr>
            <p:cNvPr id="38" name="그림 37" descr="그래픽, 폰트, 스크린샷, 로고이(가) 표시된 사진&#10;&#10;자동 생성된 설명">
              <a:extLst>
                <a:ext uri="{FF2B5EF4-FFF2-40B4-BE49-F238E27FC236}">
                  <a16:creationId xmlns:a16="http://schemas.microsoft.com/office/drawing/2014/main" id="{63B30E8D-0703-F7BE-677E-74F68BC02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5801" y="3986274"/>
              <a:ext cx="806606" cy="806606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B72C85E-FE65-D344-5962-BE756F4AC69D}"/>
                </a:ext>
              </a:extLst>
            </p:cNvPr>
            <p:cNvSpPr txBox="1"/>
            <p:nvPr/>
          </p:nvSpPr>
          <p:spPr>
            <a:xfrm>
              <a:off x="4718990" y="4683819"/>
              <a:ext cx="180022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>
                  <a:ln>
                    <a:solidFill>
                      <a:srgbClr val="2F518D">
                        <a:alpha val="30000"/>
                      </a:srgbClr>
                    </a:solidFill>
                  </a:ln>
                  <a:solidFill>
                    <a:srgbClr val="2F518D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vision system for exoskeleton</a:t>
              </a:r>
              <a:endParaRPr lang="ko-KR" altLang="en-US">
                <a:ln>
                  <a:solidFill>
                    <a:srgbClr val="2F518D">
                      <a:alpha val="30000"/>
                    </a:srgbClr>
                  </a:solidFill>
                </a:ln>
                <a:solidFill>
                  <a:srgbClr val="2F518D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2E4CFA8-FE3D-733E-6A3A-2D33B1CB4C81}"/>
              </a:ext>
            </a:extLst>
          </p:cNvPr>
          <p:cNvSpPr/>
          <p:nvPr/>
        </p:nvSpPr>
        <p:spPr>
          <a:xfrm>
            <a:off x="6429764" y="5376383"/>
            <a:ext cx="3905991" cy="6947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awareness of surrounding environment</a:t>
            </a:r>
          </a:p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locomotion guidance</a:t>
            </a:r>
          </a:p>
        </p:txBody>
      </p:sp>
      <p:pic>
        <p:nvPicPr>
          <p:cNvPr id="61" name="그림 60" descr="블랙, 어둠이(가) 표시된 사진&#10;&#10;자동 생성된 설명">
            <a:extLst>
              <a:ext uri="{FF2B5EF4-FFF2-40B4-BE49-F238E27FC236}">
                <a16:creationId xmlns:a16="http://schemas.microsoft.com/office/drawing/2014/main" id="{568CFE58-F7BF-7EBF-9E7E-BCEE393768C8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129391" y="4281722"/>
            <a:ext cx="374365" cy="374365"/>
          </a:xfrm>
          <a:prstGeom prst="rect">
            <a:avLst/>
          </a:prstGeom>
        </p:spPr>
      </p:pic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AB31A9F6-1446-E153-A5DC-2BA57764C876}"/>
              </a:ext>
            </a:extLst>
          </p:cNvPr>
          <p:cNvSpPr/>
          <p:nvPr/>
        </p:nvSpPr>
        <p:spPr>
          <a:xfrm>
            <a:off x="935754" y="1737463"/>
            <a:ext cx="72000" cy="2088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8D970830-EC5C-1CCC-7F01-76AC21C14758}"/>
              </a:ext>
            </a:extLst>
          </p:cNvPr>
          <p:cNvSpPr/>
          <p:nvPr/>
        </p:nvSpPr>
        <p:spPr>
          <a:xfrm>
            <a:off x="867978" y="1845676"/>
            <a:ext cx="216000" cy="216000"/>
          </a:xfrm>
          <a:prstGeom prst="ellipse">
            <a:avLst/>
          </a:prstGeom>
          <a:solidFill>
            <a:srgbClr val="2F518D"/>
          </a:solidFill>
          <a:ln>
            <a:solidFill>
              <a:srgbClr val="2F518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C53E295D-9D7B-9433-1467-564FC7095EE1}"/>
              </a:ext>
            </a:extLst>
          </p:cNvPr>
          <p:cNvSpPr/>
          <p:nvPr/>
        </p:nvSpPr>
        <p:spPr>
          <a:xfrm>
            <a:off x="867978" y="3428999"/>
            <a:ext cx="216000" cy="216000"/>
          </a:xfrm>
          <a:prstGeom prst="ellipse">
            <a:avLst/>
          </a:prstGeom>
          <a:solidFill>
            <a:srgbClr val="3086A9"/>
          </a:solidFill>
          <a:ln>
            <a:solidFill>
              <a:srgbClr val="3086A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solidFill>
                <a:srgbClr val="3086A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1086664F-5AA9-28D2-61CE-BBA9D8A76A55}"/>
              </a:ext>
            </a:extLst>
          </p:cNvPr>
          <p:cNvGrpSpPr/>
          <p:nvPr/>
        </p:nvGrpSpPr>
        <p:grpSpPr>
          <a:xfrm>
            <a:off x="710983" y="942570"/>
            <a:ext cx="2051266" cy="514263"/>
            <a:chOff x="749300" y="942569"/>
            <a:chExt cx="1750601" cy="514263"/>
          </a:xfrm>
        </p:grpSpPr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C34FEC81-5CE2-DB90-4595-9B5D92D26BE2}"/>
                </a:ext>
              </a:extLst>
            </p:cNvPr>
            <p:cNvSpPr/>
            <p:nvPr/>
          </p:nvSpPr>
          <p:spPr>
            <a:xfrm>
              <a:off x="749300" y="1002283"/>
              <a:ext cx="1750600" cy="454549"/>
            </a:xfrm>
            <a:prstGeom prst="roundRect">
              <a:avLst>
                <a:gd name="adj" fmla="val 50000"/>
              </a:avLst>
            </a:prstGeom>
            <a:solidFill>
              <a:srgbClr val="32518D"/>
            </a:solidFill>
            <a:ln>
              <a:solidFill>
                <a:srgbClr val="32518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63BB95D-757D-AB25-2D78-61B0C90E1263}"/>
                </a:ext>
              </a:extLst>
            </p:cNvPr>
            <p:cNvSpPr txBox="1"/>
            <p:nvPr/>
          </p:nvSpPr>
          <p:spPr>
            <a:xfrm>
              <a:off x="959727" y="942569"/>
              <a:ext cx="1540174" cy="491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2000">
                  <a:ln>
                    <a:solidFill>
                      <a:schemeClr val="bg1">
                        <a:alpha val="30000"/>
                      </a:schemeClr>
                    </a:solidFill>
                  </a:ln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Exoskeleton</a:t>
              </a:r>
              <a:endParaRPr lang="en-US" altLang="ko-KR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2686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양쪽 대괄호 11">
            <a:extLst>
              <a:ext uri="{FF2B5EF4-FFF2-40B4-BE49-F238E27FC236}">
                <a16:creationId xmlns:a16="http://schemas.microsoft.com/office/drawing/2014/main" id="{BA3D1337-4E4A-4412-B5AE-77C3B9B525E7}"/>
              </a:ext>
            </a:extLst>
          </p:cNvPr>
          <p:cNvSpPr/>
          <p:nvPr/>
        </p:nvSpPr>
        <p:spPr>
          <a:xfrm>
            <a:off x="900265" y="4112982"/>
            <a:ext cx="9908569" cy="1579131"/>
          </a:xfrm>
          <a:prstGeom prst="bracketPair">
            <a:avLst>
              <a:gd name="adj" fmla="val 10527"/>
            </a:avLst>
          </a:prstGeom>
          <a:solidFill>
            <a:srgbClr val="F5F5F5"/>
          </a:solidFill>
          <a:ln w="28575">
            <a:solidFill>
              <a:srgbClr val="AEAE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100" y="58144"/>
            <a:ext cx="2612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altLang="ko-KR" sz="2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altLang="ko-KR" sz="24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868BA0D4-7B85-453D-4D2E-00E1F838DD37}"/>
              </a:ext>
            </a:extLst>
          </p:cNvPr>
          <p:cNvSpPr/>
          <p:nvPr/>
        </p:nvSpPr>
        <p:spPr>
          <a:xfrm>
            <a:off x="7131121" y="1297678"/>
            <a:ext cx="4459664" cy="451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>
                <a:ln>
                  <a:solidFill>
                    <a:srgbClr val="278895">
                      <a:alpha val="30000"/>
                    </a:srgbClr>
                  </a:solidFill>
                </a:ln>
                <a:solidFill>
                  <a:srgbClr val="27889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Deep learning-based methodologies</a:t>
            </a:r>
            <a:endParaRPr lang="en-US" altLang="ko-KR" dirty="0">
              <a:ln>
                <a:solidFill>
                  <a:srgbClr val="278895">
                    <a:alpha val="30000"/>
                  </a:srgbClr>
                </a:solidFill>
              </a:ln>
              <a:solidFill>
                <a:srgbClr val="27889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22902CE-AE87-5838-FFAB-98B9982F06D5}"/>
              </a:ext>
            </a:extLst>
          </p:cNvPr>
          <p:cNvGrpSpPr/>
          <p:nvPr/>
        </p:nvGrpSpPr>
        <p:grpSpPr>
          <a:xfrm>
            <a:off x="1265106" y="3671111"/>
            <a:ext cx="9342732" cy="484140"/>
            <a:chOff x="749300" y="972692"/>
            <a:chExt cx="6846969" cy="48414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E414EC18-233A-6928-F451-DB5375D8DD21}"/>
                </a:ext>
              </a:extLst>
            </p:cNvPr>
            <p:cNvSpPr/>
            <p:nvPr/>
          </p:nvSpPr>
          <p:spPr>
            <a:xfrm>
              <a:off x="749300" y="1002283"/>
              <a:ext cx="6650148" cy="45454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4000">
                  <a:srgbClr val="2C6890"/>
                </a:gs>
                <a:gs pos="0">
                  <a:srgbClr val="2F518D"/>
                </a:gs>
                <a:gs pos="100000">
                  <a:srgbClr val="278895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2E38107-E593-C867-91D8-389F15BB69A1}"/>
                </a:ext>
              </a:extLst>
            </p:cNvPr>
            <p:cNvSpPr txBox="1"/>
            <p:nvPr/>
          </p:nvSpPr>
          <p:spPr>
            <a:xfrm>
              <a:off x="1086623" y="972692"/>
              <a:ext cx="6509646" cy="4514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>
                  <a:ln>
                    <a:solidFill>
                      <a:schemeClr val="bg1">
                        <a:alpha val="30000"/>
                      </a:schemeClr>
                    </a:solidFill>
                  </a:ln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Vision-based Intelligent gait environment detection algorithm for ankle exosuit</a:t>
              </a:r>
              <a:endParaRPr lang="en-US" altLang="ko-KR" sz="1600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107ED9-2CFB-8B9E-0A7D-48F9B92994AA}"/>
              </a:ext>
            </a:extLst>
          </p:cNvPr>
          <p:cNvSpPr/>
          <p:nvPr/>
        </p:nvSpPr>
        <p:spPr>
          <a:xfrm>
            <a:off x="7809552" y="1691992"/>
            <a:ext cx="2534305" cy="411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influence robotics field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2C88456-CFAB-B502-BF3D-72FFB90545BF}"/>
              </a:ext>
            </a:extLst>
          </p:cNvPr>
          <p:cNvSpPr/>
          <p:nvPr/>
        </p:nvSpPr>
        <p:spPr>
          <a:xfrm>
            <a:off x="1265106" y="1283682"/>
            <a:ext cx="4979006" cy="451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>
                <a:ln>
                  <a:solidFill>
                    <a:srgbClr val="2F518D">
                      <a:alpha val="30000"/>
                    </a:srgbClr>
                  </a:solidFill>
                </a:ln>
                <a:solidFill>
                  <a:srgbClr val="2F518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environment classification + exoskeleton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3D7A03-C6AC-8BCE-BBBA-EECA23FC4059}"/>
              </a:ext>
            </a:extLst>
          </p:cNvPr>
          <p:cNvSpPr/>
          <p:nvPr/>
        </p:nvSpPr>
        <p:spPr>
          <a:xfrm>
            <a:off x="1636979" y="1715525"/>
            <a:ext cx="3501386" cy="1064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[challenge] </a:t>
            </a:r>
          </a:p>
          <a:p>
            <a:pPr algn="ctr">
              <a:lnSpc>
                <a:spcPct val="150000"/>
              </a:lnSpc>
            </a:pPr>
            <a:r>
              <a:rPr lang="en-US" altLang="ko-KR" sz="1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transition phase accuracy</a:t>
            </a:r>
          </a:p>
          <a:p>
            <a:pPr algn="ctr">
              <a:lnSpc>
                <a:spcPct val="150000"/>
              </a:lnSpc>
            </a:pPr>
            <a:r>
              <a:rPr lang="en-US" altLang="ko-KR" sz="1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stroke patient consideration</a:t>
            </a:r>
          </a:p>
        </p:txBody>
      </p:sp>
      <p:sp>
        <p:nvSpPr>
          <p:cNvPr id="8" name="오른쪽 중괄호 7">
            <a:extLst>
              <a:ext uri="{FF2B5EF4-FFF2-40B4-BE49-F238E27FC236}">
                <a16:creationId xmlns:a16="http://schemas.microsoft.com/office/drawing/2014/main" id="{AF804935-2FE9-A45C-3FD3-A1689A02C2FF}"/>
              </a:ext>
            </a:extLst>
          </p:cNvPr>
          <p:cNvSpPr/>
          <p:nvPr/>
        </p:nvSpPr>
        <p:spPr>
          <a:xfrm rot="5400000">
            <a:off x="5670108" y="1922990"/>
            <a:ext cx="368881" cy="2553145"/>
          </a:xfrm>
          <a:prstGeom prst="rightBrace">
            <a:avLst>
              <a:gd name="adj1" fmla="val 177590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1B8FE1-EB54-B142-B5EC-3B501F0E926F}"/>
              </a:ext>
            </a:extLst>
          </p:cNvPr>
          <p:cNvSpPr txBox="1"/>
          <p:nvPr/>
        </p:nvSpPr>
        <p:spPr>
          <a:xfrm>
            <a:off x="1083886" y="4285976"/>
            <a:ext cx="9628323" cy="11501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Integration of </a:t>
            </a:r>
            <a:r>
              <a:rPr lang="en-US" altLang="ko-KR" sz="1600">
                <a:ln>
                  <a:solidFill>
                    <a:srgbClr val="2F518D">
                      <a:alpha val="30000"/>
                    </a:srgbClr>
                  </a:solidFill>
                </a:ln>
                <a:solidFill>
                  <a:srgbClr val="2F518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deep learning-based environment classification </a:t>
            </a: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into </a:t>
            </a:r>
            <a:r>
              <a:rPr lang="en-US" altLang="ko-KR" sz="1600">
                <a:ln>
                  <a:solidFill>
                    <a:srgbClr val="278895">
                      <a:alpha val="30000"/>
                    </a:srgbClr>
                  </a:solidFill>
                </a:ln>
                <a:solidFill>
                  <a:srgbClr val="27889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exoskeleton application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detailed gait environment classification (YOLOv8) + spatio-temporal feature extraction (LSTM)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u="sng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soft ankle exosuit </a:t>
            </a: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aimed at </a:t>
            </a:r>
            <a:r>
              <a:rPr lang="en-US" altLang="ko-KR" sz="1600" u="sng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stroke patients</a:t>
            </a:r>
          </a:p>
        </p:txBody>
      </p:sp>
    </p:spTree>
    <p:extLst>
      <p:ext uri="{BB962C8B-B14F-4D97-AF65-F5344CB8AC3E}">
        <p14:creationId xmlns:p14="http://schemas.microsoft.com/office/powerpoint/2010/main" val="409973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78B44C9C-FDBF-29DE-0F27-B2665D32A6CE}"/>
              </a:ext>
            </a:extLst>
          </p:cNvPr>
          <p:cNvSpPr txBox="1"/>
          <p:nvPr/>
        </p:nvSpPr>
        <p:spPr>
          <a:xfrm>
            <a:off x="390524" y="56322"/>
            <a:ext cx="3553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 . Soft Exosuit</a:t>
            </a:r>
            <a:endParaRPr lang="en-US" altLang="ko-KR" sz="2400" dirty="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그림 4" descr="텍스트, 스크린샷, 그래픽 디자인, 블랙이(가) 표시된 사진&#10;&#10;자동 생성된 설명">
            <a:extLst>
              <a:ext uri="{FF2B5EF4-FFF2-40B4-BE49-F238E27FC236}">
                <a16:creationId xmlns:a16="http://schemas.microsoft.com/office/drawing/2014/main" id="{A8B35224-0388-1CAF-6816-99102B1ECE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914" y="1400407"/>
            <a:ext cx="6572508" cy="4611128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F81D5344-D6BA-25C2-C9D0-0B833B1E69C9}"/>
              </a:ext>
            </a:extLst>
          </p:cNvPr>
          <p:cNvSpPr txBox="1"/>
          <p:nvPr/>
        </p:nvSpPr>
        <p:spPr>
          <a:xfrm>
            <a:off x="3192772" y="4081443"/>
            <a:ext cx="2345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n>
                  <a:solidFill>
                    <a:schemeClr val="tx1">
                      <a:lumMod val="65000"/>
                      <a:lumOff val="35000"/>
                      <a:alpha val="30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IMU: gait phase detection</a:t>
            </a:r>
            <a:endParaRPr lang="ko-KR" altLang="en-US" sz="1400" dirty="0">
              <a:ln>
                <a:solidFill>
                  <a:schemeClr val="tx1">
                    <a:lumMod val="65000"/>
                    <a:lumOff val="35000"/>
                    <a:alpha val="3000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B14736E3-5832-791A-B854-815F2F7D5515}"/>
              </a:ext>
            </a:extLst>
          </p:cNvPr>
          <p:cNvGrpSpPr/>
          <p:nvPr/>
        </p:nvGrpSpPr>
        <p:grpSpPr>
          <a:xfrm>
            <a:off x="390524" y="1103693"/>
            <a:ext cx="4615095" cy="5618908"/>
            <a:chOff x="226708" y="1224091"/>
            <a:chExt cx="4615095" cy="5618908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E9D03D6-8F70-91BF-8D0A-C0B75B4EF467}"/>
                </a:ext>
              </a:extLst>
            </p:cNvPr>
            <p:cNvSpPr txBox="1"/>
            <p:nvPr/>
          </p:nvSpPr>
          <p:spPr>
            <a:xfrm>
              <a:off x="226708" y="6148257"/>
              <a:ext cx="3305176" cy="69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en-US" altLang="ko-KR" sz="14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flexible and lightweight materials</a:t>
              </a:r>
            </a:p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en-US" altLang="ko-KR" sz="14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Bowden cable-driven method</a:t>
              </a:r>
            </a:p>
          </p:txBody>
        </p: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E2DD80DC-1735-5873-A6AD-688260265D73}"/>
                </a:ext>
              </a:extLst>
            </p:cNvPr>
            <p:cNvGrpSpPr/>
            <p:nvPr/>
          </p:nvGrpSpPr>
          <p:grpSpPr>
            <a:xfrm>
              <a:off x="453104" y="1224091"/>
              <a:ext cx="4388699" cy="5001665"/>
              <a:chOff x="419100" y="1285137"/>
              <a:chExt cx="4388699" cy="5001665"/>
            </a:xfrm>
          </p:grpSpPr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7FC141EB-C47A-B5D2-84E1-26C6A77C80DE}"/>
                  </a:ext>
                </a:extLst>
              </p:cNvPr>
              <p:cNvGrpSpPr/>
              <p:nvPr/>
            </p:nvGrpSpPr>
            <p:grpSpPr>
              <a:xfrm>
                <a:off x="419100" y="1285137"/>
                <a:ext cx="3997866" cy="5001665"/>
                <a:chOff x="953352" y="789396"/>
                <a:chExt cx="4535289" cy="5597300"/>
              </a:xfrm>
            </p:grpSpPr>
            <p:pic>
              <p:nvPicPr>
                <p:cNvPr id="12" name="그림 11" descr="의류, 사람, 신발류, 패션이(가) 표시된 사진&#10;&#10;자동 생성된 설명">
                  <a:extLst>
                    <a:ext uri="{FF2B5EF4-FFF2-40B4-BE49-F238E27FC236}">
                      <a16:creationId xmlns:a16="http://schemas.microsoft.com/office/drawing/2014/main" id="{B2A5BE71-90D2-D2CC-6449-19C391A123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rightnessContrast contrast="-2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159658" y="1075063"/>
                  <a:ext cx="1587962" cy="5311633"/>
                </a:xfrm>
                <a:prstGeom prst="rect">
                  <a:avLst/>
                </a:prstGeom>
              </p:spPr>
            </p:pic>
            <p:grpSp>
              <p:nvGrpSpPr>
                <p:cNvPr id="3" name="그룹 2">
                  <a:extLst>
                    <a:ext uri="{FF2B5EF4-FFF2-40B4-BE49-F238E27FC236}">
                      <a16:creationId xmlns:a16="http://schemas.microsoft.com/office/drawing/2014/main" id="{3F0DA0FB-926B-EE70-1C6F-371C26B91095}"/>
                    </a:ext>
                  </a:extLst>
                </p:cNvPr>
                <p:cNvGrpSpPr/>
                <p:nvPr/>
              </p:nvGrpSpPr>
              <p:grpSpPr>
                <a:xfrm>
                  <a:off x="3147215" y="789396"/>
                  <a:ext cx="2341426" cy="5042523"/>
                  <a:chOff x="6930293" y="967734"/>
                  <a:chExt cx="2341426" cy="5042523"/>
                </a:xfrm>
              </p:grpSpPr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66C895FD-6546-66A5-D957-CAABF77FC1BD}"/>
                      </a:ext>
                    </a:extLst>
                  </p:cNvPr>
                  <p:cNvSpPr txBox="1"/>
                  <p:nvPr/>
                </p:nvSpPr>
                <p:spPr>
                  <a:xfrm>
                    <a:off x="7712074" y="2121991"/>
                    <a:ext cx="1245886" cy="3444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altLang="ko-KR" sz="1400">
                        <a:ln>
                          <a:solidFill>
                            <a:schemeClr val="tx1">
                              <a:alpha val="30000"/>
                            </a:schemeClr>
                          </a:solidFill>
                        </a:ln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waist belt</a:t>
                    </a:r>
                    <a:endParaRPr lang="ko-KR" altLang="en-US" sz="1400" dirty="0">
                      <a:ln>
                        <a:solidFill>
                          <a:schemeClr val="tx1">
                            <a:alpha val="30000"/>
                          </a:schemeClr>
                        </a:solidFill>
                      </a:ln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8" name="그룹 7">
                    <a:extLst>
                      <a:ext uri="{FF2B5EF4-FFF2-40B4-BE49-F238E27FC236}">
                        <a16:creationId xmlns:a16="http://schemas.microsoft.com/office/drawing/2014/main" id="{8A6F683D-D800-458D-96DF-D758B3EB8C00}"/>
                      </a:ext>
                    </a:extLst>
                  </p:cNvPr>
                  <p:cNvGrpSpPr/>
                  <p:nvPr/>
                </p:nvGrpSpPr>
                <p:grpSpPr>
                  <a:xfrm>
                    <a:off x="7154795" y="2294205"/>
                    <a:ext cx="557279" cy="365335"/>
                    <a:chOff x="7631533" y="2112369"/>
                    <a:chExt cx="572212" cy="373975"/>
                  </a:xfrm>
                </p:grpSpPr>
                <p:cxnSp>
                  <p:nvCxnSpPr>
                    <p:cNvPr id="43" name="직선 연결선 42">
                      <a:extLst>
                        <a:ext uri="{FF2B5EF4-FFF2-40B4-BE49-F238E27FC236}">
                          <a16:creationId xmlns:a16="http://schemas.microsoft.com/office/drawing/2014/main" id="{A0E7CEB5-E01D-961B-3FCD-61F5033089B9}"/>
                        </a:ext>
                      </a:extLst>
                    </p:cNvPr>
                    <p:cNvCxnSpPr>
                      <a:cxnSpLocks/>
                      <a:endCxn id="6" idx="1"/>
                    </p:cNvCxnSpPr>
                    <p:nvPr/>
                  </p:nvCxnSpPr>
                  <p:spPr>
                    <a:xfrm flipV="1">
                      <a:off x="7789305" y="2112369"/>
                      <a:ext cx="414440" cy="16320"/>
                    </a:xfrm>
                    <a:prstGeom prst="line">
                      <a:avLst/>
                    </a:prstGeom>
                    <a:ln w="19050">
                      <a:solidFill>
                        <a:schemeClr val="accent1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" name="직선 연결선 43">
                      <a:extLst>
                        <a:ext uri="{FF2B5EF4-FFF2-40B4-BE49-F238E27FC236}">
                          <a16:creationId xmlns:a16="http://schemas.microsoft.com/office/drawing/2014/main" id="{BC137AA7-6947-BEDD-4CFA-64BF715EA8D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7705611" y="2133787"/>
                      <a:ext cx="93182" cy="260372"/>
                    </a:xfrm>
                    <a:prstGeom prst="line">
                      <a:avLst/>
                    </a:prstGeom>
                    <a:ln w="19050">
                      <a:solidFill>
                        <a:schemeClr val="accent1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5" name="타원 44">
                      <a:extLst>
                        <a:ext uri="{FF2B5EF4-FFF2-40B4-BE49-F238E27FC236}">
                          <a16:creationId xmlns:a16="http://schemas.microsoft.com/office/drawing/2014/main" id="{1E118F87-4023-8E17-D83E-DD7A0B15DE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31533" y="2378344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28575">
                      <a:solidFill>
                        <a:srgbClr val="60A7D2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>
                        <a:latin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  <p:grpSp>
                <p:nvGrpSpPr>
                  <p:cNvPr id="13" name="그룹 12">
                    <a:extLst>
                      <a:ext uri="{FF2B5EF4-FFF2-40B4-BE49-F238E27FC236}">
                        <a16:creationId xmlns:a16="http://schemas.microsoft.com/office/drawing/2014/main" id="{5A505CD2-D7D1-03F5-05CD-67506D777BF9}"/>
                      </a:ext>
                    </a:extLst>
                  </p:cNvPr>
                  <p:cNvGrpSpPr/>
                  <p:nvPr/>
                </p:nvGrpSpPr>
                <p:grpSpPr>
                  <a:xfrm>
                    <a:off x="6930293" y="3909220"/>
                    <a:ext cx="757844" cy="347208"/>
                    <a:chOff x="7469819" y="2067287"/>
                    <a:chExt cx="778151" cy="355418"/>
                  </a:xfrm>
                </p:grpSpPr>
                <p:cxnSp>
                  <p:nvCxnSpPr>
                    <p:cNvPr id="40" name="직선 연결선 39">
                      <a:extLst>
                        <a:ext uri="{FF2B5EF4-FFF2-40B4-BE49-F238E27FC236}">
                          <a16:creationId xmlns:a16="http://schemas.microsoft.com/office/drawing/2014/main" id="{7417CAE9-E8F2-CB5F-414B-877F85675EE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7631818" y="2067287"/>
                      <a:ext cx="616152" cy="2864"/>
                    </a:xfrm>
                    <a:prstGeom prst="line">
                      <a:avLst/>
                    </a:prstGeom>
                    <a:ln w="19050">
                      <a:solidFill>
                        <a:schemeClr val="accent1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" name="직선 연결선 40">
                      <a:extLst>
                        <a:ext uri="{FF2B5EF4-FFF2-40B4-BE49-F238E27FC236}">
                          <a16:creationId xmlns:a16="http://schemas.microsoft.com/office/drawing/2014/main" id="{377F7910-0441-4526-AA97-938B0D7D1CF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7543900" y="2070151"/>
                      <a:ext cx="93183" cy="260372"/>
                    </a:xfrm>
                    <a:prstGeom prst="line">
                      <a:avLst/>
                    </a:prstGeom>
                    <a:ln w="19050">
                      <a:solidFill>
                        <a:schemeClr val="accent1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2" name="타원 41">
                      <a:extLst>
                        <a:ext uri="{FF2B5EF4-FFF2-40B4-BE49-F238E27FC236}">
                          <a16:creationId xmlns:a16="http://schemas.microsoft.com/office/drawing/2014/main" id="{CACEB22E-007D-8D37-BBEA-F50B5FA1E2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69819" y="2314705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28575">
                      <a:solidFill>
                        <a:srgbClr val="60A7D2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>
                        <a:latin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B1B3626D-A686-72EC-3201-0FC1A45354E6}"/>
                      </a:ext>
                    </a:extLst>
                  </p:cNvPr>
                  <p:cNvSpPr txBox="1"/>
                  <p:nvPr/>
                </p:nvSpPr>
                <p:spPr>
                  <a:xfrm>
                    <a:off x="7712074" y="3739784"/>
                    <a:ext cx="1335747" cy="3444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altLang="ko-KR" sz="1400">
                        <a:ln>
                          <a:solidFill>
                            <a:schemeClr val="tx1">
                              <a:alpha val="30000"/>
                            </a:schemeClr>
                          </a:solidFill>
                        </a:ln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thigh brace</a:t>
                    </a:r>
                    <a:endParaRPr lang="ko-KR" altLang="en-US" sz="1400" dirty="0">
                      <a:ln>
                        <a:solidFill>
                          <a:schemeClr val="tx1">
                            <a:alpha val="30000"/>
                          </a:schemeClr>
                        </a:solidFill>
                      </a:ln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15" name="그룹 14">
                    <a:extLst>
                      <a:ext uri="{FF2B5EF4-FFF2-40B4-BE49-F238E27FC236}">
                        <a16:creationId xmlns:a16="http://schemas.microsoft.com/office/drawing/2014/main" id="{C73D3B81-583F-9037-C479-2187BBC77CAB}"/>
                      </a:ext>
                    </a:extLst>
                  </p:cNvPr>
                  <p:cNvGrpSpPr/>
                  <p:nvPr/>
                </p:nvGrpSpPr>
                <p:grpSpPr>
                  <a:xfrm>
                    <a:off x="7049617" y="4959287"/>
                    <a:ext cx="548325" cy="276828"/>
                    <a:chOff x="7648386" y="2251788"/>
                    <a:chExt cx="563017" cy="283374"/>
                  </a:xfrm>
                </p:grpSpPr>
                <p:cxnSp>
                  <p:nvCxnSpPr>
                    <p:cNvPr id="36" name="직선 연결선 35">
                      <a:extLst>
                        <a:ext uri="{FF2B5EF4-FFF2-40B4-BE49-F238E27FC236}">
                          <a16:creationId xmlns:a16="http://schemas.microsoft.com/office/drawing/2014/main" id="{A9BE0E65-ED7E-18BA-2755-69261C29FEC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810385" y="2251788"/>
                      <a:ext cx="401018" cy="5097"/>
                    </a:xfrm>
                    <a:prstGeom prst="line">
                      <a:avLst/>
                    </a:prstGeom>
                    <a:ln w="19050">
                      <a:solidFill>
                        <a:schemeClr val="accent1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" name="직선 연결선 36">
                      <a:extLst>
                        <a:ext uri="{FF2B5EF4-FFF2-40B4-BE49-F238E27FC236}">
                          <a16:creationId xmlns:a16="http://schemas.microsoft.com/office/drawing/2014/main" id="{BAA0A4DE-9D96-AD11-6CA7-34A484BB2D7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7722464" y="2251788"/>
                      <a:ext cx="87918" cy="191190"/>
                    </a:xfrm>
                    <a:prstGeom prst="line">
                      <a:avLst/>
                    </a:prstGeom>
                    <a:ln w="19050">
                      <a:solidFill>
                        <a:schemeClr val="accent1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9" name="타원 38">
                      <a:extLst>
                        <a:ext uri="{FF2B5EF4-FFF2-40B4-BE49-F238E27FC236}">
                          <a16:creationId xmlns:a16="http://schemas.microsoft.com/office/drawing/2014/main" id="{FD9B3088-28E3-5FEA-B62F-A6527F908D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8386" y="2427162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28575">
                      <a:solidFill>
                        <a:srgbClr val="60A7D2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>
                        <a:latin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713612A4-417D-9813-64FA-FC3E966FD7FD}"/>
                      </a:ext>
                    </a:extLst>
                  </p:cNvPr>
                  <p:cNvSpPr txBox="1"/>
                  <p:nvPr/>
                </p:nvSpPr>
                <p:spPr>
                  <a:xfrm>
                    <a:off x="7703455" y="4757483"/>
                    <a:ext cx="1389572" cy="3444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altLang="ko-KR" sz="1400">
                        <a:ln>
                          <a:solidFill>
                            <a:schemeClr val="tx1">
                              <a:alpha val="30000"/>
                            </a:schemeClr>
                          </a:solidFill>
                        </a:ln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shin brace</a:t>
                    </a:r>
                    <a:endParaRPr lang="ko-KR" altLang="en-US" sz="1400" dirty="0">
                      <a:ln>
                        <a:solidFill>
                          <a:schemeClr val="tx1">
                            <a:alpha val="30000"/>
                          </a:schemeClr>
                        </a:solidFill>
                      </a:ln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17" name="그룹 16">
                    <a:extLst>
                      <a:ext uri="{FF2B5EF4-FFF2-40B4-BE49-F238E27FC236}">
                        <a16:creationId xmlns:a16="http://schemas.microsoft.com/office/drawing/2014/main" id="{B628227A-9B7D-DC50-95A2-F6DF275B9F6B}"/>
                      </a:ext>
                    </a:extLst>
                  </p:cNvPr>
                  <p:cNvGrpSpPr/>
                  <p:nvPr/>
                </p:nvGrpSpPr>
                <p:grpSpPr>
                  <a:xfrm>
                    <a:off x="7271007" y="2903836"/>
                    <a:ext cx="422613" cy="349392"/>
                    <a:chOff x="7609650" y="2179028"/>
                    <a:chExt cx="433937" cy="357654"/>
                  </a:xfrm>
                </p:grpSpPr>
                <p:cxnSp>
                  <p:nvCxnSpPr>
                    <p:cNvPr id="33" name="직선 연결선 32">
                      <a:extLst>
                        <a:ext uri="{FF2B5EF4-FFF2-40B4-BE49-F238E27FC236}">
                          <a16:creationId xmlns:a16="http://schemas.microsoft.com/office/drawing/2014/main" id="{9A4766E4-89B1-55B7-9CBA-E4FC34C7022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767433" y="2179028"/>
                      <a:ext cx="276154" cy="0"/>
                    </a:xfrm>
                    <a:prstGeom prst="line">
                      <a:avLst/>
                    </a:prstGeom>
                    <a:ln w="19050">
                      <a:solidFill>
                        <a:schemeClr val="accent1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" name="직선 연결선 33">
                      <a:extLst>
                        <a:ext uri="{FF2B5EF4-FFF2-40B4-BE49-F238E27FC236}">
                          <a16:creationId xmlns:a16="http://schemas.microsoft.com/office/drawing/2014/main" id="{D0070C7E-2ED1-B408-86B2-13260DAC891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7683728" y="2184126"/>
                      <a:ext cx="93182" cy="260372"/>
                    </a:xfrm>
                    <a:prstGeom prst="line">
                      <a:avLst/>
                    </a:prstGeom>
                    <a:ln w="19050">
                      <a:solidFill>
                        <a:schemeClr val="accent1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5" name="타원 34">
                      <a:extLst>
                        <a:ext uri="{FF2B5EF4-FFF2-40B4-BE49-F238E27FC236}">
                          <a16:creationId xmlns:a16="http://schemas.microsoft.com/office/drawing/2014/main" id="{E0F45004-3FEE-E5BA-3F20-EEE0CA8280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09650" y="2428682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28575">
                      <a:solidFill>
                        <a:srgbClr val="60A7D2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>
                        <a:latin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51CF3400-3723-9F3A-79C0-87B69BF8C001}"/>
                      </a:ext>
                    </a:extLst>
                  </p:cNvPr>
                  <p:cNvSpPr txBox="1"/>
                  <p:nvPr/>
                </p:nvSpPr>
                <p:spPr>
                  <a:xfrm>
                    <a:off x="7690766" y="2697499"/>
                    <a:ext cx="1389574" cy="3444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altLang="ko-KR" sz="1400">
                        <a:ln>
                          <a:solidFill>
                            <a:schemeClr val="tx1">
                              <a:alpha val="30000"/>
                            </a:schemeClr>
                          </a:solidFill>
                        </a:ln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curve strap</a:t>
                    </a:r>
                    <a:endParaRPr lang="ko-KR" altLang="en-US" sz="1400" dirty="0">
                      <a:ln>
                        <a:solidFill>
                          <a:schemeClr val="tx1">
                            <a:alpha val="30000"/>
                          </a:schemeClr>
                        </a:solidFill>
                      </a:ln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281BAA55-A031-2778-4E3B-17FD8FBC1014}"/>
                      </a:ext>
                    </a:extLst>
                  </p:cNvPr>
                  <p:cNvSpPr txBox="1"/>
                  <p:nvPr/>
                </p:nvSpPr>
                <p:spPr>
                  <a:xfrm>
                    <a:off x="7683759" y="5476200"/>
                    <a:ext cx="1587960" cy="3444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altLang="ko-KR" sz="1400">
                        <a:ln>
                          <a:solidFill>
                            <a:schemeClr val="tx1">
                              <a:alpha val="30000"/>
                            </a:schemeClr>
                          </a:solidFill>
                        </a:ln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foot wearable</a:t>
                    </a:r>
                    <a:endParaRPr lang="ko-KR" altLang="en-US" sz="1400" dirty="0">
                      <a:ln>
                        <a:solidFill>
                          <a:schemeClr val="tx1">
                            <a:alpha val="30000"/>
                          </a:schemeClr>
                        </a:solidFill>
                      </a:ln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24" name="그룹 23">
                    <a:extLst>
                      <a:ext uri="{FF2B5EF4-FFF2-40B4-BE49-F238E27FC236}">
                        <a16:creationId xmlns:a16="http://schemas.microsoft.com/office/drawing/2014/main" id="{F6469FEC-E5BB-6FEB-1CAA-9E95EE650BED}"/>
                      </a:ext>
                    </a:extLst>
                  </p:cNvPr>
                  <p:cNvGrpSpPr/>
                  <p:nvPr/>
                </p:nvGrpSpPr>
                <p:grpSpPr>
                  <a:xfrm>
                    <a:off x="6982883" y="5660866"/>
                    <a:ext cx="619361" cy="349391"/>
                    <a:chOff x="7648386" y="2177509"/>
                    <a:chExt cx="635957" cy="357653"/>
                  </a:xfrm>
                </p:grpSpPr>
                <p:cxnSp>
                  <p:nvCxnSpPr>
                    <p:cNvPr id="30" name="직선 연결선 29">
                      <a:extLst>
                        <a:ext uri="{FF2B5EF4-FFF2-40B4-BE49-F238E27FC236}">
                          <a16:creationId xmlns:a16="http://schemas.microsoft.com/office/drawing/2014/main" id="{B64D3B3A-EEFA-7B36-EB1B-C47DE3590CD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806161" y="2177509"/>
                      <a:ext cx="478182" cy="0"/>
                    </a:xfrm>
                    <a:prstGeom prst="line">
                      <a:avLst/>
                    </a:prstGeom>
                    <a:ln w="19050">
                      <a:solidFill>
                        <a:schemeClr val="accent1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" name="직선 연결선 30">
                      <a:extLst>
                        <a:ext uri="{FF2B5EF4-FFF2-40B4-BE49-F238E27FC236}">
                          <a16:creationId xmlns:a16="http://schemas.microsoft.com/office/drawing/2014/main" id="{66C80345-13BE-782A-E03A-AEB3D42B31B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7722464" y="2182606"/>
                      <a:ext cx="93182" cy="260372"/>
                    </a:xfrm>
                    <a:prstGeom prst="line">
                      <a:avLst/>
                    </a:prstGeom>
                    <a:ln w="19050">
                      <a:solidFill>
                        <a:schemeClr val="accent1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2" name="타원 31">
                      <a:extLst>
                        <a:ext uri="{FF2B5EF4-FFF2-40B4-BE49-F238E27FC236}">
                          <a16:creationId xmlns:a16="http://schemas.microsoft.com/office/drawing/2014/main" id="{009CC337-346F-C27C-E8D1-FC91A86C27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48386" y="2427162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28575">
                      <a:solidFill>
                        <a:srgbClr val="60A7D2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>
                        <a:latin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C239817B-DC2D-E0DD-13BA-49FBA2CC7024}"/>
                      </a:ext>
                    </a:extLst>
                  </p:cNvPr>
                  <p:cNvSpPr txBox="1"/>
                  <p:nvPr/>
                </p:nvSpPr>
                <p:spPr>
                  <a:xfrm>
                    <a:off x="7743963" y="967734"/>
                    <a:ext cx="1494709" cy="3444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altLang="ko-KR" sz="1400">
                        <a:ln>
                          <a:solidFill>
                            <a:schemeClr val="tx1">
                              <a:alpha val="30000"/>
                            </a:schemeClr>
                          </a:solidFill>
                        </a:ln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armour vest</a:t>
                    </a:r>
                    <a:endParaRPr lang="ko-KR" altLang="en-US" sz="1400" dirty="0">
                      <a:ln>
                        <a:solidFill>
                          <a:schemeClr val="tx1">
                            <a:alpha val="30000"/>
                          </a:schemeClr>
                        </a:solidFill>
                      </a:ln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26" name="그룹 25">
                    <a:extLst>
                      <a:ext uri="{FF2B5EF4-FFF2-40B4-BE49-F238E27FC236}">
                        <a16:creationId xmlns:a16="http://schemas.microsoft.com/office/drawing/2014/main" id="{BAB4C056-9143-9F56-E990-3DA494A580E2}"/>
                      </a:ext>
                    </a:extLst>
                  </p:cNvPr>
                  <p:cNvGrpSpPr/>
                  <p:nvPr/>
                </p:nvGrpSpPr>
                <p:grpSpPr>
                  <a:xfrm>
                    <a:off x="7074172" y="1139949"/>
                    <a:ext cx="669791" cy="361837"/>
                    <a:chOff x="7664282" y="1442707"/>
                    <a:chExt cx="687738" cy="370394"/>
                  </a:xfrm>
                </p:grpSpPr>
                <p:cxnSp>
                  <p:nvCxnSpPr>
                    <p:cNvPr id="27" name="직선 연결선 26">
                      <a:extLst>
                        <a:ext uri="{FF2B5EF4-FFF2-40B4-BE49-F238E27FC236}">
                          <a16:creationId xmlns:a16="http://schemas.microsoft.com/office/drawing/2014/main" id="{0FCA6782-62CF-D686-A7C4-BE2ADB693966}"/>
                        </a:ext>
                      </a:extLst>
                    </p:cNvPr>
                    <p:cNvCxnSpPr>
                      <a:cxnSpLocks/>
                      <a:endCxn id="25" idx="1"/>
                    </p:cNvCxnSpPr>
                    <p:nvPr/>
                  </p:nvCxnSpPr>
                  <p:spPr>
                    <a:xfrm flipV="1">
                      <a:off x="7822046" y="1442707"/>
                      <a:ext cx="529974" cy="12743"/>
                    </a:xfrm>
                    <a:prstGeom prst="line">
                      <a:avLst/>
                    </a:prstGeom>
                    <a:ln w="19050">
                      <a:solidFill>
                        <a:schemeClr val="accent1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" name="직선 연결선 27">
                      <a:extLst>
                        <a:ext uri="{FF2B5EF4-FFF2-40B4-BE49-F238E27FC236}">
                          <a16:creationId xmlns:a16="http://schemas.microsoft.com/office/drawing/2014/main" id="{2F0C8BED-A721-642E-96B7-C4583B57300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7738360" y="1460548"/>
                      <a:ext cx="93182" cy="260372"/>
                    </a:xfrm>
                    <a:prstGeom prst="line">
                      <a:avLst/>
                    </a:prstGeom>
                    <a:ln w="19050">
                      <a:solidFill>
                        <a:schemeClr val="accent1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1D8A89C7-6A84-3EEF-EBF6-E911A07FDD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664282" y="1705101"/>
                      <a:ext cx="108000" cy="108000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28575">
                      <a:solidFill>
                        <a:srgbClr val="60A7D2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400">
                        <a:latin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</p:grpSp>
            <p:pic>
              <p:nvPicPr>
                <p:cNvPr id="38" name="그림 37" descr="신발류, 의류, 사람, 발목이(가) 표시된 사진&#10;&#10;자동 생성된 설명">
                  <a:extLst>
                    <a:ext uri="{FF2B5EF4-FFF2-40B4-BE49-F238E27FC236}">
                      <a16:creationId xmlns:a16="http://schemas.microsoft.com/office/drawing/2014/main" id="{60BBC073-9767-A856-28CB-C3C650500C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953352" y="1075062"/>
                  <a:ext cx="1086457" cy="5159291"/>
                </a:xfrm>
                <a:prstGeom prst="rect">
                  <a:avLst/>
                </a:prstGeom>
              </p:spPr>
            </p:pic>
          </p:grp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D2EACF5F-BF30-DAA7-2B92-86DB02C0AD08}"/>
                  </a:ext>
                </a:extLst>
              </p:cNvPr>
              <p:cNvSpPr txBox="1"/>
              <p:nvPr/>
            </p:nvSpPr>
            <p:spPr>
              <a:xfrm>
                <a:off x="3132708" y="1668077"/>
                <a:ext cx="167509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>
                    <a:ln>
                      <a:solidFill>
                        <a:schemeClr val="tx1">
                          <a:lumMod val="65000"/>
                          <a:lumOff val="35000"/>
                          <a:alpha val="3000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camera: capture </a:t>
                </a:r>
              </a:p>
              <a:p>
                <a:r>
                  <a:rPr lang="en-US" altLang="ko-KR" sz="1400">
                    <a:ln>
                      <a:solidFill>
                        <a:schemeClr val="tx1">
                          <a:lumMod val="65000"/>
                          <a:lumOff val="35000"/>
                          <a:alpha val="3000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gait environment</a:t>
                </a:r>
                <a:endParaRPr lang="ko-KR" altLang="en-US" sz="1400" dirty="0">
                  <a:ln>
                    <a:solidFill>
                      <a:schemeClr val="tx1">
                        <a:lumMod val="65000"/>
                        <a:lumOff val="35000"/>
                        <a:alpha val="3000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4C68C654-6684-2C01-1BEC-3D30476E1D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88561" y="1864407"/>
                <a:ext cx="819015" cy="943"/>
              </a:xfrm>
              <a:prstGeom prst="line">
                <a:avLst/>
              </a:prstGeom>
              <a:ln w="19050">
                <a:solidFill>
                  <a:srgbClr val="00B38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8452733A-5C27-1FD5-F429-299F1117E511}"/>
                  </a:ext>
                </a:extLst>
              </p:cNvPr>
              <p:cNvSpPr/>
              <p:nvPr/>
            </p:nvSpPr>
            <p:spPr>
              <a:xfrm>
                <a:off x="2195843" y="1812353"/>
                <a:ext cx="92718" cy="94278"/>
              </a:xfrm>
              <a:prstGeom prst="ellipse">
                <a:avLst/>
              </a:prstGeom>
              <a:solidFill>
                <a:schemeClr val="tx1"/>
              </a:solidFill>
              <a:ln w="28575">
                <a:solidFill>
                  <a:srgbClr val="0DFFD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n>
                    <a:solidFill>
                      <a:srgbClr val="2F518D"/>
                    </a:solidFill>
                  </a:ln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D18E1DA6-F7DF-5F34-F871-09A4E3E027B2}"/>
                </a:ext>
              </a:extLst>
            </p:cNvPr>
            <p:cNvCxnSpPr>
              <a:cxnSpLocks/>
              <a:stCxn id="70" idx="7"/>
              <a:endCxn id="67" idx="1"/>
            </p:cNvCxnSpPr>
            <p:nvPr/>
          </p:nvCxnSpPr>
          <p:spPr>
            <a:xfrm>
              <a:off x="2646951" y="4212445"/>
              <a:ext cx="446696" cy="118805"/>
            </a:xfrm>
            <a:prstGeom prst="line">
              <a:avLst/>
            </a:prstGeom>
            <a:ln w="19050">
              <a:solidFill>
                <a:srgbClr val="00B3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F0C6E308-277D-2E06-7331-8B5262267B0C}"/>
                </a:ext>
              </a:extLst>
            </p:cNvPr>
            <p:cNvSpPr/>
            <p:nvPr/>
          </p:nvSpPr>
          <p:spPr>
            <a:xfrm>
              <a:off x="2567811" y="4198638"/>
              <a:ext cx="92718" cy="9427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rgbClr val="0DFF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n>
                  <a:solidFill>
                    <a:srgbClr val="2F518D"/>
                  </a:solidFill>
                </a:ln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DCB545F6-53D8-7DFB-5FC1-F9803CE428AF}"/>
                </a:ext>
              </a:extLst>
            </p:cNvPr>
            <p:cNvCxnSpPr>
              <a:cxnSpLocks/>
              <a:stCxn id="76" idx="6"/>
              <a:endCxn id="67" idx="1"/>
            </p:cNvCxnSpPr>
            <p:nvPr/>
          </p:nvCxnSpPr>
          <p:spPr>
            <a:xfrm flipV="1">
              <a:off x="2606546" y="4331250"/>
              <a:ext cx="487101" cy="353863"/>
            </a:xfrm>
            <a:prstGeom prst="line">
              <a:avLst/>
            </a:prstGeom>
            <a:ln w="19050">
              <a:solidFill>
                <a:srgbClr val="00B3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991670E5-03DB-0B19-7D49-3B4F41740533}"/>
                </a:ext>
              </a:extLst>
            </p:cNvPr>
            <p:cNvSpPr/>
            <p:nvPr/>
          </p:nvSpPr>
          <p:spPr>
            <a:xfrm>
              <a:off x="2513828" y="4637974"/>
              <a:ext cx="92718" cy="9427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rgbClr val="0DFFD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n>
                  <a:solidFill>
                    <a:srgbClr val="2F518D"/>
                  </a:solidFill>
                </a:ln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6F5EAEFB-21A4-74A8-37F7-5D1F8D533862}"/>
              </a:ext>
            </a:extLst>
          </p:cNvPr>
          <p:cNvSpPr txBox="1"/>
          <p:nvPr/>
        </p:nvSpPr>
        <p:spPr>
          <a:xfrm>
            <a:off x="5806677" y="6039943"/>
            <a:ext cx="5884981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flowchart of gait-environment-based exoskeleton control strategy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2FA7A98-73B3-202D-73E5-77C127C13F3A}"/>
              </a:ext>
            </a:extLst>
          </p:cNvPr>
          <p:cNvGrpSpPr/>
          <p:nvPr/>
        </p:nvGrpSpPr>
        <p:grpSpPr>
          <a:xfrm>
            <a:off x="616920" y="623252"/>
            <a:ext cx="2730104" cy="492213"/>
            <a:chOff x="749301" y="941413"/>
            <a:chExt cx="2329937" cy="492213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6E0DB5D9-CD35-AD7A-0D8A-66A626D3E95E}"/>
                </a:ext>
              </a:extLst>
            </p:cNvPr>
            <p:cNvSpPr/>
            <p:nvPr/>
          </p:nvSpPr>
          <p:spPr>
            <a:xfrm>
              <a:off x="749301" y="1002283"/>
              <a:ext cx="1729559" cy="431343"/>
            </a:xfrm>
            <a:prstGeom prst="roundRect">
              <a:avLst>
                <a:gd name="adj" fmla="val 50000"/>
              </a:avLst>
            </a:prstGeom>
            <a:solidFill>
              <a:srgbClr val="32518D"/>
            </a:solidFill>
            <a:ln>
              <a:solidFill>
                <a:srgbClr val="32518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E6CA69D-F3AA-0DBC-79E5-26D26C4E6D0B}"/>
                </a:ext>
              </a:extLst>
            </p:cNvPr>
            <p:cNvSpPr txBox="1"/>
            <p:nvPr/>
          </p:nvSpPr>
          <p:spPr>
            <a:xfrm>
              <a:off x="885484" y="941413"/>
              <a:ext cx="2193754" cy="4514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>
                  <a:ln>
                    <a:solidFill>
                      <a:schemeClr val="bg1">
                        <a:alpha val="30000"/>
                      </a:schemeClr>
                    </a:solidFill>
                  </a:ln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Exosuit Design</a:t>
              </a:r>
              <a:endParaRPr lang="en-US" altLang="ko-KR" sz="1600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E11E8622-E460-1FF9-8A89-450E1E1A4296}"/>
              </a:ext>
            </a:extLst>
          </p:cNvPr>
          <p:cNvGrpSpPr/>
          <p:nvPr/>
        </p:nvGrpSpPr>
        <p:grpSpPr>
          <a:xfrm>
            <a:off x="5462914" y="623252"/>
            <a:ext cx="2693809" cy="500363"/>
            <a:chOff x="749302" y="964619"/>
            <a:chExt cx="2298962" cy="500363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7F93DF24-E4B3-5F4A-CE2B-7FE4C5FA2EC3}"/>
                </a:ext>
              </a:extLst>
            </p:cNvPr>
            <p:cNvSpPr/>
            <p:nvPr/>
          </p:nvSpPr>
          <p:spPr>
            <a:xfrm>
              <a:off x="749302" y="1022832"/>
              <a:ext cx="1729560" cy="442150"/>
            </a:xfrm>
            <a:prstGeom prst="roundRect">
              <a:avLst>
                <a:gd name="adj" fmla="val 50000"/>
              </a:avLst>
            </a:prstGeom>
            <a:solidFill>
              <a:srgbClr val="32518D"/>
            </a:solidFill>
            <a:ln>
              <a:solidFill>
                <a:srgbClr val="32518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698C5E-7656-2328-8030-342758436162}"/>
                </a:ext>
              </a:extLst>
            </p:cNvPr>
            <p:cNvSpPr txBox="1"/>
            <p:nvPr/>
          </p:nvSpPr>
          <p:spPr>
            <a:xfrm>
              <a:off x="854509" y="964619"/>
              <a:ext cx="2193755" cy="4514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>
                  <a:ln>
                    <a:solidFill>
                      <a:schemeClr val="bg1">
                        <a:alpha val="30000"/>
                      </a:schemeClr>
                    </a:solidFill>
                  </a:ln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Control Strategy</a:t>
              </a:r>
              <a:endParaRPr lang="en-US" altLang="ko-KR" sz="1600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9049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86CCAF0-45BF-57F1-B912-6CD59513EF4F}"/>
              </a:ext>
            </a:extLst>
          </p:cNvPr>
          <p:cNvSpPr txBox="1"/>
          <p:nvPr/>
        </p:nvSpPr>
        <p:spPr>
          <a:xfrm>
            <a:off x="390523" y="56322"/>
            <a:ext cx="5705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 . Environment Recognition System</a:t>
            </a:r>
            <a:endParaRPr lang="en-US" altLang="ko-KR" sz="2400" dirty="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031CC22-8D24-5FBD-C1AB-83289F1C725F}"/>
              </a:ext>
            </a:extLst>
          </p:cNvPr>
          <p:cNvSpPr txBox="1"/>
          <p:nvPr/>
        </p:nvSpPr>
        <p:spPr>
          <a:xfrm>
            <a:off x="642784" y="2475951"/>
            <a:ext cx="5884981" cy="1934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[customized dataset]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 ground and stair environment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960 x 540 pixel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training: 16,000 | valid: 2,000 | test: 2000</a:t>
            </a:r>
          </a:p>
          <a:p>
            <a:pPr>
              <a:lnSpc>
                <a:spcPct val="150000"/>
              </a:lnSpc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-&gt; 8:1:1</a:t>
            </a: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EA5A0B95-C7E9-B227-D7A4-01AC2732BCBD}"/>
              </a:ext>
            </a:extLst>
          </p:cNvPr>
          <p:cNvGrpSpPr/>
          <p:nvPr/>
        </p:nvGrpSpPr>
        <p:grpSpPr>
          <a:xfrm>
            <a:off x="5568112" y="1312955"/>
            <a:ext cx="4076732" cy="4349771"/>
            <a:chOff x="2513103" y="555116"/>
            <a:chExt cx="5379946" cy="5950084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639CF184-D152-D533-0845-876BA0D7309A}"/>
                </a:ext>
              </a:extLst>
            </p:cNvPr>
            <p:cNvSpPr txBox="1"/>
            <p:nvPr/>
          </p:nvSpPr>
          <p:spPr>
            <a:xfrm>
              <a:off x="6634504" y="3322380"/>
              <a:ext cx="1258545" cy="46311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LG</a:t>
              </a:r>
              <a:endParaRPr lang="ko-KR" altLang="en-US" sz="16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316B3D09-58AB-3F62-D99E-53A1AC09AB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99128" y="3498621"/>
              <a:ext cx="1044000" cy="1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1BDE972F-8EEE-2751-33A1-15CF3EA4B50E}"/>
                </a:ext>
              </a:extLst>
            </p:cNvPr>
            <p:cNvSpPr txBox="1"/>
            <p:nvPr/>
          </p:nvSpPr>
          <p:spPr>
            <a:xfrm>
              <a:off x="6634504" y="1279219"/>
              <a:ext cx="1258545" cy="46311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IC</a:t>
              </a:r>
              <a:endParaRPr lang="ko-KR" altLang="en-US" sz="16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721428C8-436E-7C05-3166-5E8BE8BC81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5104" y="1476617"/>
              <a:ext cx="1080000" cy="1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26D1B6CA-422D-F39F-8E41-B1722953CCDA}"/>
                </a:ext>
              </a:extLst>
            </p:cNvPr>
            <p:cNvSpPr txBox="1"/>
            <p:nvPr/>
          </p:nvSpPr>
          <p:spPr>
            <a:xfrm>
              <a:off x="6634504" y="578153"/>
              <a:ext cx="1258545" cy="46311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IC prev</a:t>
              </a:r>
              <a:endParaRPr lang="ko-KR" altLang="en-US" sz="16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4FD254E3-0451-79BD-F2C5-3E841C477BB5}"/>
                </a:ext>
              </a:extLst>
            </p:cNvPr>
            <p:cNvSpPr txBox="1"/>
            <p:nvPr/>
          </p:nvSpPr>
          <p:spPr>
            <a:xfrm>
              <a:off x="6634504" y="1980285"/>
              <a:ext cx="1258545" cy="46311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IC next</a:t>
              </a:r>
              <a:endParaRPr lang="ko-KR" altLang="en-US" sz="16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10" name="직선 연결선 109">
              <a:extLst>
                <a:ext uri="{FF2B5EF4-FFF2-40B4-BE49-F238E27FC236}">
                  <a16:creationId xmlns:a16="http://schemas.microsoft.com/office/drawing/2014/main" id="{1E273DDB-8511-B350-856F-18B060DC4DA9}"/>
                </a:ext>
              </a:extLst>
            </p:cNvPr>
            <p:cNvCxnSpPr>
              <a:cxnSpLocks/>
            </p:cNvCxnSpPr>
            <p:nvPr/>
          </p:nvCxnSpPr>
          <p:spPr>
            <a:xfrm>
              <a:off x="6134100" y="758541"/>
              <a:ext cx="49405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574EA40E-59B8-1E17-E55E-841FAB789A0E}"/>
                </a:ext>
              </a:extLst>
            </p:cNvPr>
            <p:cNvCxnSpPr>
              <a:cxnSpLocks/>
            </p:cNvCxnSpPr>
            <p:nvPr/>
          </p:nvCxnSpPr>
          <p:spPr>
            <a:xfrm>
              <a:off x="6132062" y="2150506"/>
              <a:ext cx="49405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3769D829-3EC8-9E7D-77F0-02187ECCBC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3166" y="758541"/>
              <a:ext cx="0" cy="140400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076535E-1FDD-6C0E-4219-D8BDE758D8EA}"/>
                </a:ext>
              </a:extLst>
            </p:cNvPr>
            <p:cNvSpPr txBox="1"/>
            <p:nvPr/>
          </p:nvSpPr>
          <p:spPr>
            <a:xfrm>
              <a:off x="6634504" y="5327499"/>
              <a:ext cx="1258545" cy="46311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DC</a:t>
              </a:r>
              <a:endParaRPr lang="ko-KR" altLang="en-US" sz="16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14" name="직선 연결선 113">
              <a:extLst>
                <a:ext uri="{FF2B5EF4-FFF2-40B4-BE49-F238E27FC236}">
                  <a16:creationId xmlns:a16="http://schemas.microsoft.com/office/drawing/2014/main" id="{FCF14FAC-FF77-E5C3-5908-B9D3C9264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6128" y="5524899"/>
              <a:ext cx="1080000" cy="19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9DE7AEE1-53E3-69E8-D48A-EB0BC03650C3}"/>
                </a:ext>
              </a:extLst>
            </p:cNvPr>
            <p:cNvSpPr txBox="1"/>
            <p:nvPr/>
          </p:nvSpPr>
          <p:spPr>
            <a:xfrm>
              <a:off x="6634504" y="4626434"/>
              <a:ext cx="1258545" cy="46311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DC prev</a:t>
              </a:r>
              <a:endParaRPr lang="ko-KR" altLang="en-US" sz="16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FF6E085-06CE-EDF6-CB39-208356ECEDA7}"/>
                </a:ext>
              </a:extLst>
            </p:cNvPr>
            <p:cNvSpPr txBox="1"/>
            <p:nvPr/>
          </p:nvSpPr>
          <p:spPr>
            <a:xfrm>
              <a:off x="6634504" y="6028561"/>
              <a:ext cx="1258545" cy="46311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DC next</a:t>
              </a:r>
              <a:endParaRPr lang="ko-KR" altLang="en-US" sz="16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B97C434-6055-CCB4-CBF4-15B2CB58D245}"/>
                </a:ext>
              </a:extLst>
            </p:cNvPr>
            <p:cNvCxnSpPr>
              <a:cxnSpLocks/>
            </p:cNvCxnSpPr>
            <p:nvPr/>
          </p:nvCxnSpPr>
          <p:spPr>
            <a:xfrm>
              <a:off x="6135599" y="4806823"/>
              <a:ext cx="49405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4FE2E76B-688B-2609-D259-F63F5739FDA4}"/>
                </a:ext>
              </a:extLst>
            </p:cNvPr>
            <p:cNvCxnSpPr>
              <a:cxnSpLocks/>
            </p:cNvCxnSpPr>
            <p:nvPr/>
          </p:nvCxnSpPr>
          <p:spPr>
            <a:xfrm>
              <a:off x="6152611" y="6198788"/>
              <a:ext cx="494054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A978AA4C-A9F1-4D01-1023-79625BED0F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3715" y="4806823"/>
              <a:ext cx="0" cy="140400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43A36F08-39FF-314C-E450-B3945050C384}"/>
                </a:ext>
              </a:extLst>
            </p:cNvPr>
            <p:cNvGrpSpPr/>
            <p:nvPr/>
          </p:nvGrpSpPr>
          <p:grpSpPr>
            <a:xfrm>
              <a:off x="2533651" y="2584069"/>
              <a:ext cx="3295447" cy="1892176"/>
              <a:chOff x="2282950" y="1142324"/>
              <a:chExt cx="3786937" cy="2042377"/>
            </a:xfrm>
          </p:grpSpPr>
          <p:pic>
            <p:nvPicPr>
              <p:cNvPr id="127" name="그림 126" descr="신발류, 사람, 그레이, 그림자이(가) 표시된 사진&#10;&#10;자동 생성된 설명">
                <a:extLst>
                  <a:ext uri="{FF2B5EF4-FFF2-40B4-BE49-F238E27FC236}">
                    <a16:creationId xmlns:a16="http://schemas.microsoft.com/office/drawing/2014/main" id="{5BC367F8-49E1-2D9F-56B4-2FD0B5DEE2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84469" y="1142324"/>
                <a:ext cx="3785418" cy="2042377"/>
              </a:xfrm>
              <a:prstGeom prst="rect">
                <a:avLst/>
              </a:prstGeom>
            </p:spPr>
          </p:pic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B354664E-5DFB-17B3-8535-6C2D73B21B82}"/>
                  </a:ext>
                </a:extLst>
              </p:cNvPr>
              <p:cNvSpPr txBox="1"/>
              <p:nvPr/>
            </p:nvSpPr>
            <p:spPr>
              <a:xfrm>
                <a:off x="2282950" y="1142324"/>
                <a:ext cx="990896" cy="545316"/>
              </a:xfrm>
              <a:prstGeom prst="rect">
                <a:avLst/>
              </a:prstGeom>
              <a:solidFill>
                <a:schemeClr val="bg1">
                  <a:alpha val="7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LG</a:t>
                </a:r>
                <a:endParaRPr lang="ko-KR" altLang="en-US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121" name="그룹 120">
              <a:extLst>
                <a:ext uri="{FF2B5EF4-FFF2-40B4-BE49-F238E27FC236}">
                  <a16:creationId xmlns:a16="http://schemas.microsoft.com/office/drawing/2014/main" id="{7F38DEEB-F22F-54F7-11D1-636BA8E1F24E}"/>
                </a:ext>
              </a:extLst>
            </p:cNvPr>
            <p:cNvGrpSpPr/>
            <p:nvPr/>
          </p:nvGrpSpPr>
          <p:grpSpPr>
            <a:xfrm>
              <a:off x="2513103" y="555116"/>
              <a:ext cx="3294125" cy="1892176"/>
              <a:chOff x="2282950" y="3229139"/>
              <a:chExt cx="3785418" cy="2042377"/>
            </a:xfrm>
          </p:grpSpPr>
          <p:pic>
            <p:nvPicPr>
              <p:cNvPr id="125" name="그림 124" descr="신발류, 사람, 청바지, 의류이(가) 표시된 사진&#10;&#10;자동 생성된 설명">
                <a:extLst>
                  <a:ext uri="{FF2B5EF4-FFF2-40B4-BE49-F238E27FC236}">
                    <a16:creationId xmlns:a16="http://schemas.microsoft.com/office/drawing/2014/main" id="{7B4A1201-72AD-FBB3-ECDA-9CDEB00603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82950" y="3229139"/>
                <a:ext cx="3785418" cy="2042377"/>
              </a:xfrm>
              <a:prstGeom prst="rect">
                <a:avLst/>
              </a:prstGeom>
            </p:spPr>
          </p:pic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6ED1F15D-9734-860C-6AEA-A5B80478E464}"/>
                  </a:ext>
                </a:extLst>
              </p:cNvPr>
              <p:cNvSpPr txBox="1"/>
              <p:nvPr/>
            </p:nvSpPr>
            <p:spPr>
              <a:xfrm>
                <a:off x="2282950" y="3229139"/>
                <a:ext cx="990896" cy="545316"/>
              </a:xfrm>
              <a:prstGeom prst="rect">
                <a:avLst/>
              </a:prstGeom>
              <a:solidFill>
                <a:schemeClr val="bg1">
                  <a:alpha val="7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IC</a:t>
                </a:r>
                <a:endParaRPr lang="ko-KR" altLang="en-US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id="{915042CB-D7D7-B91F-F73D-83100E990D56}"/>
                </a:ext>
              </a:extLst>
            </p:cNvPr>
            <p:cNvGrpSpPr/>
            <p:nvPr/>
          </p:nvGrpSpPr>
          <p:grpSpPr>
            <a:xfrm>
              <a:off x="2513103" y="4607109"/>
              <a:ext cx="3314675" cy="1898091"/>
              <a:chOff x="6100018" y="3222755"/>
              <a:chExt cx="3809033" cy="2048760"/>
            </a:xfrm>
          </p:grpSpPr>
          <p:pic>
            <p:nvPicPr>
              <p:cNvPr id="123" name="그림 122" descr="신발류, 청바지, 사람, 피트이(가) 표시된 사진&#10;&#10;자동 생성된 설명">
                <a:extLst>
                  <a:ext uri="{FF2B5EF4-FFF2-40B4-BE49-F238E27FC236}">
                    <a16:creationId xmlns:a16="http://schemas.microsoft.com/office/drawing/2014/main" id="{40897B8C-D354-AE65-147C-73F018C5CB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23632" y="3229139"/>
                <a:ext cx="3785419" cy="2042376"/>
              </a:xfrm>
              <a:prstGeom prst="rect">
                <a:avLst/>
              </a:prstGeom>
            </p:spPr>
          </p:pic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CC3D048-3168-6DAB-E6CF-F5E6BF8B559B}"/>
                  </a:ext>
                </a:extLst>
              </p:cNvPr>
              <p:cNvSpPr txBox="1"/>
              <p:nvPr/>
            </p:nvSpPr>
            <p:spPr>
              <a:xfrm>
                <a:off x="6100018" y="3222755"/>
                <a:ext cx="990894" cy="545315"/>
              </a:xfrm>
              <a:prstGeom prst="rect">
                <a:avLst/>
              </a:prstGeom>
              <a:solidFill>
                <a:schemeClr val="bg1">
                  <a:alpha val="7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DC</a:t>
                </a:r>
                <a:endParaRPr lang="ko-KR" altLang="en-US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CFA3FC1-62D1-A88D-361F-37318138545F}"/>
              </a:ext>
            </a:extLst>
          </p:cNvPr>
          <p:cNvSpPr txBox="1"/>
          <p:nvPr/>
        </p:nvSpPr>
        <p:spPr>
          <a:xfrm>
            <a:off x="9644843" y="1255938"/>
            <a:ext cx="1638211" cy="411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initial incline</a:t>
            </a:r>
            <a:endParaRPr lang="en-US" altLang="ko-KR" sz="140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D203EC-D02B-55AB-F365-8F63733490A0}"/>
              </a:ext>
            </a:extLst>
          </p:cNvPr>
          <p:cNvSpPr txBox="1"/>
          <p:nvPr/>
        </p:nvSpPr>
        <p:spPr>
          <a:xfrm>
            <a:off x="9644843" y="2273525"/>
            <a:ext cx="1638211" cy="411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final incline</a:t>
            </a:r>
            <a:endParaRPr lang="en-US" altLang="ko-KR" sz="140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FCC344-D3C1-5F78-8A61-53BE1665D4B0}"/>
              </a:ext>
            </a:extLst>
          </p:cNvPr>
          <p:cNvSpPr txBox="1"/>
          <p:nvPr/>
        </p:nvSpPr>
        <p:spPr>
          <a:xfrm>
            <a:off x="9644843" y="1764731"/>
            <a:ext cx="1638211" cy="411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mid-incline</a:t>
            </a:r>
            <a:endParaRPr lang="en-US" altLang="ko-KR" sz="140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A5D42C-27F4-4671-670E-23D9E40FE639}"/>
              </a:ext>
            </a:extLst>
          </p:cNvPr>
          <p:cNvSpPr txBox="1"/>
          <p:nvPr/>
        </p:nvSpPr>
        <p:spPr>
          <a:xfrm>
            <a:off x="9644843" y="3271524"/>
            <a:ext cx="1638211" cy="411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level ground</a:t>
            </a:r>
            <a:endParaRPr lang="en-US" altLang="ko-KR" sz="140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48F229-707C-4B22-6C02-0DED5CF78D38}"/>
              </a:ext>
            </a:extLst>
          </p:cNvPr>
          <p:cNvSpPr txBox="1"/>
          <p:nvPr/>
        </p:nvSpPr>
        <p:spPr>
          <a:xfrm>
            <a:off x="9644843" y="4216361"/>
            <a:ext cx="1638211" cy="411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initial decline</a:t>
            </a:r>
            <a:endParaRPr lang="en-US" altLang="ko-KR" sz="140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26904C-4440-495D-FD91-2542D9F6669F}"/>
              </a:ext>
            </a:extLst>
          </p:cNvPr>
          <p:cNvSpPr txBox="1"/>
          <p:nvPr/>
        </p:nvSpPr>
        <p:spPr>
          <a:xfrm>
            <a:off x="9644843" y="4729077"/>
            <a:ext cx="1638211" cy="411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mid-decline</a:t>
            </a:r>
            <a:endParaRPr lang="en-US" altLang="ko-KR" sz="140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62BC84-5198-1142-F519-96A289FFEE54}"/>
              </a:ext>
            </a:extLst>
          </p:cNvPr>
          <p:cNvSpPr txBox="1"/>
          <p:nvPr/>
        </p:nvSpPr>
        <p:spPr>
          <a:xfrm>
            <a:off x="9644843" y="5241793"/>
            <a:ext cx="1638211" cy="411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final decline</a:t>
            </a:r>
            <a:endParaRPr lang="en-US" altLang="ko-KR" sz="140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66B4152C-D455-3718-7965-E13192E75923}"/>
              </a:ext>
            </a:extLst>
          </p:cNvPr>
          <p:cNvGrpSpPr/>
          <p:nvPr/>
        </p:nvGrpSpPr>
        <p:grpSpPr>
          <a:xfrm>
            <a:off x="1898019" y="4080125"/>
            <a:ext cx="3239346" cy="272472"/>
            <a:chOff x="1872154" y="2799448"/>
            <a:chExt cx="3239346" cy="272472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D4FA2D75-EF8F-C246-D99B-0CB4F59D5D15}"/>
                </a:ext>
              </a:extLst>
            </p:cNvPr>
            <p:cNvGrpSpPr/>
            <p:nvPr/>
          </p:nvGrpSpPr>
          <p:grpSpPr>
            <a:xfrm>
              <a:off x="1872154" y="2799448"/>
              <a:ext cx="3239346" cy="272472"/>
              <a:chOff x="1552575" y="2846895"/>
              <a:chExt cx="3239346" cy="272472"/>
            </a:xfrm>
          </p:grpSpPr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AF84058B-CB52-6ACA-9CF0-22A1098BA7E0}"/>
                  </a:ext>
                </a:extLst>
              </p:cNvPr>
              <p:cNvGrpSpPr/>
              <p:nvPr/>
            </p:nvGrpSpPr>
            <p:grpSpPr>
              <a:xfrm>
                <a:off x="1552575" y="2861673"/>
                <a:ext cx="3239346" cy="257693"/>
                <a:chOff x="5821277" y="3105201"/>
                <a:chExt cx="3370348" cy="180924"/>
              </a:xfrm>
            </p:grpSpPr>
            <p:sp>
              <p:nvSpPr>
                <p:cNvPr id="4" name="사각형: 둥근 모서리 3">
                  <a:extLst>
                    <a:ext uri="{FF2B5EF4-FFF2-40B4-BE49-F238E27FC236}">
                      <a16:creationId xmlns:a16="http://schemas.microsoft.com/office/drawing/2014/main" id="{C5B87189-4E8F-DE22-EF30-A36D61A873E0}"/>
                    </a:ext>
                  </a:extLst>
                </p:cNvPr>
                <p:cNvSpPr/>
                <p:nvPr/>
              </p:nvSpPr>
              <p:spPr>
                <a:xfrm>
                  <a:off x="5821277" y="3105202"/>
                  <a:ext cx="3370348" cy="18092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/>
                </a:solidFill>
                <a:ln>
                  <a:noFill/>
                </a:ln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" name="사각형: 둥근 위쪽 모서리 5">
                  <a:extLst>
                    <a:ext uri="{FF2B5EF4-FFF2-40B4-BE49-F238E27FC236}">
                      <a16:creationId xmlns:a16="http://schemas.microsoft.com/office/drawing/2014/main" id="{81CB60F0-53F1-269F-AF27-EF70D9A51BA8}"/>
                    </a:ext>
                  </a:extLst>
                </p:cNvPr>
                <p:cNvSpPr/>
                <p:nvPr/>
              </p:nvSpPr>
              <p:spPr>
                <a:xfrm rot="16200000">
                  <a:off x="6854016" y="2072464"/>
                  <a:ext cx="180922" cy="2246395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2F518D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" name="사각형: 둥근 위쪽 모서리 6">
                  <a:extLst>
                    <a:ext uri="{FF2B5EF4-FFF2-40B4-BE49-F238E27FC236}">
                      <a16:creationId xmlns:a16="http://schemas.microsoft.com/office/drawing/2014/main" id="{5CF5B5E0-3A9C-8D61-0CC6-391F55073BC7}"/>
                    </a:ext>
                  </a:extLst>
                </p:cNvPr>
                <p:cNvSpPr/>
                <p:nvPr/>
              </p:nvSpPr>
              <p:spPr>
                <a:xfrm rot="5400000" flipH="1">
                  <a:off x="8816446" y="2910942"/>
                  <a:ext cx="178856" cy="571502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00CCA5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" name="사각형: 둥근 위쪽 모서리 7">
                  <a:extLst>
                    <a:ext uri="{FF2B5EF4-FFF2-40B4-BE49-F238E27FC236}">
                      <a16:creationId xmlns:a16="http://schemas.microsoft.com/office/drawing/2014/main" id="{2C1517CB-86AE-B916-8C62-4099950160D2}"/>
                    </a:ext>
                  </a:extLst>
                </p:cNvPr>
                <p:cNvSpPr/>
                <p:nvPr/>
              </p:nvSpPr>
              <p:spPr>
                <a:xfrm rot="5400000" flipH="1">
                  <a:off x="8254468" y="2920468"/>
                  <a:ext cx="178859" cy="552449"/>
                </a:xfrm>
                <a:prstGeom prst="round2SameRect">
                  <a:avLst>
                    <a:gd name="adj1" fmla="val 0"/>
                    <a:gd name="adj2" fmla="val 0"/>
                  </a:avLst>
                </a:prstGeom>
                <a:solidFill>
                  <a:srgbClr val="319FB7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6EBA7D3-44A6-625D-B2A6-3D1CB68BA8B5}"/>
                  </a:ext>
                </a:extLst>
              </p:cNvPr>
              <p:cNvSpPr txBox="1"/>
              <p:nvPr/>
            </p:nvSpPr>
            <p:spPr>
              <a:xfrm>
                <a:off x="2486751" y="2857757"/>
                <a:ext cx="1057113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100">
                    <a:ln>
                      <a:solidFill>
                        <a:schemeClr val="bg1">
                          <a:alpha val="30000"/>
                        </a:schemeClr>
                      </a:solidFill>
                    </a:ln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train</a:t>
                </a:r>
                <a:endParaRPr lang="ko-KR" altLang="en-US" sz="1100">
                  <a:ln>
                    <a:solidFill>
                      <a:schemeClr val="bg1">
                        <a:alpha val="30000"/>
                      </a:schemeClr>
                    </a:solidFill>
                  </a:ln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5E07FF2-DD04-6E21-F44B-70D38FD428F7}"/>
                  </a:ext>
                </a:extLst>
              </p:cNvPr>
              <p:cNvSpPr txBox="1"/>
              <p:nvPr/>
            </p:nvSpPr>
            <p:spPr>
              <a:xfrm>
                <a:off x="3702544" y="2846895"/>
                <a:ext cx="1057113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100">
                    <a:ln>
                      <a:solidFill>
                        <a:schemeClr val="bg1">
                          <a:alpha val="30000"/>
                        </a:schemeClr>
                      </a:solidFill>
                    </a:ln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valid</a:t>
                </a:r>
                <a:endParaRPr lang="ko-KR" altLang="en-US" sz="1100">
                  <a:ln>
                    <a:solidFill>
                      <a:schemeClr val="bg1">
                        <a:alpha val="30000"/>
                      </a:schemeClr>
                    </a:solidFill>
                  </a:ln>
                  <a:solidFill>
                    <a:schemeClr val="bg1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216C199-0E6A-95F9-D335-8AFD870EEB25}"/>
                </a:ext>
              </a:extLst>
            </p:cNvPr>
            <p:cNvSpPr txBox="1"/>
            <p:nvPr/>
          </p:nvSpPr>
          <p:spPr>
            <a:xfrm>
              <a:off x="4620463" y="2799448"/>
              <a:ext cx="41393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>
                  <a:ln>
                    <a:solidFill>
                      <a:schemeClr val="bg1">
                        <a:alpha val="30000"/>
                      </a:schemeClr>
                    </a:solidFill>
                  </a:ln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test</a:t>
              </a:r>
              <a:endParaRPr lang="ko-KR" altLang="en-US" sz="110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B161866-5CAD-373F-74F3-E9BABAE21700}"/>
              </a:ext>
            </a:extLst>
          </p:cNvPr>
          <p:cNvGrpSpPr/>
          <p:nvPr/>
        </p:nvGrpSpPr>
        <p:grpSpPr>
          <a:xfrm>
            <a:off x="419100" y="676457"/>
            <a:ext cx="3781924" cy="491416"/>
            <a:chOff x="749302" y="973566"/>
            <a:chExt cx="1729560" cy="491416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9BDA7EEB-22A8-7323-3236-154640D8F976}"/>
                </a:ext>
              </a:extLst>
            </p:cNvPr>
            <p:cNvSpPr/>
            <p:nvPr/>
          </p:nvSpPr>
          <p:spPr>
            <a:xfrm>
              <a:off x="749302" y="1022832"/>
              <a:ext cx="1729560" cy="442150"/>
            </a:xfrm>
            <a:prstGeom prst="roundRect">
              <a:avLst>
                <a:gd name="adj" fmla="val 50000"/>
              </a:avLst>
            </a:prstGeom>
            <a:solidFill>
              <a:srgbClr val="32518D"/>
            </a:solidFill>
            <a:ln>
              <a:solidFill>
                <a:srgbClr val="32518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C9BB33C-BB00-2A00-EAEF-17612D3E0A53}"/>
                </a:ext>
              </a:extLst>
            </p:cNvPr>
            <p:cNvSpPr txBox="1"/>
            <p:nvPr/>
          </p:nvSpPr>
          <p:spPr>
            <a:xfrm>
              <a:off x="782676" y="973566"/>
              <a:ext cx="1662812" cy="462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>
                  <a:ln>
                    <a:solidFill>
                      <a:schemeClr val="bg1">
                        <a:alpha val="30000"/>
                      </a:schemeClr>
                    </a:solidFill>
                  </a:ln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Data Acquisition · Class Definition</a:t>
              </a:r>
              <a:endParaRPr lang="en-US" altLang="ko-KR" sz="1600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1207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86CCAF0-45BF-57F1-B912-6CD59513EF4F}"/>
              </a:ext>
            </a:extLst>
          </p:cNvPr>
          <p:cNvSpPr txBox="1"/>
          <p:nvPr/>
        </p:nvSpPr>
        <p:spPr>
          <a:xfrm>
            <a:off x="390523" y="56322"/>
            <a:ext cx="5705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 . Environment Recognition System</a:t>
            </a:r>
            <a:endParaRPr lang="en-US" altLang="ko-KR" sz="2400" dirty="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C4A620-B934-10B3-3037-AA69E4E661C3}"/>
              </a:ext>
            </a:extLst>
          </p:cNvPr>
          <p:cNvSpPr txBox="1"/>
          <p:nvPr/>
        </p:nvSpPr>
        <p:spPr>
          <a:xfrm>
            <a:off x="616919" y="657680"/>
            <a:ext cx="3926505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>
                <a:ln>
                  <a:solidFill>
                    <a:srgbClr val="2F518D">
                      <a:alpha val="30000"/>
                    </a:srgbClr>
                  </a:solidFill>
                </a:ln>
                <a:solidFill>
                  <a:srgbClr val="2F518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YOLOv8</a:t>
            </a:r>
            <a:r>
              <a:rPr lang="ko-KR" altLang="en-US">
                <a:ln>
                  <a:solidFill>
                    <a:srgbClr val="2F518D">
                      <a:alpha val="30000"/>
                    </a:srgbClr>
                  </a:solidFill>
                </a:ln>
                <a:solidFill>
                  <a:srgbClr val="2F518D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>
                <a:ln>
                  <a:solidFill>
                    <a:srgbClr val="2F518D">
                      <a:alpha val="30000"/>
                    </a:srgbClr>
                  </a:solidFill>
                </a:ln>
                <a:solidFill>
                  <a:srgbClr val="2F518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</a:t>
            </a:r>
            <a:r>
              <a:rPr lang="ko-KR" altLang="en-US">
                <a:ln>
                  <a:solidFill>
                    <a:srgbClr val="2F518D">
                      <a:alpha val="30000"/>
                    </a:srgbClr>
                  </a:solidFill>
                </a:ln>
                <a:solidFill>
                  <a:srgbClr val="2F518D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>
                <a:ln>
                  <a:solidFill>
                    <a:srgbClr val="2F518D">
                      <a:alpha val="30000"/>
                    </a:srgbClr>
                  </a:solidFill>
                </a:ln>
                <a:solidFill>
                  <a:srgbClr val="2F518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Training</a:t>
            </a:r>
            <a:endParaRPr lang="en-US" altLang="ko-KR" dirty="0">
              <a:ln>
                <a:solidFill>
                  <a:srgbClr val="2F518D">
                    <a:alpha val="30000"/>
                  </a:srgbClr>
                </a:solidFill>
              </a:ln>
              <a:solidFill>
                <a:srgbClr val="2F518D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0A915F67-1380-0279-2EF8-745F8E4A1BD7}"/>
              </a:ext>
            </a:extLst>
          </p:cNvPr>
          <p:cNvGrpSpPr/>
          <p:nvPr/>
        </p:nvGrpSpPr>
        <p:grpSpPr>
          <a:xfrm>
            <a:off x="616919" y="1249968"/>
            <a:ext cx="7210710" cy="1641155"/>
            <a:chOff x="616919" y="1145911"/>
            <a:chExt cx="7210710" cy="1641155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031CC22-8D24-5FBD-C1AB-83289F1C725F}"/>
                </a:ext>
              </a:extLst>
            </p:cNvPr>
            <p:cNvSpPr txBox="1"/>
            <p:nvPr/>
          </p:nvSpPr>
          <p:spPr>
            <a:xfrm>
              <a:off x="616919" y="1145911"/>
              <a:ext cx="7210710" cy="16411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en-US" altLang="ko-KR" sz="16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object detection framework: one-stage detection approach </a:t>
              </a:r>
            </a:p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en-US" altLang="ko-KR" sz="16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provide </a:t>
              </a:r>
              <a:r>
                <a:rPr lang="en-US" altLang="ko-KR" sz="1600" u="sng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real-time contextual insight</a:t>
              </a:r>
              <a:r>
                <a:rPr lang="en-US" altLang="ko-KR" sz="1600">
                  <a:ln>
                    <a:solidFill>
                      <a:schemeClr val="accent1">
                        <a:lumMod val="75000"/>
                        <a:alpha val="3000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altLang="ko-KR" sz="16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for frame</a:t>
              </a:r>
            </a:p>
            <a:p>
              <a:pPr marL="285750" indent="-285750">
                <a:lnSpc>
                  <a:spcPct val="150000"/>
                </a:lnSpc>
                <a:buFontTx/>
                <a:buChar char="-"/>
              </a:pPr>
              <a:endParaRPr lang="en-US" altLang="ko-KR" sz="9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4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Rapid Detection: critical for detecting gait environment transitions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Spatial analysis: Effective in analyzing global spatial information</a:t>
              </a:r>
            </a:p>
          </p:txBody>
        </p:sp>
        <p:sp>
          <p:nvSpPr>
            <p:cNvPr id="102" name="오른쪽 중괄호 101">
              <a:extLst>
                <a:ext uri="{FF2B5EF4-FFF2-40B4-BE49-F238E27FC236}">
                  <a16:creationId xmlns:a16="http://schemas.microsoft.com/office/drawing/2014/main" id="{6CD4D7CD-6F36-4005-B7E0-E0FFA25EF48D}"/>
                </a:ext>
              </a:extLst>
            </p:cNvPr>
            <p:cNvSpPr/>
            <p:nvPr/>
          </p:nvSpPr>
          <p:spPr>
            <a:xfrm rot="10800000">
              <a:off x="625379" y="2267632"/>
              <a:ext cx="180000" cy="432000"/>
            </a:xfrm>
            <a:prstGeom prst="rightBrace">
              <a:avLst>
                <a:gd name="adj1" fmla="val 47906"/>
                <a:gd name="adj2" fmla="val 50000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4F81DB7-9734-984F-DADB-2582CF285674}"/>
              </a:ext>
            </a:extLst>
          </p:cNvPr>
          <p:cNvSpPr txBox="1"/>
          <p:nvPr/>
        </p:nvSpPr>
        <p:spPr>
          <a:xfrm>
            <a:off x="855779" y="5159743"/>
            <a:ext cx="1257966" cy="5049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input image</a:t>
            </a:r>
          </a:p>
          <a:p>
            <a:pPr algn="ctr"/>
            <a:r>
              <a:rPr lang="en-US" altLang="ko-KR" sz="105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frame (i)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3" name="그림 12" descr="신발류, 사람, 청바지, 신발이(가) 표시된 사진&#10;&#10;자동 생성된 설명">
            <a:extLst>
              <a:ext uri="{FF2B5EF4-FFF2-40B4-BE49-F238E27FC236}">
                <a16:creationId xmlns:a16="http://schemas.microsoft.com/office/drawing/2014/main" id="{7134E8AE-4BC1-1218-0F80-A33B799542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81" y="4217156"/>
            <a:ext cx="1515806" cy="866790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B957D922-249D-45FD-E49B-B8E48BBCCF8E}"/>
              </a:ext>
            </a:extLst>
          </p:cNvPr>
          <p:cNvSpPr txBox="1"/>
          <p:nvPr/>
        </p:nvSpPr>
        <p:spPr>
          <a:xfrm>
            <a:off x="4105423" y="2997395"/>
            <a:ext cx="1371633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YOLOv8</a:t>
            </a:r>
            <a:endParaRPr lang="ko-KR" altLang="en-US" sz="1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C6681F4-6E08-1C7C-C38F-557F27D65386}"/>
              </a:ext>
            </a:extLst>
          </p:cNvPr>
          <p:cNvGrpSpPr/>
          <p:nvPr/>
        </p:nvGrpSpPr>
        <p:grpSpPr>
          <a:xfrm>
            <a:off x="2094365" y="3310780"/>
            <a:ext cx="5164432" cy="3301309"/>
            <a:chOff x="1923321" y="3062319"/>
            <a:chExt cx="5164432" cy="3301309"/>
          </a:xfrm>
        </p:grpSpPr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353CE699-4E57-2295-90C0-0B8E1780D5CD}"/>
                </a:ext>
              </a:extLst>
            </p:cNvPr>
            <p:cNvSpPr txBox="1"/>
            <p:nvPr/>
          </p:nvSpPr>
          <p:spPr>
            <a:xfrm>
              <a:off x="1923321" y="4670304"/>
              <a:ext cx="2079820" cy="1271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05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[Hyperparameter] 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105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Epohcs: 100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105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Batch size: 16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105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Learning Rate: 0.0001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ko-KR" sz="105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Optimizer: Adam</a:t>
              </a:r>
              <a:endParaRPr lang="pt-BR" altLang="ko-KR" sz="105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155" name="그룹 154">
              <a:extLst>
                <a:ext uri="{FF2B5EF4-FFF2-40B4-BE49-F238E27FC236}">
                  <a16:creationId xmlns:a16="http://schemas.microsoft.com/office/drawing/2014/main" id="{0D05CE0F-79DC-72A4-19D6-4F80F8DD1602}"/>
                </a:ext>
              </a:extLst>
            </p:cNvPr>
            <p:cNvGrpSpPr/>
            <p:nvPr/>
          </p:nvGrpSpPr>
          <p:grpSpPr>
            <a:xfrm>
              <a:off x="1956261" y="3062319"/>
              <a:ext cx="5131492" cy="3301309"/>
              <a:chOff x="1956261" y="3062319"/>
              <a:chExt cx="5131492" cy="3301309"/>
            </a:xfrm>
          </p:grpSpPr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AF6F9DF-BDBA-7D89-F933-94C5DB4D686D}"/>
                  </a:ext>
                </a:extLst>
              </p:cNvPr>
              <p:cNvSpPr txBox="1"/>
              <p:nvPr/>
            </p:nvSpPr>
            <p:spPr>
              <a:xfrm>
                <a:off x="1956261" y="3172594"/>
                <a:ext cx="2079820" cy="1028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05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[Framework]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05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Trained using PyTorch on: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pt-BR" altLang="ko-KR" sz="105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Intel i5-13600KF CPU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pt-BR" altLang="ko-KR" sz="1050">
                    <a:ln>
                      <a:solidFill>
                        <a:schemeClr val="tx1">
                          <a:lumMod val="75000"/>
                          <a:lumOff val="25000"/>
                          <a:alpha val="3000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NVIDIA RTX 3070 GPU</a:t>
                </a:r>
              </a:p>
            </p:txBody>
          </p:sp>
          <p:grpSp>
            <p:nvGrpSpPr>
              <p:cNvPr id="145" name="그룹 144">
                <a:extLst>
                  <a:ext uri="{FF2B5EF4-FFF2-40B4-BE49-F238E27FC236}">
                    <a16:creationId xmlns:a16="http://schemas.microsoft.com/office/drawing/2014/main" id="{6A100D03-874E-1919-368C-6496D1CF7EBF}"/>
                  </a:ext>
                </a:extLst>
              </p:cNvPr>
              <p:cNvGrpSpPr/>
              <p:nvPr/>
            </p:nvGrpSpPr>
            <p:grpSpPr>
              <a:xfrm>
                <a:off x="5112742" y="3183047"/>
                <a:ext cx="1975011" cy="3170923"/>
                <a:chOff x="8337265" y="3207730"/>
                <a:chExt cx="1975011" cy="3170923"/>
              </a:xfrm>
            </p:grpSpPr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6EB6A8C-6685-0A80-9405-ACAA7C58B70C}"/>
                    </a:ext>
                  </a:extLst>
                </p:cNvPr>
                <p:cNvSpPr txBox="1"/>
                <p:nvPr/>
              </p:nvSpPr>
              <p:spPr>
                <a:xfrm>
                  <a:off x="8337265" y="5916988"/>
                  <a:ext cx="1975011" cy="461665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output feature</a:t>
                  </a:r>
                </a:p>
                <a:p>
                  <a:pPr algn="ctr"/>
                  <a:r>
                    <a:rPr lang="en-US" altLang="ko-KR" sz="1200"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(8)</a:t>
                  </a:r>
                </a:p>
              </p:txBody>
            </p: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4009AC80-71C3-D948-4C4D-D65FBFDD8C99}"/>
                    </a:ext>
                  </a:extLst>
                </p:cNvPr>
                <p:cNvGrpSpPr/>
                <p:nvPr/>
              </p:nvGrpSpPr>
              <p:grpSpPr>
                <a:xfrm>
                  <a:off x="9189488" y="3207730"/>
                  <a:ext cx="206079" cy="2514212"/>
                  <a:chOff x="3871386" y="1209604"/>
                  <a:chExt cx="243498" cy="2922239"/>
                </a:xfrm>
              </p:grpSpPr>
              <p:sp>
                <p:nvSpPr>
                  <p:cNvPr id="91" name="타원 90">
                    <a:extLst>
                      <a:ext uri="{FF2B5EF4-FFF2-40B4-BE49-F238E27FC236}">
                        <a16:creationId xmlns:a16="http://schemas.microsoft.com/office/drawing/2014/main" id="{6F8C3E70-7B2A-000F-7B06-6FFCB77C23B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871387" y="1209604"/>
                    <a:ext cx="243497" cy="243497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92" name="타원 91">
                    <a:extLst>
                      <a:ext uri="{FF2B5EF4-FFF2-40B4-BE49-F238E27FC236}">
                        <a16:creationId xmlns:a16="http://schemas.microsoft.com/office/drawing/2014/main" id="{72476B0E-AECB-D3BA-2992-E1DCB5CAF4C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871387" y="1592280"/>
                    <a:ext cx="243497" cy="243497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93" name="타원 92">
                    <a:extLst>
                      <a:ext uri="{FF2B5EF4-FFF2-40B4-BE49-F238E27FC236}">
                        <a16:creationId xmlns:a16="http://schemas.microsoft.com/office/drawing/2014/main" id="{27B4BC25-7C04-41CC-DCB9-A337C50E674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871387" y="1974958"/>
                    <a:ext cx="243497" cy="243497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94" name="타원 93">
                    <a:extLst>
                      <a:ext uri="{FF2B5EF4-FFF2-40B4-BE49-F238E27FC236}">
                        <a16:creationId xmlns:a16="http://schemas.microsoft.com/office/drawing/2014/main" id="{0E0EDEAB-23B9-EBAC-7F4D-4534EC54276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871387" y="2357634"/>
                    <a:ext cx="243497" cy="243497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95" name="타원 94">
                    <a:extLst>
                      <a:ext uri="{FF2B5EF4-FFF2-40B4-BE49-F238E27FC236}">
                        <a16:creationId xmlns:a16="http://schemas.microsoft.com/office/drawing/2014/main" id="{A174E547-EBF6-AE7D-5E0D-6BDEFF55DAC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871387" y="2740312"/>
                    <a:ext cx="243497" cy="243497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96" name="타원 95">
                    <a:extLst>
                      <a:ext uri="{FF2B5EF4-FFF2-40B4-BE49-F238E27FC236}">
                        <a16:creationId xmlns:a16="http://schemas.microsoft.com/office/drawing/2014/main" id="{8C685FE5-0C26-56C4-70F9-C3557B82D8F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871387" y="3505666"/>
                    <a:ext cx="243497" cy="243497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97" name="타원 96">
                    <a:extLst>
                      <a:ext uri="{FF2B5EF4-FFF2-40B4-BE49-F238E27FC236}">
                        <a16:creationId xmlns:a16="http://schemas.microsoft.com/office/drawing/2014/main" id="{E5BD0B56-2502-BE5F-252C-B911061F3AE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871387" y="3888346"/>
                    <a:ext cx="243497" cy="243497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98" name="타원 97">
                    <a:extLst>
                      <a:ext uri="{FF2B5EF4-FFF2-40B4-BE49-F238E27FC236}">
                        <a16:creationId xmlns:a16="http://schemas.microsoft.com/office/drawing/2014/main" id="{0859BE12-3113-CF73-91ED-0C83EEA2DFC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871386" y="3122988"/>
                    <a:ext cx="243497" cy="243497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69DA6C3B-A09D-168F-C4AE-5651B0A19F08}"/>
                  </a:ext>
                </a:extLst>
              </p:cNvPr>
              <p:cNvGrpSpPr/>
              <p:nvPr/>
            </p:nvGrpSpPr>
            <p:grpSpPr>
              <a:xfrm>
                <a:off x="2152212" y="4392245"/>
                <a:ext cx="1698653" cy="100697"/>
                <a:chOff x="410840" y="2680260"/>
                <a:chExt cx="2007087" cy="117039"/>
              </a:xfrm>
            </p:grpSpPr>
            <p:cxnSp>
              <p:nvCxnSpPr>
                <p:cNvPr id="89" name="직선 연결선 88">
                  <a:extLst>
                    <a:ext uri="{FF2B5EF4-FFF2-40B4-BE49-F238E27FC236}">
                      <a16:creationId xmlns:a16="http://schemas.microsoft.com/office/drawing/2014/main" id="{354CD85E-E514-0883-98EE-F0232E5D42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0840" y="2730760"/>
                  <a:ext cx="1994404" cy="8933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0" name="이등변 삼각형 89">
                  <a:extLst>
                    <a:ext uri="{FF2B5EF4-FFF2-40B4-BE49-F238E27FC236}">
                      <a16:creationId xmlns:a16="http://schemas.microsoft.com/office/drawing/2014/main" id="{9D1032B7-59CC-F4BB-3276-8B83C4423DD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V="1">
                  <a:off x="2310110" y="2689482"/>
                  <a:ext cx="117039" cy="98595"/>
                </a:xfrm>
                <a:prstGeom prst="triangl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grpSp>
            <p:nvGrpSpPr>
              <p:cNvPr id="135" name="그룹 134">
                <a:extLst>
                  <a:ext uri="{FF2B5EF4-FFF2-40B4-BE49-F238E27FC236}">
                    <a16:creationId xmlns:a16="http://schemas.microsoft.com/office/drawing/2014/main" id="{4C9A12E3-6631-0E52-C49E-108771113E44}"/>
                  </a:ext>
                </a:extLst>
              </p:cNvPr>
              <p:cNvGrpSpPr/>
              <p:nvPr/>
            </p:nvGrpSpPr>
            <p:grpSpPr>
              <a:xfrm>
                <a:off x="3866769" y="3062319"/>
                <a:ext cx="1439243" cy="3001223"/>
                <a:chOff x="4372970" y="2479061"/>
                <a:chExt cx="1431485" cy="3151373"/>
              </a:xfrm>
            </p:grpSpPr>
            <p:pic>
              <p:nvPicPr>
                <p:cNvPr id="126" name="그림 125">
                  <a:extLst>
                    <a:ext uri="{FF2B5EF4-FFF2-40B4-BE49-F238E27FC236}">
                      <a16:creationId xmlns:a16="http://schemas.microsoft.com/office/drawing/2014/main" id="{5837B39A-EE18-395E-C94C-F1D8598C68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r="69074"/>
                <a:stretch/>
              </p:blipFill>
              <p:spPr>
                <a:xfrm>
                  <a:off x="4440216" y="3278908"/>
                  <a:ext cx="1364239" cy="802646"/>
                </a:xfrm>
                <a:prstGeom prst="rect">
                  <a:avLst/>
                </a:prstGeom>
              </p:spPr>
            </p:pic>
            <p:pic>
              <p:nvPicPr>
                <p:cNvPr id="131" name="그림 130">
                  <a:extLst>
                    <a:ext uri="{FF2B5EF4-FFF2-40B4-BE49-F238E27FC236}">
                      <a16:creationId xmlns:a16="http://schemas.microsoft.com/office/drawing/2014/main" id="{B1D7477B-A240-1C5D-AD9B-BE8F9B1DCA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l="51222"/>
                <a:stretch/>
              </p:blipFill>
              <p:spPr>
                <a:xfrm>
                  <a:off x="4394782" y="2479061"/>
                  <a:ext cx="1408099" cy="824038"/>
                </a:xfrm>
                <a:prstGeom prst="rect">
                  <a:avLst/>
                </a:prstGeom>
              </p:spPr>
            </p:pic>
            <p:pic>
              <p:nvPicPr>
                <p:cNvPr id="132" name="그림 131">
                  <a:extLst>
                    <a:ext uri="{FF2B5EF4-FFF2-40B4-BE49-F238E27FC236}">
                      <a16:creationId xmlns:a16="http://schemas.microsoft.com/office/drawing/2014/main" id="{BDDC8BA2-70D2-1D24-A554-9FA2E5BF82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l="69174"/>
                <a:stretch/>
              </p:blipFill>
              <p:spPr>
                <a:xfrm>
                  <a:off x="4372970" y="4857210"/>
                  <a:ext cx="1351526" cy="773224"/>
                </a:xfrm>
                <a:prstGeom prst="rect">
                  <a:avLst/>
                </a:prstGeom>
              </p:spPr>
            </p:pic>
            <p:pic>
              <p:nvPicPr>
                <p:cNvPr id="133" name="그림 132">
                  <a:extLst>
                    <a:ext uri="{FF2B5EF4-FFF2-40B4-BE49-F238E27FC236}">
                      <a16:creationId xmlns:a16="http://schemas.microsoft.com/office/drawing/2014/main" id="{A8CC2E18-0DDD-9FDF-B4D0-1B8CBC4DE8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rcRect l="68704"/>
                <a:stretch/>
              </p:blipFill>
              <p:spPr>
                <a:xfrm>
                  <a:off x="4394782" y="4048815"/>
                  <a:ext cx="1364239" cy="811015"/>
                </a:xfrm>
                <a:prstGeom prst="rect">
                  <a:avLst/>
                </a:prstGeom>
              </p:spPr>
            </p:pic>
          </p:grp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3784633E-F81D-7C83-8B27-80EDA31939C8}"/>
                  </a:ext>
                </a:extLst>
              </p:cNvPr>
              <p:cNvSpPr txBox="1"/>
              <p:nvPr/>
            </p:nvSpPr>
            <p:spPr>
              <a:xfrm>
                <a:off x="3309572" y="6086629"/>
                <a:ext cx="2598685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feature map</a:t>
                </a:r>
                <a:endParaRPr lang="ko-KR" altLang="en-US" sz="12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146" name="그룹 145">
                <a:extLst>
                  <a:ext uri="{FF2B5EF4-FFF2-40B4-BE49-F238E27FC236}">
                    <a16:creationId xmlns:a16="http://schemas.microsoft.com/office/drawing/2014/main" id="{F0AF20BA-F318-D807-941B-6AE54899FBF1}"/>
                  </a:ext>
                </a:extLst>
              </p:cNvPr>
              <p:cNvGrpSpPr/>
              <p:nvPr/>
            </p:nvGrpSpPr>
            <p:grpSpPr>
              <a:xfrm>
                <a:off x="5228583" y="4401685"/>
                <a:ext cx="589622" cy="100697"/>
                <a:chOff x="1721244" y="2680260"/>
                <a:chExt cx="696683" cy="117039"/>
              </a:xfrm>
            </p:grpSpPr>
            <p:cxnSp>
              <p:nvCxnSpPr>
                <p:cNvPr id="147" name="직선 연결선 146">
                  <a:extLst>
                    <a:ext uri="{FF2B5EF4-FFF2-40B4-BE49-F238E27FC236}">
                      <a16:creationId xmlns:a16="http://schemas.microsoft.com/office/drawing/2014/main" id="{69EAC08A-E17C-0EFC-4933-79FA5EB0A6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21244" y="2730760"/>
                  <a:ext cx="684000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48" name="이등변 삼각형 147">
                  <a:extLst>
                    <a:ext uri="{FF2B5EF4-FFF2-40B4-BE49-F238E27FC236}">
                      <a16:creationId xmlns:a16="http://schemas.microsoft.com/office/drawing/2014/main" id="{522B54BB-2837-DDAC-6B07-DE2C2502278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6200000" flipV="1">
                  <a:off x="2310110" y="2689482"/>
                  <a:ext cx="117039" cy="98595"/>
                </a:xfrm>
                <a:prstGeom prst="triangl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</p:grpSp>
      </p:grpSp>
      <p:sp>
        <p:nvSpPr>
          <p:cNvPr id="160" name="TextBox 159">
            <a:extLst>
              <a:ext uri="{FF2B5EF4-FFF2-40B4-BE49-F238E27FC236}">
                <a16:creationId xmlns:a16="http://schemas.microsoft.com/office/drawing/2014/main" id="{733292B7-7391-DB62-9954-9C4AE456BD02}"/>
              </a:ext>
            </a:extLst>
          </p:cNvPr>
          <p:cNvSpPr txBox="1"/>
          <p:nvPr/>
        </p:nvSpPr>
        <p:spPr>
          <a:xfrm>
            <a:off x="6784140" y="4496319"/>
            <a:ext cx="14926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class probability</a:t>
            </a:r>
          </a:p>
          <a:p>
            <a:r>
              <a:rPr lang="en-US" altLang="ko-KR" sz="12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top 1 class</a:t>
            </a:r>
            <a:endParaRPr lang="ko-KR" altLang="en-US" sz="1200"/>
          </a:p>
        </p:txBody>
      </p:sp>
      <p:sp>
        <p:nvSpPr>
          <p:cNvPr id="161" name="오른쪽 중괄호 160">
            <a:extLst>
              <a:ext uri="{FF2B5EF4-FFF2-40B4-BE49-F238E27FC236}">
                <a16:creationId xmlns:a16="http://schemas.microsoft.com/office/drawing/2014/main" id="{8B09BCD7-A7AA-77C4-0E31-2A22DE6EC2CF}"/>
              </a:ext>
            </a:extLst>
          </p:cNvPr>
          <p:cNvSpPr/>
          <p:nvPr/>
        </p:nvSpPr>
        <p:spPr>
          <a:xfrm rot="10800000" flipH="1">
            <a:off x="6531759" y="3492160"/>
            <a:ext cx="316430" cy="2451651"/>
          </a:xfrm>
          <a:prstGeom prst="rightBrace">
            <a:avLst>
              <a:gd name="adj1" fmla="val 47906"/>
              <a:gd name="adj2" fmla="val 5000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2343EB2C-08C6-E25F-A4B7-DBDADEA6BECF}"/>
              </a:ext>
            </a:extLst>
          </p:cNvPr>
          <p:cNvGrpSpPr/>
          <p:nvPr/>
        </p:nvGrpSpPr>
        <p:grpSpPr>
          <a:xfrm>
            <a:off x="8267414" y="3760752"/>
            <a:ext cx="3765089" cy="2202495"/>
            <a:chOff x="8286870" y="3721841"/>
            <a:chExt cx="3765089" cy="2202495"/>
          </a:xfrm>
        </p:grpSpPr>
        <p:pic>
          <p:nvPicPr>
            <p:cNvPr id="162" name="그림 161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AB3B0FFD-039F-4345-CE91-FD8BDC8E6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286870" y="4474401"/>
              <a:ext cx="374365" cy="374365"/>
            </a:xfrm>
            <a:prstGeom prst="rect">
              <a:avLst/>
            </a:prstGeom>
          </p:spPr>
        </p:pic>
        <p:sp>
          <p:nvSpPr>
            <p:cNvPr id="165" name="양쪽 대괄호 164">
              <a:extLst>
                <a:ext uri="{FF2B5EF4-FFF2-40B4-BE49-F238E27FC236}">
                  <a16:creationId xmlns:a16="http://schemas.microsoft.com/office/drawing/2014/main" id="{176B16F7-E4BE-A22E-036F-405B2F535273}"/>
                </a:ext>
              </a:extLst>
            </p:cNvPr>
            <p:cNvSpPr/>
            <p:nvPr/>
          </p:nvSpPr>
          <p:spPr>
            <a:xfrm>
              <a:off x="8833009" y="4132339"/>
              <a:ext cx="3186460" cy="906480"/>
            </a:xfrm>
            <a:prstGeom prst="bracketPair">
              <a:avLst>
                <a:gd name="adj" fmla="val 10527"/>
              </a:avLst>
            </a:prstGeom>
            <a:solidFill>
              <a:srgbClr val="F5F5F5"/>
            </a:solidFill>
            <a:ln w="28575">
              <a:solidFill>
                <a:srgbClr val="AEAEA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143EAC99-21A4-9BB2-C9BB-87549F38CB99}"/>
                </a:ext>
              </a:extLst>
            </p:cNvPr>
            <p:cNvSpPr txBox="1"/>
            <p:nvPr/>
          </p:nvSpPr>
          <p:spPr>
            <a:xfrm>
              <a:off x="8865499" y="4250000"/>
              <a:ext cx="3186460" cy="10179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4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sequential time-series data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4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consider</a:t>
              </a:r>
              <a:r>
                <a:rPr lang="ko-KR" altLang="en-US" sz="14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altLang="ko-KR" sz="14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past</a:t>
              </a:r>
              <a:r>
                <a:rPr lang="ko-KR" altLang="en-US" sz="14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altLang="ko-KR" sz="14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and</a:t>
              </a:r>
              <a:r>
                <a:rPr lang="ko-KR" altLang="en-US" sz="14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altLang="ko-KR" sz="14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future context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endParaRPr lang="en-US" altLang="ko-KR" sz="1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BBB0D6FB-B61D-6C4E-B2F1-E71306DE13EA}"/>
                </a:ext>
              </a:extLst>
            </p:cNvPr>
            <p:cNvSpPr txBox="1"/>
            <p:nvPr/>
          </p:nvSpPr>
          <p:spPr>
            <a:xfrm>
              <a:off x="10116288" y="3721841"/>
              <a:ext cx="663415" cy="411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Gait </a:t>
              </a:r>
            </a:p>
          </p:txBody>
        </p:sp>
        <p:grpSp>
          <p:nvGrpSpPr>
            <p:cNvPr id="169" name="그룹 168">
              <a:extLst>
                <a:ext uri="{FF2B5EF4-FFF2-40B4-BE49-F238E27FC236}">
                  <a16:creationId xmlns:a16="http://schemas.microsoft.com/office/drawing/2014/main" id="{F10C5886-0697-810F-C1DD-24992DA5DA4D}"/>
                </a:ext>
              </a:extLst>
            </p:cNvPr>
            <p:cNvGrpSpPr/>
            <p:nvPr/>
          </p:nvGrpSpPr>
          <p:grpSpPr>
            <a:xfrm>
              <a:off x="9828170" y="5453163"/>
              <a:ext cx="1196136" cy="471173"/>
              <a:chOff x="749302" y="942569"/>
              <a:chExt cx="1020812" cy="471173"/>
            </a:xfrm>
          </p:grpSpPr>
          <p:sp>
            <p:nvSpPr>
              <p:cNvPr id="170" name="사각형: 둥근 모서리 169">
                <a:extLst>
                  <a:ext uri="{FF2B5EF4-FFF2-40B4-BE49-F238E27FC236}">
                    <a16:creationId xmlns:a16="http://schemas.microsoft.com/office/drawing/2014/main" id="{6392E498-7B27-BCF3-D5F9-A679B83759DE}"/>
                  </a:ext>
                </a:extLst>
              </p:cNvPr>
              <p:cNvSpPr/>
              <p:nvPr/>
            </p:nvSpPr>
            <p:spPr>
              <a:xfrm>
                <a:off x="749302" y="1002283"/>
                <a:ext cx="1020812" cy="411459"/>
              </a:xfrm>
              <a:prstGeom prst="roundRect">
                <a:avLst>
                  <a:gd name="adj" fmla="val 50000"/>
                </a:avLst>
              </a:prstGeom>
              <a:solidFill>
                <a:srgbClr val="32518D"/>
              </a:solidFill>
              <a:ln>
                <a:solidFill>
                  <a:srgbClr val="32518D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6E035FE8-4982-A1A3-E3AB-8C838CEF391E}"/>
                  </a:ext>
                </a:extLst>
              </p:cNvPr>
              <p:cNvSpPr txBox="1"/>
              <p:nvPr/>
            </p:nvSpPr>
            <p:spPr>
              <a:xfrm>
                <a:off x="959727" y="942569"/>
                <a:ext cx="637099" cy="4514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>
                    <a:ln>
                      <a:solidFill>
                        <a:schemeClr val="bg1">
                          <a:alpha val="30000"/>
                        </a:schemeClr>
                      </a:solidFill>
                    </a:ln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LSTM</a:t>
                </a:r>
                <a:endParaRPr lang="en-US" altLang="ko-KR" sz="1600" dirty="0">
                  <a:ln>
                    <a:solidFill>
                      <a:schemeClr val="bg1">
                        <a:alpha val="30000"/>
                      </a:schemeClr>
                    </a:solidFill>
                  </a:ln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pic>
          <p:nvPicPr>
            <p:cNvPr id="174" name="그래픽 173" descr="갈매기형 화살표 단색으로 채워진">
              <a:extLst>
                <a:ext uri="{FF2B5EF4-FFF2-40B4-BE49-F238E27FC236}">
                  <a16:creationId xmlns:a16="http://schemas.microsoft.com/office/drawing/2014/main" id="{720E1223-CB5C-2E37-DDAE-F37E1CF25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5400000">
              <a:off x="10256425" y="5080065"/>
              <a:ext cx="339627" cy="339627"/>
            </a:xfrm>
            <a:prstGeom prst="rect">
              <a:avLst/>
            </a:prstGeom>
          </p:spPr>
        </p:pic>
      </p:grp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031EAD4C-6D1D-B974-031D-4EF5EF1E98FC}"/>
              </a:ext>
            </a:extLst>
          </p:cNvPr>
          <p:cNvGrpSpPr/>
          <p:nvPr/>
        </p:nvGrpSpPr>
        <p:grpSpPr>
          <a:xfrm>
            <a:off x="419100" y="676457"/>
            <a:ext cx="3926505" cy="866904"/>
            <a:chOff x="749302" y="973566"/>
            <a:chExt cx="1729560" cy="866904"/>
          </a:xfrm>
        </p:grpSpPr>
        <p:sp>
          <p:nvSpPr>
            <p:cNvPr id="181" name="사각형: 둥근 모서리 180">
              <a:extLst>
                <a:ext uri="{FF2B5EF4-FFF2-40B4-BE49-F238E27FC236}">
                  <a16:creationId xmlns:a16="http://schemas.microsoft.com/office/drawing/2014/main" id="{54FDF098-734D-34D2-94EA-0B8480E76A7E}"/>
                </a:ext>
              </a:extLst>
            </p:cNvPr>
            <p:cNvSpPr/>
            <p:nvPr/>
          </p:nvSpPr>
          <p:spPr>
            <a:xfrm>
              <a:off x="749302" y="1022832"/>
              <a:ext cx="1729560" cy="442150"/>
            </a:xfrm>
            <a:prstGeom prst="roundRect">
              <a:avLst>
                <a:gd name="adj" fmla="val 50000"/>
              </a:avLst>
            </a:prstGeom>
            <a:solidFill>
              <a:srgbClr val="32518D"/>
            </a:solidFill>
            <a:ln>
              <a:solidFill>
                <a:srgbClr val="32518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F131EA13-D057-3415-C476-516D85BA2845}"/>
                </a:ext>
              </a:extLst>
            </p:cNvPr>
            <p:cNvSpPr txBox="1"/>
            <p:nvPr/>
          </p:nvSpPr>
          <p:spPr>
            <a:xfrm>
              <a:off x="782676" y="973566"/>
              <a:ext cx="1683912" cy="866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>
                  <a:ln>
                    <a:solidFill>
                      <a:schemeClr val="bg1">
                        <a:alpha val="30000"/>
                      </a:schemeClr>
                    </a:solidFill>
                  </a:ln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YOLOv8 Environment Classification</a:t>
              </a:r>
              <a:endParaRPr lang="en-US" altLang="ko-KR" sz="1600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3581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86CCAF0-45BF-57F1-B912-6CD59513EF4F}"/>
              </a:ext>
            </a:extLst>
          </p:cNvPr>
          <p:cNvSpPr txBox="1"/>
          <p:nvPr/>
        </p:nvSpPr>
        <p:spPr>
          <a:xfrm>
            <a:off x="390523" y="56322"/>
            <a:ext cx="5705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III . Environment Recognition System</a:t>
            </a:r>
            <a:endParaRPr lang="en-US" altLang="ko-KR" sz="2400" dirty="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0BB20DA-4949-BAEF-73F7-E77997608E49}"/>
              </a:ext>
            </a:extLst>
          </p:cNvPr>
          <p:cNvGrpSpPr/>
          <p:nvPr/>
        </p:nvGrpSpPr>
        <p:grpSpPr>
          <a:xfrm>
            <a:off x="2808306" y="4192057"/>
            <a:ext cx="1095712" cy="737785"/>
            <a:chOff x="2028344" y="1981616"/>
            <a:chExt cx="1628775" cy="1400175"/>
          </a:xfrm>
        </p:grpSpPr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6ABBCBFE-8A57-57C9-D842-0A4F8F5611C1}"/>
                </a:ext>
              </a:extLst>
            </p:cNvPr>
            <p:cNvSpPr txBox="1"/>
            <p:nvPr/>
          </p:nvSpPr>
          <p:spPr>
            <a:xfrm>
              <a:off x="2099541" y="2493392"/>
              <a:ext cx="1486381" cy="5263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YOLOv8</a:t>
              </a:r>
              <a:endParaRPr lang="ko-KR" altLang="en-US" sz="1200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5DB19137-01EF-34E6-F0E1-3086D60758F2}"/>
                </a:ext>
              </a:extLst>
            </p:cNvPr>
            <p:cNvSpPr/>
            <p:nvPr/>
          </p:nvSpPr>
          <p:spPr>
            <a:xfrm>
              <a:off x="2028344" y="1981616"/>
              <a:ext cx="1628775" cy="14001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0E7FADC-3CF0-EB09-9473-291E74CD8C52}"/>
              </a:ext>
            </a:extLst>
          </p:cNvPr>
          <p:cNvSpPr txBox="1"/>
          <p:nvPr/>
        </p:nvSpPr>
        <p:spPr>
          <a:xfrm>
            <a:off x="2678168" y="5075754"/>
            <a:ext cx="1284526" cy="46224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environment classification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EB6A8C-6685-0A80-9405-ACAA7C58B70C}"/>
              </a:ext>
            </a:extLst>
          </p:cNvPr>
          <p:cNvSpPr txBox="1"/>
          <p:nvPr/>
        </p:nvSpPr>
        <p:spPr>
          <a:xfrm>
            <a:off x="3441799" y="6012877"/>
            <a:ext cx="2016710" cy="68187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 feature</a:t>
            </a:r>
          </a:p>
          <a:p>
            <a:pPr algn="ctr"/>
            <a:r>
              <a:rPr lang="en-US" altLang="ko-KR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(8)</a:t>
            </a:r>
          </a:p>
          <a:p>
            <a:pPr algn="ctr">
              <a:lnSpc>
                <a:spcPct val="150000"/>
              </a:lnSpc>
            </a:pPr>
            <a:r>
              <a:rPr lang="en-US" altLang="ko-KR" sz="105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[class probability, top 1 class]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009AC80-71C3-D948-4C4D-D65FBFDD8C99}"/>
              </a:ext>
            </a:extLst>
          </p:cNvPr>
          <p:cNvGrpSpPr/>
          <p:nvPr/>
        </p:nvGrpSpPr>
        <p:grpSpPr>
          <a:xfrm>
            <a:off x="4308979" y="3953357"/>
            <a:ext cx="224168" cy="1291609"/>
            <a:chOff x="4353583" y="1978326"/>
            <a:chExt cx="259396" cy="1501455"/>
          </a:xfrm>
        </p:grpSpPr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6F8C3E70-7B2A-000F-7B06-6FFCB77C23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53583" y="1978326"/>
              <a:ext cx="243497" cy="24349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92" name="타원 91">
              <a:extLst>
                <a:ext uri="{FF2B5EF4-FFF2-40B4-BE49-F238E27FC236}">
                  <a16:creationId xmlns:a16="http://schemas.microsoft.com/office/drawing/2014/main" id="{72476B0E-AECB-D3BA-2992-E1DCB5CAF4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53591" y="2361004"/>
              <a:ext cx="243497" cy="24349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E5BD0B56-2502-BE5F-252C-B911061F3A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69482" y="3236285"/>
              <a:ext cx="243497" cy="24349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9DA6C3B-A09D-168F-C4AE-5651B0A19F08}"/>
              </a:ext>
            </a:extLst>
          </p:cNvPr>
          <p:cNvGrpSpPr/>
          <p:nvPr/>
        </p:nvGrpSpPr>
        <p:grpSpPr>
          <a:xfrm>
            <a:off x="2133201" y="4510610"/>
            <a:ext cx="602071" cy="100681"/>
            <a:chOff x="1721244" y="2680260"/>
            <a:chExt cx="696683" cy="117039"/>
          </a:xfrm>
        </p:grpSpPr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354CD85E-E514-0883-98EE-F0232E5D42C3}"/>
                </a:ext>
              </a:extLst>
            </p:cNvPr>
            <p:cNvCxnSpPr>
              <a:cxnSpLocks/>
            </p:cNvCxnSpPr>
            <p:nvPr/>
          </p:nvCxnSpPr>
          <p:spPr>
            <a:xfrm>
              <a:off x="1721244" y="2730760"/>
              <a:ext cx="684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이등변 삼각형 89">
              <a:extLst>
                <a:ext uri="{FF2B5EF4-FFF2-40B4-BE49-F238E27FC236}">
                  <a16:creationId xmlns:a16="http://schemas.microsoft.com/office/drawing/2014/main" id="{9D1032B7-59CC-F4BB-3276-8B83C4423DD4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310110" y="2689482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1C2BD93-12AA-FD94-9D4C-5B7189BBE552}"/>
              </a:ext>
            </a:extLst>
          </p:cNvPr>
          <p:cNvGrpSpPr/>
          <p:nvPr/>
        </p:nvGrpSpPr>
        <p:grpSpPr>
          <a:xfrm>
            <a:off x="3904410" y="4498815"/>
            <a:ext cx="250861" cy="100681"/>
            <a:chOff x="2127644" y="2680260"/>
            <a:chExt cx="290283" cy="117039"/>
          </a:xfrm>
        </p:grpSpPr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1565F54B-C0F8-DBE1-E421-24D60485502B}"/>
                </a:ext>
              </a:extLst>
            </p:cNvPr>
            <p:cNvCxnSpPr>
              <a:cxnSpLocks/>
            </p:cNvCxnSpPr>
            <p:nvPr/>
          </p:nvCxnSpPr>
          <p:spPr>
            <a:xfrm>
              <a:off x="2127644" y="2730760"/>
              <a:ext cx="216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이등변 삼각형 87">
              <a:extLst>
                <a:ext uri="{FF2B5EF4-FFF2-40B4-BE49-F238E27FC236}">
                  <a16:creationId xmlns:a16="http://schemas.microsoft.com/office/drawing/2014/main" id="{9622AF38-BCA3-CDFB-B933-0CB32B2C546F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2310110" y="2689482"/>
              <a:ext cx="117039" cy="9859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7BD0C73-BB42-188B-C81B-3E9FCDB82D47}"/>
              </a:ext>
            </a:extLst>
          </p:cNvPr>
          <p:cNvCxnSpPr>
            <a:cxnSpLocks/>
          </p:cNvCxnSpPr>
          <p:nvPr/>
        </p:nvCxnSpPr>
        <p:spPr>
          <a:xfrm flipH="1">
            <a:off x="4651383" y="5035501"/>
            <a:ext cx="566127" cy="13453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95C2F4C6-6225-47E8-F0A2-4B7EFF3D11B1}"/>
              </a:ext>
            </a:extLst>
          </p:cNvPr>
          <p:cNvCxnSpPr>
            <a:cxnSpLocks/>
          </p:cNvCxnSpPr>
          <p:nvPr/>
        </p:nvCxnSpPr>
        <p:spPr>
          <a:xfrm>
            <a:off x="4610509" y="4028487"/>
            <a:ext cx="594803" cy="1488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D031CC22-8D24-5FBD-C1AB-83289F1C725F}"/>
              </a:ext>
            </a:extLst>
          </p:cNvPr>
          <p:cNvSpPr txBox="1"/>
          <p:nvPr/>
        </p:nvSpPr>
        <p:spPr>
          <a:xfrm>
            <a:off x="711148" y="1211552"/>
            <a:ext cx="6480093" cy="411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extract </a:t>
            </a:r>
            <a:r>
              <a:rPr lang="en-US" altLang="ko-KR" sz="1600" u="sng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temporal features</a:t>
            </a: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adapting to environment transitions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C4A620-B934-10B3-3037-AA69E4E661C3}"/>
              </a:ext>
            </a:extLst>
          </p:cNvPr>
          <p:cNvSpPr txBox="1"/>
          <p:nvPr/>
        </p:nvSpPr>
        <p:spPr>
          <a:xfrm>
            <a:off x="616919" y="657680"/>
            <a:ext cx="5549260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>
                <a:ln>
                  <a:solidFill>
                    <a:srgbClr val="2F518D">
                      <a:alpha val="30000"/>
                    </a:srgbClr>
                  </a:solidFill>
                </a:ln>
                <a:solidFill>
                  <a:srgbClr val="2F518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LSTM-Based Spatio-Temporal Feature Extraction</a:t>
            </a:r>
            <a:endParaRPr lang="en-US" altLang="ko-KR" dirty="0">
              <a:ln>
                <a:solidFill>
                  <a:srgbClr val="2F518D">
                    <a:alpha val="30000"/>
                  </a:srgbClr>
                </a:solidFill>
              </a:ln>
              <a:solidFill>
                <a:srgbClr val="2F518D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5B1CCEC-1B4E-73AC-2C77-A3C720EA301A}"/>
              </a:ext>
            </a:extLst>
          </p:cNvPr>
          <p:cNvSpPr txBox="1"/>
          <p:nvPr/>
        </p:nvSpPr>
        <p:spPr>
          <a:xfrm>
            <a:off x="875235" y="5150016"/>
            <a:ext cx="1257966" cy="5049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input image</a:t>
            </a:r>
          </a:p>
          <a:p>
            <a:pPr algn="ctr"/>
            <a:r>
              <a:rPr lang="en-US" altLang="ko-KR" sz="105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frame (i)</a:t>
            </a:r>
            <a:endParaRPr lang="ko-KR" altLang="en-US" sz="12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17" name="그림 116" descr="신발류, 사람, 청바지, 신발이(가) 표시된 사진&#10;&#10;자동 생성된 설명">
            <a:extLst>
              <a:ext uri="{FF2B5EF4-FFF2-40B4-BE49-F238E27FC236}">
                <a16:creationId xmlns:a16="http://schemas.microsoft.com/office/drawing/2014/main" id="{CE32BD2F-90A7-734E-9CDE-193722B625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37" y="4207429"/>
            <a:ext cx="1515806" cy="866790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6C03BBD9-3C3B-63EF-BF85-533EE6871BA5}"/>
              </a:ext>
            </a:extLst>
          </p:cNvPr>
          <p:cNvGrpSpPr/>
          <p:nvPr/>
        </p:nvGrpSpPr>
        <p:grpSpPr>
          <a:xfrm>
            <a:off x="5016957" y="3723692"/>
            <a:ext cx="5815097" cy="2667247"/>
            <a:chOff x="5074375" y="3503868"/>
            <a:chExt cx="5815097" cy="266724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5AC4375-F3D1-FB46-F67F-CA26F160ABCB}"/>
                </a:ext>
              </a:extLst>
            </p:cNvPr>
            <p:cNvSpPr txBox="1"/>
            <p:nvPr/>
          </p:nvSpPr>
          <p:spPr>
            <a:xfrm>
              <a:off x="5074375" y="5140235"/>
              <a:ext cx="2016710" cy="46224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feature sequence</a:t>
              </a:r>
            </a:p>
            <a:p>
              <a:pPr algn="ctr"/>
              <a:r>
                <a:rPr lang="en-US" altLang="ko-KR" sz="12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(10,8)</a:t>
              </a: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59483608-02E8-E2AC-2A2A-AC5137D0059B}"/>
                </a:ext>
              </a:extLst>
            </p:cNvPr>
            <p:cNvGrpSpPr/>
            <p:nvPr/>
          </p:nvGrpSpPr>
          <p:grpSpPr>
            <a:xfrm>
              <a:off x="5597909" y="3720494"/>
              <a:ext cx="1179545" cy="1125208"/>
              <a:chOff x="5582056" y="1927515"/>
              <a:chExt cx="1364904" cy="1308018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60C3205C-B000-F6A0-12F8-4B99BABB3A9B}"/>
                  </a:ext>
                </a:extLst>
              </p:cNvPr>
              <p:cNvGrpSpPr/>
              <p:nvPr/>
            </p:nvGrpSpPr>
            <p:grpSpPr>
              <a:xfrm>
                <a:off x="5582056" y="1947212"/>
                <a:ext cx="1187570" cy="1288321"/>
                <a:chOff x="5609639" y="1799574"/>
                <a:chExt cx="1187570" cy="1288321"/>
              </a:xfrm>
            </p:grpSpPr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A621BD67-FDE6-02F5-9192-B90C69DED917}"/>
                    </a:ext>
                  </a:extLst>
                </p:cNvPr>
                <p:cNvSpPr/>
                <p:nvPr/>
              </p:nvSpPr>
              <p:spPr>
                <a:xfrm>
                  <a:off x="6007940" y="1799574"/>
                  <a:ext cx="789269" cy="828990"/>
                </a:xfrm>
                <a:prstGeom prst="rect">
                  <a:avLst/>
                </a:prstGeom>
                <a:solidFill>
                  <a:schemeClr val="bg1"/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grpSp>
              <p:nvGrpSpPr>
                <p:cNvPr id="75" name="그룹 74">
                  <a:extLst>
                    <a:ext uri="{FF2B5EF4-FFF2-40B4-BE49-F238E27FC236}">
                      <a16:creationId xmlns:a16="http://schemas.microsoft.com/office/drawing/2014/main" id="{972E3A35-18E8-EA89-0B65-CF7C7312820E}"/>
                    </a:ext>
                  </a:extLst>
                </p:cNvPr>
                <p:cNvGrpSpPr/>
                <p:nvPr/>
              </p:nvGrpSpPr>
              <p:grpSpPr>
                <a:xfrm>
                  <a:off x="5852002" y="2075914"/>
                  <a:ext cx="789269" cy="828990"/>
                  <a:chOff x="5309698" y="2273902"/>
                  <a:chExt cx="789269" cy="975538"/>
                </a:xfrm>
              </p:grpSpPr>
              <p:sp>
                <p:nvSpPr>
                  <p:cNvPr id="85" name="직사각형 84">
                    <a:extLst>
                      <a:ext uri="{FF2B5EF4-FFF2-40B4-BE49-F238E27FC236}">
                        <a16:creationId xmlns:a16="http://schemas.microsoft.com/office/drawing/2014/main" id="{C08B56DF-D5C7-11A0-E85D-E7E380B9549C}"/>
                      </a:ext>
                    </a:extLst>
                  </p:cNvPr>
                  <p:cNvSpPr/>
                  <p:nvPr/>
                </p:nvSpPr>
                <p:spPr>
                  <a:xfrm>
                    <a:off x="5309698" y="2273902"/>
                    <a:ext cx="789269" cy="97553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39CD81B9-EC63-2A32-151C-40313BA4A1A8}"/>
                      </a:ext>
                    </a:extLst>
                  </p:cNvPr>
                  <p:cNvSpPr txBox="1"/>
                  <p:nvPr/>
                </p:nvSpPr>
                <p:spPr>
                  <a:xfrm>
                    <a:off x="5309698" y="2373757"/>
                    <a:ext cx="789269" cy="454316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50000"/>
                      </a:lnSpc>
                    </a:pPr>
                    <a:endParaRPr lang="ko-KR" altLang="en-US" sz="1200"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B5A0EFB4-E5BC-8C12-F216-F2FCB273E12A}"/>
                    </a:ext>
                  </a:extLst>
                </p:cNvPr>
                <p:cNvGrpSpPr/>
                <p:nvPr/>
              </p:nvGrpSpPr>
              <p:grpSpPr>
                <a:xfrm>
                  <a:off x="5740139" y="2169669"/>
                  <a:ext cx="789269" cy="828990"/>
                  <a:chOff x="5309698" y="2273902"/>
                  <a:chExt cx="789269" cy="975538"/>
                </a:xfrm>
              </p:grpSpPr>
              <p:sp>
                <p:nvSpPr>
                  <p:cNvPr id="83" name="직사각형 82">
                    <a:extLst>
                      <a:ext uri="{FF2B5EF4-FFF2-40B4-BE49-F238E27FC236}">
                        <a16:creationId xmlns:a16="http://schemas.microsoft.com/office/drawing/2014/main" id="{D2D15E16-84A2-CFAF-E961-E3B2ED351DAE}"/>
                      </a:ext>
                    </a:extLst>
                  </p:cNvPr>
                  <p:cNvSpPr/>
                  <p:nvPr/>
                </p:nvSpPr>
                <p:spPr>
                  <a:xfrm>
                    <a:off x="5309698" y="2273902"/>
                    <a:ext cx="789269" cy="97553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2A204DC4-F956-4FAF-B453-F60DB7616680}"/>
                      </a:ext>
                    </a:extLst>
                  </p:cNvPr>
                  <p:cNvSpPr txBox="1"/>
                  <p:nvPr/>
                </p:nvSpPr>
                <p:spPr>
                  <a:xfrm>
                    <a:off x="5309698" y="2373757"/>
                    <a:ext cx="789269" cy="454316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50000"/>
                      </a:lnSpc>
                    </a:pPr>
                    <a:endParaRPr lang="ko-KR" altLang="en-US" sz="1200"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  <p:grpSp>
              <p:nvGrpSpPr>
                <p:cNvPr id="77" name="그룹 76">
                  <a:extLst>
                    <a:ext uri="{FF2B5EF4-FFF2-40B4-BE49-F238E27FC236}">
                      <a16:creationId xmlns:a16="http://schemas.microsoft.com/office/drawing/2014/main" id="{301A2961-7068-E1C5-FEE5-3C5ECB4FCA29}"/>
                    </a:ext>
                  </a:extLst>
                </p:cNvPr>
                <p:cNvGrpSpPr/>
                <p:nvPr/>
              </p:nvGrpSpPr>
              <p:grpSpPr>
                <a:xfrm>
                  <a:off x="5609639" y="2258905"/>
                  <a:ext cx="789269" cy="828990"/>
                  <a:chOff x="5309698" y="2273902"/>
                  <a:chExt cx="789269" cy="975538"/>
                </a:xfrm>
              </p:grpSpPr>
              <p:sp>
                <p:nvSpPr>
                  <p:cNvPr id="81" name="직사각형 80">
                    <a:extLst>
                      <a:ext uri="{FF2B5EF4-FFF2-40B4-BE49-F238E27FC236}">
                        <a16:creationId xmlns:a16="http://schemas.microsoft.com/office/drawing/2014/main" id="{538BC53E-BF6D-0A62-EA12-3143C2F038ED}"/>
                      </a:ext>
                    </a:extLst>
                  </p:cNvPr>
                  <p:cNvSpPr/>
                  <p:nvPr/>
                </p:nvSpPr>
                <p:spPr>
                  <a:xfrm>
                    <a:off x="5309698" y="2273902"/>
                    <a:ext cx="789269" cy="975538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751E27C2-15AE-FC97-3C28-5386A8791A42}"/>
                      </a:ext>
                    </a:extLst>
                  </p:cNvPr>
                  <p:cNvSpPr txBox="1"/>
                  <p:nvPr/>
                </p:nvSpPr>
                <p:spPr>
                  <a:xfrm>
                    <a:off x="5309698" y="2373757"/>
                    <a:ext cx="789269" cy="792701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>
                      <a:lnSpc>
                        <a:spcPct val="150000"/>
                      </a:lnSpc>
                    </a:pPr>
                    <a:r>
                      <a:rPr lang="en-US" altLang="ko-KR" sz="12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feature</a:t>
                    </a:r>
                  </a:p>
                  <a:p>
                    <a:pPr algn="ctr">
                      <a:lnSpc>
                        <a:spcPct val="150000"/>
                      </a:lnSpc>
                    </a:pPr>
                    <a:r>
                      <a:rPr lang="en-US" altLang="ko-KR" sz="10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frame (i)</a:t>
                    </a:r>
                    <a:endParaRPr lang="ko-KR" altLang="en-US" sz="1200"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  <p:grpSp>
              <p:nvGrpSpPr>
                <p:cNvPr id="78" name="그룹 77">
                  <a:extLst>
                    <a:ext uri="{FF2B5EF4-FFF2-40B4-BE49-F238E27FC236}">
                      <a16:creationId xmlns:a16="http://schemas.microsoft.com/office/drawing/2014/main" id="{7BD27F65-C561-406B-523D-8C69C917A40F}"/>
                    </a:ext>
                  </a:extLst>
                </p:cNvPr>
                <p:cNvGrpSpPr/>
                <p:nvPr/>
              </p:nvGrpSpPr>
              <p:grpSpPr>
                <a:xfrm rot="2265892">
                  <a:off x="6279184" y="1928254"/>
                  <a:ext cx="36765" cy="121323"/>
                  <a:chOff x="7711612" y="5012590"/>
                  <a:chExt cx="36765" cy="121323"/>
                </a:xfrm>
              </p:grpSpPr>
              <p:sp>
                <p:nvSpPr>
                  <p:cNvPr id="79" name="타원 78">
                    <a:extLst>
                      <a:ext uri="{FF2B5EF4-FFF2-40B4-BE49-F238E27FC236}">
                        <a16:creationId xmlns:a16="http://schemas.microsoft.com/office/drawing/2014/main" id="{2C63BE58-C981-ED8F-6229-3C0395CF820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rot="798471">
                    <a:off x="7712377" y="5012590"/>
                    <a:ext cx="36000" cy="36000"/>
                  </a:xfrm>
                  <a:prstGeom prst="ellipse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80" name="타원 79">
                    <a:extLst>
                      <a:ext uri="{FF2B5EF4-FFF2-40B4-BE49-F238E27FC236}">
                        <a16:creationId xmlns:a16="http://schemas.microsoft.com/office/drawing/2014/main" id="{F8D250DC-3017-6702-6854-DB94BFABC3D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rot="798471">
                    <a:off x="7711612" y="5097913"/>
                    <a:ext cx="36000" cy="36000"/>
                  </a:xfrm>
                  <a:prstGeom prst="ellipse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</p:grpSp>
          <p:sp>
            <p:nvSpPr>
              <p:cNvPr id="72" name="타원 71">
                <a:extLst>
                  <a:ext uri="{FF2B5EF4-FFF2-40B4-BE49-F238E27FC236}">
                    <a16:creationId xmlns:a16="http://schemas.microsoft.com/office/drawing/2014/main" id="{5F8ADCE2-091A-930D-7572-B814F3A503B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3064363">
                <a:off x="6333328" y="2011563"/>
                <a:ext cx="36000" cy="360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F5CD8E6-C6C2-EBC5-B731-F361B5A608FB}"/>
                  </a:ext>
                </a:extLst>
              </p:cNvPr>
              <p:cNvSpPr txBox="1"/>
              <p:nvPr/>
            </p:nvSpPr>
            <p:spPr>
              <a:xfrm>
                <a:off x="6223981" y="1927515"/>
                <a:ext cx="722979" cy="3044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05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i+10</a:t>
                </a:r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11EB2AD2-03AB-FFBF-F3A2-636FEB1BB41A}"/>
                </a:ext>
              </a:extLst>
            </p:cNvPr>
            <p:cNvGrpSpPr/>
            <p:nvPr/>
          </p:nvGrpSpPr>
          <p:grpSpPr>
            <a:xfrm>
              <a:off x="6710680" y="4437671"/>
              <a:ext cx="250861" cy="100681"/>
              <a:chOff x="2127644" y="2680260"/>
              <a:chExt cx="290283" cy="117039"/>
            </a:xfrm>
          </p:grpSpPr>
          <p:cxnSp>
            <p:nvCxnSpPr>
              <p:cNvPr id="68" name="직선 연결선 67">
                <a:extLst>
                  <a:ext uri="{FF2B5EF4-FFF2-40B4-BE49-F238E27FC236}">
                    <a16:creationId xmlns:a16="http://schemas.microsoft.com/office/drawing/2014/main" id="{44E6103F-4796-B1B6-C273-3A69CF7C99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7644" y="2730760"/>
                <a:ext cx="216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0" name="이등변 삼각형 69">
                <a:extLst>
                  <a:ext uri="{FF2B5EF4-FFF2-40B4-BE49-F238E27FC236}">
                    <a16:creationId xmlns:a16="http://schemas.microsoft.com/office/drawing/2014/main" id="{4395CBD2-D918-7E0F-E129-4BA6F86D1AE5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310110" y="2689482"/>
                <a:ext cx="117039" cy="98595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DDAB00E3-E80D-B775-50C0-51B8F300E31F}"/>
                </a:ext>
              </a:extLst>
            </p:cNvPr>
            <p:cNvGrpSpPr/>
            <p:nvPr/>
          </p:nvGrpSpPr>
          <p:grpSpPr>
            <a:xfrm>
              <a:off x="6685132" y="3920975"/>
              <a:ext cx="2348526" cy="1516880"/>
              <a:chOff x="6773677" y="1981712"/>
              <a:chExt cx="2717584" cy="1763325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623409B-B34C-678B-1938-D0776EC2D78B}"/>
                  </a:ext>
                </a:extLst>
              </p:cNvPr>
              <p:cNvSpPr txBox="1"/>
              <p:nvPr/>
            </p:nvSpPr>
            <p:spPr>
              <a:xfrm>
                <a:off x="6773677" y="3413959"/>
                <a:ext cx="1628773" cy="32240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LSTM1 layer</a:t>
                </a:r>
                <a:endParaRPr lang="ko-KR" altLang="en-US" sz="12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51" name="그룹 50">
                <a:extLst>
                  <a:ext uri="{FF2B5EF4-FFF2-40B4-BE49-F238E27FC236}">
                    <a16:creationId xmlns:a16="http://schemas.microsoft.com/office/drawing/2014/main" id="{EBF14006-F950-C30E-0FD4-07DF335DEF5C}"/>
                  </a:ext>
                </a:extLst>
              </p:cNvPr>
              <p:cNvGrpSpPr/>
              <p:nvPr/>
            </p:nvGrpSpPr>
            <p:grpSpPr>
              <a:xfrm>
                <a:off x="7148594" y="1981712"/>
                <a:ext cx="839337" cy="1339912"/>
                <a:chOff x="7242078" y="2023651"/>
                <a:chExt cx="839337" cy="1339912"/>
              </a:xfrm>
            </p:grpSpPr>
            <p:sp>
              <p:nvSpPr>
                <p:cNvPr id="61" name="직사각형 60">
                  <a:extLst>
                    <a:ext uri="{FF2B5EF4-FFF2-40B4-BE49-F238E27FC236}">
                      <a16:creationId xmlns:a16="http://schemas.microsoft.com/office/drawing/2014/main" id="{A947831E-AFE1-43EC-62BC-80BD352C7D0F}"/>
                    </a:ext>
                  </a:extLst>
                </p:cNvPr>
                <p:cNvSpPr/>
                <p:nvPr/>
              </p:nvSpPr>
              <p:spPr>
                <a:xfrm>
                  <a:off x="7242078" y="2023651"/>
                  <a:ext cx="839337" cy="1339912"/>
                </a:xfrm>
                <a:prstGeom prst="rect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grpSp>
              <p:nvGrpSpPr>
                <p:cNvPr id="62" name="그룹 61">
                  <a:extLst>
                    <a:ext uri="{FF2B5EF4-FFF2-40B4-BE49-F238E27FC236}">
                      <a16:creationId xmlns:a16="http://schemas.microsoft.com/office/drawing/2014/main" id="{C60A537B-898A-DD24-8C6A-9BBD0A8C83AB}"/>
                    </a:ext>
                  </a:extLst>
                </p:cNvPr>
                <p:cNvGrpSpPr/>
                <p:nvPr/>
              </p:nvGrpSpPr>
              <p:grpSpPr>
                <a:xfrm>
                  <a:off x="7273201" y="2313408"/>
                  <a:ext cx="777090" cy="327786"/>
                  <a:chOff x="7262552" y="2266273"/>
                  <a:chExt cx="777090" cy="327786"/>
                </a:xfrm>
              </p:grpSpPr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01FC4952-5F9B-EBE0-5070-5F83F1F16287}"/>
                      </a:ext>
                    </a:extLst>
                  </p:cNvPr>
                  <p:cNvSpPr txBox="1"/>
                  <p:nvPr/>
                </p:nvSpPr>
                <p:spPr>
                  <a:xfrm>
                    <a:off x="7262552" y="2289564"/>
                    <a:ext cx="777090" cy="304495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5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LSTM</a:t>
                    </a:r>
                    <a:endParaRPr lang="ko-KR" altLang="en-US" sz="1050" dirty="0"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67" name="직사각형 66">
                    <a:extLst>
                      <a:ext uri="{FF2B5EF4-FFF2-40B4-BE49-F238E27FC236}">
                        <a16:creationId xmlns:a16="http://schemas.microsoft.com/office/drawing/2014/main" id="{72AB4292-1DD8-65D0-EA5D-34B101B9D505}"/>
                      </a:ext>
                    </a:extLst>
                  </p:cNvPr>
                  <p:cNvSpPr/>
                  <p:nvPr/>
                </p:nvSpPr>
                <p:spPr>
                  <a:xfrm>
                    <a:off x="7295842" y="2266273"/>
                    <a:ext cx="710510" cy="323580"/>
                  </a:xfrm>
                  <a:prstGeom prst="rect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  <p:grpSp>
              <p:nvGrpSpPr>
                <p:cNvPr id="63" name="그룹 62">
                  <a:extLst>
                    <a:ext uri="{FF2B5EF4-FFF2-40B4-BE49-F238E27FC236}">
                      <a16:creationId xmlns:a16="http://schemas.microsoft.com/office/drawing/2014/main" id="{95992216-E911-2047-07E4-FA62B47DB25B}"/>
                    </a:ext>
                  </a:extLst>
                </p:cNvPr>
                <p:cNvGrpSpPr/>
                <p:nvPr/>
              </p:nvGrpSpPr>
              <p:grpSpPr>
                <a:xfrm>
                  <a:off x="7273202" y="2824136"/>
                  <a:ext cx="777089" cy="327786"/>
                  <a:chOff x="7261626" y="2871271"/>
                  <a:chExt cx="777089" cy="327786"/>
                </a:xfrm>
              </p:grpSpPr>
              <p:sp>
                <p:nvSpPr>
                  <p:cNvPr id="64" name="직사각형 63">
                    <a:extLst>
                      <a:ext uri="{FF2B5EF4-FFF2-40B4-BE49-F238E27FC236}">
                        <a16:creationId xmlns:a16="http://schemas.microsoft.com/office/drawing/2014/main" id="{4A46A23F-0286-53CC-C23E-3C51AE7D62F2}"/>
                      </a:ext>
                    </a:extLst>
                  </p:cNvPr>
                  <p:cNvSpPr/>
                  <p:nvPr/>
                </p:nvSpPr>
                <p:spPr>
                  <a:xfrm>
                    <a:off x="7294915" y="2871271"/>
                    <a:ext cx="710510" cy="323580"/>
                  </a:xfrm>
                  <a:prstGeom prst="rect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D9557A1E-D32A-96E9-C6B1-B6CBE6E8E4B4}"/>
                      </a:ext>
                    </a:extLst>
                  </p:cNvPr>
                  <p:cNvSpPr txBox="1"/>
                  <p:nvPr/>
                </p:nvSpPr>
                <p:spPr>
                  <a:xfrm>
                    <a:off x="7261626" y="2894562"/>
                    <a:ext cx="777089" cy="304495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5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LSTM</a:t>
                    </a:r>
                    <a:endParaRPr lang="ko-KR" altLang="en-US" sz="1050" dirty="0"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</p:grpSp>
          <p:grpSp>
            <p:nvGrpSpPr>
              <p:cNvPr id="52" name="그룹 51">
                <a:extLst>
                  <a:ext uri="{FF2B5EF4-FFF2-40B4-BE49-F238E27FC236}">
                    <a16:creationId xmlns:a16="http://schemas.microsoft.com/office/drawing/2014/main" id="{349261C5-B135-2989-7DB1-507527FA3CEB}"/>
                  </a:ext>
                </a:extLst>
              </p:cNvPr>
              <p:cNvGrpSpPr/>
              <p:nvPr/>
            </p:nvGrpSpPr>
            <p:grpSpPr>
              <a:xfrm>
                <a:off x="8223885" y="1981712"/>
                <a:ext cx="839337" cy="1339912"/>
                <a:chOff x="7242078" y="2023651"/>
                <a:chExt cx="839337" cy="1339912"/>
              </a:xfrm>
            </p:grpSpPr>
            <p:sp>
              <p:nvSpPr>
                <p:cNvPr id="54" name="직사각형 53">
                  <a:extLst>
                    <a:ext uri="{FF2B5EF4-FFF2-40B4-BE49-F238E27FC236}">
                      <a16:creationId xmlns:a16="http://schemas.microsoft.com/office/drawing/2014/main" id="{53AE95A6-28F0-A494-C274-C5A8EE367796}"/>
                    </a:ext>
                  </a:extLst>
                </p:cNvPr>
                <p:cNvSpPr/>
                <p:nvPr/>
              </p:nvSpPr>
              <p:spPr>
                <a:xfrm>
                  <a:off x="7242078" y="2023651"/>
                  <a:ext cx="839337" cy="1339912"/>
                </a:xfrm>
                <a:prstGeom prst="rect">
                  <a:avLst/>
                </a:prstGeom>
                <a:noFill/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grpSp>
              <p:nvGrpSpPr>
                <p:cNvPr id="55" name="그룹 54">
                  <a:extLst>
                    <a:ext uri="{FF2B5EF4-FFF2-40B4-BE49-F238E27FC236}">
                      <a16:creationId xmlns:a16="http://schemas.microsoft.com/office/drawing/2014/main" id="{D77F0FC4-10F3-F56B-BE82-E098959A5E13}"/>
                    </a:ext>
                  </a:extLst>
                </p:cNvPr>
                <p:cNvGrpSpPr/>
                <p:nvPr/>
              </p:nvGrpSpPr>
              <p:grpSpPr>
                <a:xfrm>
                  <a:off x="7273201" y="2313408"/>
                  <a:ext cx="777090" cy="327786"/>
                  <a:chOff x="7262552" y="2266273"/>
                  <a:chExt cx="777090" cy="327786"/>
                </a:xfrm>
              </p:grpSpPr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A263A20A-3B33-4F6D-110E-DC6F03237D31}"/>
                      </a:ext>
                    </a:extLst>
                  </p:cNvPr>
                  <p:cNvSpPr txBox="1"/>
                  <p:nvPr/>
                </p:nvSpPr>
                <p:spPr>
                  <a:xfrm>
                    <a:off x="7262552" y="2289564"/>
                    <a:ext cx="777090" cy="304495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5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LSTM</a:t>
                    </a:r>
                    <a:endParaRPr lang="ko-KR" altLang="en-US" sz="1050" dirty="0"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60" name="직사각형 59">
                    <a:extLst>
                      <a:ext uri="{FF2B5EF4-FFF2-40B4-BE49-F238E27FC236}">
                        <a16:creationId xmlns:a16="http://schemas.microsoft.com/office/drawing/2014/main" id="{A745DC3B-CFE8-50A7-E213-38FD4C58373F}"/>
                      </a:ext>
                    </a:extLst>
                  </p:cNvPr>
                  <p:cNvSpPr/>
                  <p:nvPr/>
                </p:nvSpPr>
                <p:spPr>
                  <a:xfrm>
                    <a:off x="7295842" y="2266273"/>
                    <a:ext cx="710510" cy="323580"/>
                  </a:xfrm>
                  <a:prstGeom prst="rect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  <p:grpSp>
              <p:nvGrpSpPr>
                <p:cNvPr id="56" name="그룹 55">
                  <a:extLst>
                    <a:ext uri="{FF2B5EF4-FFF2-40B4-BE49-F238E27FC236}">
                      <a16:creationId xmlns:a16="http://schemas.microsoft.com/office/drawing/2014/main" id="{F5A14214-6976-9601-54BE-0C5B66F61BEA}"/>
                    </a:ext>
                  </a:extLst>
                </p:cNvPr>
                <p:cNvGrpSpPr/>
                <p:nvPr/>
              </p:nvGrpSpPr>
              <p:grpSpPr>
                <a:xfrm>
                  <a:off x="7273202" y="2824136"/>
                  <a:ext cx="777089" cy="327786"/>
                  <a:chOff x="7261626" y="2871271"/>
                  <a:chExt cx="777089" cy="327786"/>
                </a:xfrm>
              </p:grpSpPr>
              <p:sp>
                <p:nvSpPr>
                  <p:cNvPr id="57" name="직사각형 56">
                    <a:extLst>
                      <a:ext uri="{FF2B5EF4-FFF2-40B4-BE49-F238E27FC236}">
                        <a16:creationId xmlns:a16="http://schemas.microsoft.com/office/drawing/2014/main" id="{C00C5C00-D78D-67E4-6BBC-AAC2DFAC5DAB}"/>
                      </a:ext>
                    </a:extLst>
                  </p:cNvPr>
                  <p:cNvSpPr/>
                  <p:nvPr/>
                </p:nvSpPr>
                <p:spPr>
                  <a:xfrm>
                    <a:off x="7294915" y="2871271"/>
                    <a:ext cx="710510" cy="323580"/>
                  </a:xfrm>
                  <a:prstGeom prst="rect">
                    <a:avLst/>
                  </a:prstGeom>
                  <a:noFill/>
                  <a:ln w="127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B5473D33-65CE-3930-CA4E-2FE3F4965542}"/>
                      </a:ext>
                    </a:extLst>
                  </p:cNvPr>
                  <p:cNvSpPr txBox="1"/>
                  <p:nvPr/>
                </p:nvSpPr>
                <p:spPr>
                  <a:xfrm>
                    <a:off x="7261626" y="2894562"/>
                    <a:ext cx="777089" cy="304495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ko-KR" sz="105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LSTM</a:t>
                    </a:r>
                    <a:endParaRPr lang="ko-KR" altLang="en-US" sz="1050" dirty="0">
                      <a:latin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7AF9D2B-296C-DC2D-0F37-3235AE9A6EB0}"/>
                  </a:ext>
                </a:extLst>
              </p:cNvPr>
              <p:cNvSpPr txBox="1"/>
              <p:nvPr/>
            </p:nvSpPr>
            <p:spPr>
              <a:xfrm>
                <a:off x="7862488" y="3422631"/>
                <a:ext cx="1628773" cy="32240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LSTM2 layer</a:t>
                </a:r>
                <a:endParaRPr lang="ko-KR" altLang="en-US" sz="1200" dirty="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F7AEC4E-6F54-C608-72E2-35644445DD5E}"/>
                </a:ext>
              </a:extLst>
            </p:cNvPr>
            <p:cNvSpPr txBox="1"/>
            <p:nvPr/>
          </p:nvSpPr>
          <p:spPr>
            <a:xfrm>
              <a:off x="8258367" y="5708871"/>
              <a:ext cx="2016710" cy="46224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fully connected layer</a:t>
              </a:r>
            </a:p>
            <a:p>
              <a:pPr algn="ctr"/>
              <a:r>
                <a:rPr lang="en-US" altLang="ko-KR" sz="12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(128)</a:t>
              </a: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93D46980-561D-C19A-A9F2-40D29FC4F44F}"/>
                </a:ext>
              </a:extLst>
            </p:cNvPr>
            <p:cNvGrpSpPr/>
            <p:nvPr/>
          </p:nvGrpSpPr>
          <p:grpSpPr>
            <a:xfrm>
              <a:off x="8663120" y="4437311"/>
              <a:ext cx="250861" cy="100681"/>
              <a:chOff x="2127644" y="2680260"/>
              <a:chExt cx="290283" cy="117039"/>
            </a:xfrm>
          </p:grpSpPr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EF804D1D-EA94-0491-7C87-636539DAAF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7644" y="2730760"/>
                <a:ext cx="2160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2" name="이등변 삼각형 41">
                <a:extLst>
                  <a:ext uri="{FF2B5EF4-FFF2-40B4-BE49-F238E27FC236}">
                    <a16:creationId xmlns:a16="http://schemas.microsoft.com/office/drawing/2014/main" id="{A916471A-EDE6-6C53-40FB-992C79FA4636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310110" y="2689482"/>
                <a:ext cx="117039" cy="98595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5757D6E-D20D-BBF5-2D12-37D7F33DB206}"/>
                </a:ext>
              </a:extLst>
            </p:cNvPr>
            <p:cNvSpPr txBox="1"/>
            <p:nvPr/>
          </p:nvSpPr>
          <p:spPr>
            <a:xfrm>
              <a:off x="9689968" y="5187478"/>
              <a:ext cx="1000019" cy="4622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class </a:t>
              </a:r>
            </a:p>
            <a:p>
              <a:pPr algn="ctr"/>
              <a:r>
                <a:rPr lang="en-US" altLang="ko-KR" sz="12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(3)</a:t>
              </a:r>
              <a:endParaRPr lang="ko-KR" altLang="en-US" sz="120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399346C5-0F3C-2AEB-0A91-FAB04748B857}"/>
                </a:ext>
              </a:extLst>
            </p:cNvPr>
            <p:cNvGrpSpPr/>
            <p:nvPr/>
          </p:nvGrpSpPr>
          <p:grpSpPr>
            <a:xfrm>
              <a:off x="9477203" y="4437045"/>
              <a:ext cx="453730" cy="100681"/>
              <a:chOff x="1979355" y="2680260"/>
              <a:chExt cx="525031" cy="117039"/>
            </a:xfrm>
          </p:grpSpPr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5D217ECC-9217-810D-BAC0-DF1EAF10AC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79355" y="2730760"/>
                <a:ext cx="508289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0" name="이등변 삼각형 39">
                <a:extLst>
                  <a:ext uri="{FF2B5EF4-FFF2-40B4-BE49-F238E27FC236}">
                    <a16:creationId xmlns:a16="http://schemas.microsoft.com/office/drawing/2014/main" id="{115A8F90-CBE2-F720-45D7-AACFB18B391C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6200000" flipV="1">
                <a:off x="2396569" y="2689482"/>
                <a:ext cx="117039" cy="98595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73F29D7-82BA-0DA1-0198-1EA1B22EA1A1}"/>
                </a:ext>
              </a:extLst>
            </p:cNvPr>
            <p:cNvSpPr txBox="1"/>
            <p:nvPr/>
          </p:nvSpPr>
          <p:spPr>
            <a:xfrm>
              <a:off x="9357240" y="4150562"/>
              <a:ext cx="725516" cy="27734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softmax</a:t>
              </a:r>
              <a:endParaRPr lang="ko-KR" altLang="en-US" sz="120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91694689-F9AF-4D81-6284-E4D01AFD90EA}"/>
                </a:ext>
              </a:extLst>
            </p:cNvPr>
            <p:cNvGrpSpPr/>
            <p:nvPr/>
          </p:nvGrpSpPr>
          <p:grpSpPr>
            <a:xfrm>
              <a:off x="10046357" y="3946506"/>
              <a:ext cx="287244" cy="1129411"/>
              <a:chOff x="11017628" y="2237958"/>
              <a:chExt cx="332383" cy="1312904"/>
            </a:xfrm>
          </p:grpSpPr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74460045-D7B3-8766-7AD3-094F6BEFCC4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017628" y="2237958"/>
                <a:ext cx="332383" cy="332383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37" name="타원 36">
                <a:extLst>
                  <a:ext uri="{FF2B5EF4-FFF2-40B4-BE49-F238E27FC236}">
                    <a16:creationId xmlns:a16="http://schemas.microsoft.com/office/drawing/2014/main" id="{7B8F2E80-CF10-CF84-2EE5-28F5A16CE99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017628" y="2728219"/>
                <a:ext cx="332383" cy="332383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9B7845B7-ED9A-0DF2-99A9-1628AF397A8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017628" y="3218479"/>
                <a:ext cx="332383" cy="332383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BC565A50-5216-A242-400C-8BBC72ECB1C3}"/>
                </a:ext>
              </a:extLst>
            </p:cNvPr>
            <p:cNvGrpSpPr/>
            <p:nvPr/>
          </p:nvGrpSpPr>
          <p:grpSpPr>
            <a:xfrm>
              <a:off x="10389463" y="3940844"/>
              <a:ext cx="500009" cy="1126842"/>
              <a:chOff x="11384876" y="2114967"/>
              <a:chExt cx="578583" cy="1309918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C7C1BFC-CFE7-877A-C1CA-41727D59DBAA}"/>
                  </a:ext>
                </a:extLst>
              </p:cNvPr>
              <p:cNvSpPr txBox="1"/>
              <p:nvPr/>
            </p:nvSpPr>
            <p:spPr>
              <a:xfrm>
                <a:off x="11384876" y="2608723"/>
                <a:ext cx="578583" cy="322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2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DC</a:t>
                </a:r>
                <a:endParaRPr lang="ko-KR" altLang="en-US" sz="120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AB0AF26-A833-1A2D-2C2A-64C444373C4F}"/>
                  </a:ext>
                </a:extLst>
              </p:cNvPr>
              <p:cNvSpPr txBox="1"/>
              <p:nvPr/>
            </p:nvSpPr>
            <p:spPr>
              <a:xfrm>
                <a:off x="11384876" y="3102479"/>
                <a:ext cx="578583" cy="322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2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IC</a:t>
                </a:r>
                <a:endParaRPr lang="ko-KR" altLang="en-US" sz="120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CB4EA7A-2271-3539-736F-106C2049AFF1}"/>
                  </a:ext>
                </a:extLst>
              </p:cNvPr>
              <p:cNvSpPr txBox="1"/>
              <p:nvPr/>
            </p:nvSpPr>
            <p:spPr>
              <a:xfrm>
                <a:off x="11384876" y="2114967"/>
                <a:ext cx="545870" cy="322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20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LG</a:t>
                </a:r>
                <a:endParaRPr lang="ko-KR" altLang="en-US" sz="120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B47631BB-D0DC-FD2E-5DA9-6ED6F435104C}"/>
                </a:ext>
              </a:extLst>
            </p:cNvPr>
            <p:cNvCxnSpPr>
              <a:cxnSpLocks/>
              <a:stCxn id="61" idx="3"/>
            </p:cNvCxnSpPr>
            <p:nvPr/>
          </p:nvCxnSpPr>
          <p:spPr>
            <a:xfrm flipV="1">
              <a:off x="7734485" y="4468693"/>
              <a:ext cx="14379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이등변 삼각형 30">
              <a:extLst>
                <a:ext uri="{FF2B5EF4-FFF2-40B4-BE49-F238E27FC236}">
                  <a16:creationId xmlns:a16="http://schemas.microsoft.com/office/drawing/2014/main" id="{90FBFAE0-C414-3A51-C148-FE1A2380A3C0}"/>
                </a:ext>
              </a:extLst>
            </p:cNvPr>
            <p:cNvSpPr>
              <a:spLocks noChangeAspect="1"/>
            </p:cNvSpPr>
            <p:nvPr/>
          </p:nvSpPr>
          <p:spPr>
            <a:xfrm rot="16200000" flipV="1">
              <a:off x="7849528" y="4432989"/>
              <a:ext cx="100681" cy="85205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141" name="그룹 140">
              <a:extLst>
                <a:ext uri="{FF2B5EF4-FFF2-40B4-BE49-F238E27FC236}">
                  <a16:creationId xmlns:a16="http://schemas.microsoft.com/office/drawing/2014/main" id="{23B23C28-34D2-9B0D-3065-3339ED09E9C4}"/>
                </a:ext>
              </a:extLst>
            </p:cNvPr>
            <p:cNvGrpSpPr/>
            <p:nvPr/>
          </p:nvGrpSpPr>
          <p:grpSpPr>
            <a:xfrm>
              <a:off x="9076233" y="3503868"/>
              <a:ext cx="255061" cy="1977360"/>
              <a:chOff x="9076233" y="3503868"/>
              <a:chExt cx="255061" cy="1977360"/>
            </a:xfrm>
          </p:grpSpPr>
          <p:sp>
            <p:nvSpPr>
              <p:cNvPr id="43" name="타원 42">
                <a:extLst>
                  <a:ext uri="{FF2B5EF4-FFF2-40B4-BE49-F238E27FC236}">
                    <a16:creationId xmlns:a16="http://schemas.microsoft.com/office/drawing/2014/main" id="{1B051A4F-4D69-0B57-9998-832D4C04CE7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76233" y="3503868"/>
                <a:ext cx="251598" cy="250446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4" name="타원 43">
                <a:extLst>
                  <a:ext uri="{FF2B5EF4-FFF2-40B4-BE49-F238E27FC236}">
                    <a16:creationId xmlns:a16="http://schemas.microsoft.com/office/drawing/2014/main" id="{2F71F670-7D68-3827-06C0-349BDFBE43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79696" y="3911925"/>
                <a:ext cx="251598" cy="250446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5" name="타원 44">
                <a:extLst>
                  <a:ext uri="{FF2B5EF4-FFF2-40B4-BE49-F238E27FC236}">
                    <a16:creationId xmlns:a16="http://schemas.microsoft.com/office/drawing/2014/main" id="{A4415993-1B06-8DE1-FCFD-E6614E2D243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76233" y="4319982"/>
                <a:ext cx="251598" cy="250446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5081B1B2-C9C4-4B25-F620-47E3C05C04D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076233" y="5230782"/>
                <a:ext cx="251598" cy="250446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3B6F92F2-1CDA-8C7B-30CC-488AB6A08EF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86476" y="4718709"/>
                <a:ext cx="31111" cy="3096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42441117-EAD6-93AA-77D6-3DACD05EE1C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86476" y="4841567"/>
                <a:ext cx="31111" cy="3096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9" name="타원 48">
                <a:extLst>
                  <a:ext uri="{FF2B5EF4-FFF2-40B4-BE49-F238E27FC236}">
                    <a16:creationId xmlns:a16="http://schemas.microsoft.com/office/drawing/2014/main" id="{D378BCF3-5BD8-059B-DC49-BBADB8ADB04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86476" y="5087284"/>
                <a:ext cx="31111" cy="3096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39" name="타원 138">
                <a:extLst>
                  <a:ext uri="{FF2B5EF4-FFF2-40B4-BE49-F238E27FC236}">
                    <a16:creationId xmlns:a16="http://schemas.microsoft.com/office/drawing/2014/main" id="{DE96F135-FDC9-AF75-A1D6-AADD7E80D3C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186476" y="4964425"/>
                <a:ext cx="31111" cy="30969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</p:grpSp>
      <p:sp>
        <p:nvSpPr>
          <p:cNvPr id="143" name="타원 142">
            <a:extLst>
              <a:ext uri="{FF2B5EF4-FFF2-40B4-BE49-F238E27FC236}">
                <a16:creationId xmlns:a16="http://schemas.microsoft.com/office/drawing/2014/main" id="{2CAF5459-EDC8-40F6-F51F-CCEC79E04A1C}"/>
              </a:ext>
            </a:extLst>
          </p:cNvPr>
          <p:cNvSpPr>
            <a:spLocks noChangeAspect="1"/>
          </p:cNvSpPr>
          <p:nvPr/>
        </p:nvSpPr>
        <p:spPr>
          <a:xfrm>
            <a:off x="4408154" y="4590298"/>
            <a:ext cx="31111" cy="3096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4" name="타원 143">
            <a:extLst>
              <a:ext uri="{FF2B5EF4-FFF2-40B4-BE49-F238E27FC236}">
                <a16:creationId xmlns:a16="http://schemas.microsoft.com/office/drawing/2014/main" id="{BF93073F-797B-0A13-4E42-D15F1BEDC9C9}"/>
              </a:ext>
            </a:extLst>
          </p:cNvPr>
          <p:cNvSpPr>
            <a:spLocks noChangeAspect="1"/>
          </p:cNvSpPr>
          <p:nvPr/>
        </p:nvSpPr>
        <p:spPr>
          <a:xfrm>
            <a:off x="4408154" y="4713156"/>
            <a:ext cx="31111" cy="3096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2B2F5824-0570-EA46-588A-105E17E621A2}"/>
              </a:ext>
            </a:extLst>
          </p:cNvPr>
          <p:cNvSpPr>
            <a:spLocks noChangeAspect="1"/>
          </p:cNvSpPr>
          <p:nvPr/>
        </p:nvSpPr>
        <p:spPr>
          <a:xfrm>
            <a:off x="4408154" y="4958873"/>
            <a:ext cx="31111" cy="3096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6" name="타원 145">
            <a:extLst>
              <a:ext uri="{FF2B5EF4-FFF2-40B4-BE49-F238E27FC236}">
                <a16:creationId xmlns:a16="http://schemas.microsoft.com/office/drawing/2014/main" id="{47A1D1FE-4D77-D840-1393-F44CAC39ACB8}"/>
              </a:ext>
            </a:extLst>
          </p:cNvPr>
          <p:cNvSpPr>
            <a:spLocks noChangeAspect="1"/>
          </p:cNvSpPr>
          <p:nvPr/>
        </p:nvSpPr>
        <p:spPr>
          <a:xfrm>
            <a:off x="4408154" y="4836014"/>
            <a:ext cx="31111" cy="30969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7873E69F-6F7E-045E-C3EA-971F979BBBEB}"/>
              </a:ext>
            </a:extLst>
          </p:cNvPr>
          <p:cNvGrpSpPr/>
          <p:nvPr/>
        </p:nvGrpSpPr>
        <p:grpSpPr>
          <a:xfrm>
            <a:off x="479487" y="1759847"/>
            <a:ext cx="3580177" cy="1543643"/>
            <a:chOff x="460890" y="1688907"/>
            <a:chExt cx="3580177" cy="1543643"/>
          </a:xfrm>
        </p:grpSpPr>
        <p:sp>
          <p:nvSpPr>
            <p:cNvPr id="119" name="타원 118">
              <a:extLst>
                <a:ext uri="{FF2B5EF4-FFF2-40B4-BE49-F238E27FC236}">
                  <a16:creationId xmlns:a16="http://schemas.microsoft.com/office/drawing/2014/main" id="{CA128E8D-7935-7DA0-1393-F3184FB7BA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890" y="1865897"/>
              <a:ext cx="563811" cy="563811"/>
            </a:xfrm>
            <a:prstGeom prst="ellipse">
              <a:avLst/>
            </a:prstGeom>
            <a:solidFill>
              <a:srgbClr val="2F518D"/>
            </a:solidFill>
            <a:ln>
              <a:solidFill>
                <a:srgbClr val="2F518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B7E194AF-A7A6-DC10-84DB-E0B1E5017D8E}"/>
                </a:ext>
              </a:extLst>
            </p:cNvPr>
            <p:cNvSpPr txBox="1"/>
            <p:nvPr/>
          </p:nvSpPr>
          <p:spPr>
            <a:xfrm>
              <a:off x="1108877" y="1688907"/>
              <a:ext cx="1976338" cy="4514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>
                  <a:ln>
                    <a:solidFill>
                      <a:srgbClr val="2F518D">
                        <a:alpha val="30000"/>
                      </a:srgbClr>
                    </a:solidFill>
                  </a:ln>
                  <a:solidFill>
                    <a:srgbClr val="2F518D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Data Preparation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5D319C9C-7457-1FFE-4DD8-D912ACAE5560}"/>
                </a:ext>
              </a:extLst>
            </p:cNvPr>
            <p:cNvSpPr txBox="1"/>
            <p:nvPr/>
          </p:nvSpPr>
          <p:spPr>
            <a:xfrm>
              <a:off x="1125285" y="2069859"/>
              <a:ext cx="2915782" cy="11626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2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Frame Sampling: </a:t>
              </a:r>
              <a:r>
                <a:rPr lang="en-US" altLang="ko-KR" sz="1200" b="1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20 FPS</a:t>
              </a: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2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 class for 10 frames, 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with a stride of 5 (</a:t>
              </a:r>
              <a:r>
                <a:rPr lang="en-US" altLang="ko-KR" sz="1200" b="1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4 labels/sec</a:t>
              </a:r>
              <a:r>
                <a:rPr lang="en-US" altLang="ko-KR" sz="12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)</a:t>
              </a:r>
              <a:endParaRPr lang="en-US" altLang="ko-KR" sz="1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2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Sequence shape: </a:t>
              </a:r>
              <a:r>
                <a:rPr lang="en-US" altLang="ko-KR" sz="1200" b="1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(1714, 10,8)</a:t>
              </a:r>
            </a:p>
          </p:txBody>
        </p:sp>
        <p:pic>
          <p:nvPicPr>
            <p:cNvPr id="150" name="그림 149" descr="그래픽, 상징, 폰트, 디자인이(가) 표시된 사진&#10;&#10;자동 생성된 설명">
              <a:extLst>
                <a:ext uri="{FF2B5EF4-FFF2-40B4-BE49-F238E27FC236}">
                  <a16:creationId xmlns:a16="http://schemas.microsoft.com/office/drawing/2014/main" id="{F6F33271-A083-BB42-99EE-584849058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9186" y="1972854"/>
              <a:ext cx="376065" cy="376065"/>
            </a:xfrm>
            <a:prstGeom prst="rect">
              <a:avLst/>
            </a:prstGeom>
          </p:spPr>
        </p:pic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C353CFE0-F4C3-A901-8DB6-69889A79A25D}"/>
              </a:ext>
            </a:extLst>
          </p:cNvPr>
          <p:cNvGrpSpPr/>
          <p:nvPr/>
        </p:nvGrpSpPr>
        <p:grpSpPr>
          <a:xfrm>
            <a:off x="4436950" y="1759847"/>
            <a:ext cx="3909478" cy="1266644"/>
            <a:chOff x="4607166" y="1688907"/>
            <a:chExt cx="3909478" cy="1266644"/>
          </a:xfrm>
        </p:grpSpPr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EA71DE28-9A9C-D8F1-FB2A-CE9EF139AC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07166" y="1865897"/>
              <a:ext cx="563811" cy="563811"/>
            </a:xfrm>
            <a:prstGeom prst="ellipse">
              <a:avLst/>
            </a:prstGeom>
            <a:solidFill>
              <a:srgbClr val="3086A9"/>
            </a:solidFill>
            <a:ln>
              <a:solidFill>
                <a:srgbClr val="3086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EB498FCD-0117-78B4-92BC-A631C46ED472}"/>
                </a:ext>
              </a:extLst>
            </p:cNvPr>
            <p:cNvSpPr txBox="1"/>
            <p:nvPr/>
          </p:nvSpPr>
          <p:spPr>
            <a:xfrm>
              <a:off x="5400983" y="1688907"/>
              <a:ext cx="1976338" cy="4514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>
                  <a:ln>
                    <a:solidFill>
                      <a:srgbClr val="3086A9">
                        <a:alpha val="30000"/>
                      </a:srgbClr>
                    </a:solidFill>
                  </a:ln>
                  <a:solidFill>
                    <a:srgbClr val="3086A9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Class Labeling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BFFA7344-4FB8-D3B3-6B02-8374637889CD}"/>
                </a:ext>
              </a:extLst>
            </p:cNvPr>
            <p:cNvSpPr txBox="1"/>
            <p:nvPr/>
          </p:nvSpPr>
          <p:spPr>
            <a:xfrm>
              <a:off x="5217510" y="2069859"/>
              <a:ext cx="3299134" cy="8856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200" b="1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Most probable Class: 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2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Chosen from YOLO frame-wise probabilities</a:t>
              </a: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200" b="1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Maximum Voting &amp; Average Voting</a:t>
              </a:r>
            </a:p>
          </p:txBody>
        </p:sp>
        <p:pic>
          <p:nvPicPr>
            <p:cNvPr id="155" name="그림 154" descr="원, 그래픽, 디자인이(가) 표시된 사진&#10;&#10;자동 생성된 설명">
              <a:extLst>
                <a:ext uri="{FF2B5EF4-FFF2-40B4-BE49-F238E27FC236}">
                  <a16:creationId xmlns:a16="http://schemas.microsoft.com/office/drawing/2014/main" id="{9EA90991-AC28-82C7-F7D6-39850F21C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8050" y="1935824"/>
              <a:ext cx="448850" cy="448850"/>
            </a:xfrm>
            <a:prstGeom prst="rect">
              <a:avLst/>
            </a:prstGeom>
          </p:spPr>
        </p:pic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D186685F-9FD8-7FC9-1DC2-F642D85DC923}"/>
              </a:ext>
            </a:extLst>
          </p:cNvPr>
          <p:cNvGrpSpPr/>
          <p:nvPr/>
        </p:nvGrpSpPr>
        <p:grpSpPr>
          <a:xfrm>
            <a:off x="8723714" y="1751717"/>
            <a:ext cx="2603247" cy="1543643"/>
            <a:chOff x="9066179" y="1688907"/>
            <a:chExt cx="2603247" cy="1543643"/>
          </a:xfrm>
        </p:grpSpPr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5A35F961-CABD-E268-0C7B-D7B06B794E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66179" y="1787954"/>
              <a:ext cx="563811" cy="563811"/>
            </a:xfrm>
            <a:prstGeom prst="ellipse">
              <a:avLst/>
            </a:prstGeom>
            <a:solidFill>
              <a:srgbClr val="31ADBE"/>
            </a:solidFill>
            <a:ln>
              <a:solidFill>
                <a:srgbClr val="31ADB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F78C2244-6371-4230-7700-1ADD788B886C}"/>
                </a:ext>
              </a:extLst>
            </p:cNvPr>
            <p:cNvSpPr txBox="1"/>
            <p:nvPr/>
          </p:nvSpPr>
          <p:spPr>
            <a:xfrm>
              <a:off x="9693088" y="1688907"/>
              <a:ext cx="1976338" cy="4514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>
                  <a:ln>
                    <a:solidFill>
                      <a:srgbClr val="31ADBE">
                        <a:alpha val="30000"/>
                      </a:srgbClr>
                    </a:solidFill>
                  </a:ln>
                  <a:solidFill>
                    <a:srgbClr val="31ADB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Model Training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6D52BC28-C42B-A83F-F4AC-D5FE35C2E379}"/>
                </a:ext>
              </a:extLst>
            </p:cNvPr>
            <p:cNvSpPr txBox="1"/>
            <p:nvPr/>
          </p:nvSpPr>
          <p:spPr>
            <a:xfrm>
              <a:off x="9693088" y="2069859"/>
              <a:ext cx="1782129" cy="11626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2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1000 epochs</a:t>
              </a: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2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batch sizes : 32</a:t>
              </a: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2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learning rate: 0.001</a:t>
              </a:r>
            </a:p>
            <a:p>
              <a:pPr marL="171450" indent="-17145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altLang="ko-KR" sz="12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Adam optimizer</a:t>
              </a:r>
            </a:p>
          </p:txBody>
        </p:sp>
        <p:pic>
          <p:nvPicPr>
            <p:cNvPr id="158" name="그림 157" descr="원, 상징, 그래픽, 예술이(가) 표시된 사진&#10;&#10;자동 생성된 설명">
              <a:extLst>
                <a:ext uri="{FF2B5EF4-FFF2-40B4-BE49-F238E27FC236}">
                  <a16:creationId xmlns:a16="http://schemas.microsoft.com/office/drawing/2014/main" id="{B44107BB-054B-89C2-F1A1-CF009ADE6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9058" y="1858177"/>
              <a:ext cx="457151" cy="457151"/>
            </a:xfrm>
            <a:prstGeom prst="rect">
              <a:avLst/>
            </a:prstGeom>
          </p:spPr>
        </p:pic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0CE7CDC6-2BF5-F503-2EF0-F1022D7062C2}"/>
              </a:ext>
            </a:extLst>
          </p:cNvPr>
          <p:cNvGrpSpPr/>
          <p:nvPr/>
        </p:nvGrpSpPr>
        <p:grpSpPr>
          <a:xfrm>
            <a:off x="419100" y="676457"/>
            <a:ext cx="5234169" cy="491416"/>
            <a:chOff x="749302" y="973566"/>
            <a:chExt cx="1729560" cy="491416"/>
          </a:xfrm>
        </p:grpSpPr>
        <p:sp>
          <p:nvSpPr>
            <p:cNvPr id="161" name="사각형: 둥근 모서리 160">
              <a:extLst>
                <a:ext uri="{FF2B5EF4-FFF2-40B4-BE49-F238E27FC236}">
                  <a16:creationId xmlns:a16="http://schemas.microsoft.com/office/drawing/2014/main" id="{16D023FB-E867-14DA-DE44-59321D06BC95}"/>
                </a:ext>
              </a:extLst>
            </p:cNvPr>
            <p:cNvSpPr/>
            <p:nvPr/>
          </p:nvSpPr>
          <p:spPr>
            <a:xfrm>
              <a:off x="749302" y="1022832"/>
              <a:ext cx="1729560" cy="442150"/>
            </a:xfrm>
            <a:prstGeom prst="roundRect">
              <a:avLst>
                <a:gd name="adj" fmla="val 50000"/>
              </a:avLst>
            </a:prstGeom>
            <a:solidFill>
              <a:srgbClr val="32518D"/>
            </a:solidFill>
            <a:ln>
              <a:solidFill>
                <a:srgbClr val="32518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66255EDB-8778-A417-75FA-19D4F76988D0}"/>
                </a:ext>
              </a:extLst>
            </p:cNvPr>
            <p:cNvSpPr txBox="1"/>
            <p:nvPr/>
          </p:nvSpPr>
          <p:spPr>
            <a:xfrm>
              <a:off x="782676" y="973566"/>
              <a:ext cx="1683912" cy="4514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>
                  <a:ln>
                    <a:solidFill>
                      <a:schemeClr val="bg1">
                        <a:alpha val="30000"/>
                      </a:schemeClr>
                    </a:solidFill>
                  </a:ln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LSTM-Based Spatio-Temporal Feature Extraction</a:t>
              </a:r>
              <a:endParaRPr lang="en-US" altLang="ko-KR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6349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양쪽 대괄호 87">
            <a:extLst>
              <a:ext uri="{FF2B5EF4-FFF2-40B4-BE49-F238E27FC236}">
                <a16:creationId xmlns:a16="http://schemas.microsoft.com/office/drawing/2014/main" id="{B07717E7-0492-607F-ED1B-8AB99DBCADAC}"/>
              </a:ext>
            </a:extLst>
          </p:cNvPr>
          <p:cNvSpPr/>
          <p:nvPr/>
        </p:nvSpPr>
        <p:spPr>
          <a:xfrm>
            <a:off x="617090" y="3678464"/>
            <a:ext cx="4453193" cy="2910051"/>
          </a:xfrm>
          <a:prstGeom prst="bracketPair">
            <a:avLst>
              <a:gd name="adj" fmla="val 10527"/>
            </a:avLst>
          </a:prstGeom>
          <a:solidFill>
            <a:srgbClr val="F5F5F5"/>
          </a:solidFill>
          <a:ln w="28575">
            <a:solidFill>
              <a:srgbClr val="AEAE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19674D3-6998-2294-D6C9-19D80055C9A4}"/>
              </a:ext>
            </a:extLst>
          </p:cNvPr>
          <p:cNvSpPr txBox="1"/>
          <p:nvPr/>
        </p:nvSpPr>
        <p:spPr>
          <a:xfrm>
            <a:off x="390523" y="56322"/>
            <a:ext cx="5705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 . Experiments</a:t>
            </a:r>
            <a:endParaRPr lang="en-US" altLang="ko-KR" sz="2400" dirty="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8AA0B13-3022-57F7-17CB-ACB3ED219D8D}"/>
              </a:ext>
            </a:extLst>
          </p:cNvPr>
          <p:cNvGrpSpPr/>
          <p:nvPr/>
        </p:nvGrpSpPr>
        <p:grpSpPr>
          <a:xfrm>
            <a:off x="719482" y="1157142"/>
            <a:ext cx="4211733" cy="2299947"/>
            <a:chOff x="1333499" y="1158496"/>
            <a:chExt cx="6391272" cy="3508754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894F8EAB-2B63-5A73-BD15-F57EC4CA9798}"/>
                </a:ext>
              </a:extLst>
            </p:cNvPr>
            <p:cNvGrpSpPr/>
            <p:nvPr/>
          </p:nvGrpSpPr>
          <p:grpSpPr>
            <a:xfrm>
              <a:off x="1333499" y="1756165"/>
              <a:ext cx="6391272" cy="2911085"/>
              <a:chOff x="3390899" y="3187165"/>
              <a:chExt cx="6391272" cy="2911085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D9CAB54E-CE8F-082E-919B-1BB920B41900}"/>
                  </a:ext>
                </a:extLst>
              </p:cNvPr>
              <p:cNvGrpSpPr/>
              <p:nvPr/>
            </p:nvGrpSpPr>
            <p:grpSpPr>
              <a:xfrm>
                <a:off x="4688150" y="5180344"/>
                <a:ext cx="1064944" cy="917906"/>
                <a:chOff x="5631125" y="4656469"/>
                <a:chExt cx="1064944" cy="917906"/>
              </a:xfrm>
            </p:grpSpPr>
            <p:sp>
              <p:nvSpPr>
                <p:cNvPr id="78" name="평행 사변형 77">
                  <a:extLst>
                    <a:ext uri="{FF2B5EF4-FFF2-40B4-BE49-F238E27FC236}">
                      <a16:creationId xmlns:a16="http://schemas.microsoft.com/office/drawing/2014/main" id="{789C23DA-AB5B-76C5-682C-E4F520C133E0}"/>
                    </a:ext>
                  </a:extLst>
                </p:cNvPr>
                <p:cNvSpPr/>
                <p:nvPr/>
              </p:nvSpPr>
              <p:spPr>
                <a:xfrm flipH="1">
                  <a:off x="5640748" y="4656469"/>
                  <a:ext cx="1055321" cy="629906"/>
                </a:xfrm>
                <a:prstGeom prst="parallelogram">
                  <a:avLst>
                    <a:gd name="adj" fmla="val 113889"/>
                  </a:avLst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79" name="직선 연결선 78">
                  <a:extLst>
                    <a:ext uri="{FF2B5EF4-FFF2-40B4-BE49-F238E27FC236}">
                      <a16:creationId xmlns:a16="http://schemas.microsoft.com/office/drawing/2014/main" id="{98DBAA1D-4BCB-C7BD-D0BE-5F6F730604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48311" y="5286375"/>
                  <a:ext cx="0" cy="28800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0A4125A4-6C40-0FFC-08C1-98F67B4BA0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31125" y="4656470"/>
                  <a:ext cx="0" cy="28800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3BB972D8-32B6-D434-D6E7-2D4B909D9245}"/>
                  </a:ext>
                </a:extLst>
              </p:cNvPr>
              <p:cNvGrpSpPr/>
              <p:nvPr/>
            </p:nvGrpSpPr>
            <p:grpSpPr>
              <a:xfrm>
                <a:off x="5047329" y="4892344"/>
                <a:ext cx="1064944" cy="917906"/>
                <a:chOff x="5631125" y="4656469"/>
                <a:chExt cx="1064944" cy="917906"/>
              </a:xfrm>
            </p:grpSpPr>
            <p:sp>
              <p:nvSpPr>
                <p:cNvPr id="75" name="평행 사변형 74">
                  <a:extLst>
                    <a:ext uri="{FF2B5EF4-FFF2-40B4-BE49-F238E27FC236}">
                      <a16:creationId xmlns:a16="http://schemas.microsoft.com/office/drawing/2014/main" id="{62BB67EE-CF42-7C20-62A5-DDCF601078A1}"/>
                    </a:ext>
                  </a:extLst>
                </p:cNvPr>
                <p:cNvSpPr/>
                <p:nvPr/>
              </p:nvSpPr>
              <p:spPr>
                <a:xfrm flipH="1">
                  <a:off x="5640748" y="4656469"/>
                  <a:ext cx="1055321" cy="629906"/>
                </a:xfrm>
                <a:prstGeom prst="parallelogram">
                  <a:avLst>
                    <a:gd name="adj" fmla="val 113889"/>
                  </a:avLst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76" name="직선 연결선 75">
                  <a:extLst>
                    <a:ext uri="{FF2B5EF4-FFF2-40B4-BE49-F238E27FC236}">
                      <a16:creationId xmlns:a16="http://schemas.microsoft.com/office/drawing/2014/main" id="{9234D805-04D0-F6D5-5CAF-D91EDBBB06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48311" y="5286375"/>
                  <a:ext cx="0" cy="28800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직선 연결선 76">
                  <a:extLst>
                    <a:ext uri="{FF2B5EF4-FFF2-40B4-BE49-F238E27FC236}">
                      <a16:creationId xmlns:a16="http://schemas.microsoft.com/office/drawing/2014/main" id="{2F26C94A-9157-1BBD-3A88-B8DFCC92BC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31125" y="4656470"/>
                  <a:ext cx="0" cy="28800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id="{E8D3C0DE-84EB-0496-0894-F6D4A674B14B}"/>
                  </a:ext>
                </a:extLst>
              </p:cNvPr>
              <p:cNvGrpSpPr/>
              <p:nvPr/>
            </p:nvGrpSpPr>
            <p:grpSpPr>
              <a:xfrm>
                <a:off x="5406508" y="4611951"/>
                <a:ext cx="1064944" cy="917906"/>
                <a:chOff x="5631125" y="4656469"/>
                <a:chExt cx="1064944" cy="917906"/>
              </a:xfrm>
            </p:grpSpPr>
            <p:sp>
              <p:nvSpPr>
                <p:cNvPr id="72" name="평행 사변형 71">
                  <a:extLst>
                    <a:ext uri="{FF2B5EF4-FFF2-40B4-BE49-F238E27FC236}">
                      <a16:creationId xmlns:a16="http://schemas.microsoft.com/office/drawing/2014/main" id="{226525AE-8F08-DEDF-E2F1-536898413BA7}"/>
                    </a:ext>
                  </a:extLst>
                </p:cNvPr>
                <p:cNvSpPr/>
                <p:nvPr/>
              </p:nvSpPr>
              <p:spPr>
                <a:xfrm flipH="1">
                  <a:off x="5640748" y="4656469"/>
                  <a:ext cx="1055321" cy="629906"/>
                </a:xfrm>
                <a:prstGeom prst="parallelogram">
                  <a:avLst>
                    <a:gd name="adj" fmla="val 113889"/>
                  </a:avLst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7797DBB8-1AEE-F861-6227-0D734053C7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48311" y="5286375"/>
                  <a:ext cx="0" cy="28800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직선 연결선 73">
                  <a:extLst>
                    <a:ext uri="{FF2B5EF4-FFF2-40B4-BE49-F238E27FC236}">
                      <a16:creationId xmlns:a16="http://schemas.microsoft.com/office/drawing/2014/main" id="{497E6082-D988-BB7C-B5A6-C443250440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31125" y="4656470"/>
                  <a:ext cx="0" cy="28800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D3104857-D5F9-64E3-7605-B3A779B6270D}"/>
                  </a:ext>
                </a:extLst>
              </p:cNvPr>
              <p:cNvGrpSpPr/>
              <p:nvPr/>
            </p:nvGrpSpPr>
            <p:grpSpPr>
              <a:xfrm>
                <a:off x="5765687" y="4323951"/>
                <a:ext cx="1064944" cy="917906"/>
                <a:chOff x="5631125" y="4656469"/>
                <a:chExt cx="1064944" cy="917906"/>
              </a:xfrm>
            </p:grpSpPr>
            <p:sp>
              <p:nvSpPr>
                <p:cNvPr id="68" name="평행 사변형 67">
                  <a:extLst>
                    <a:ext uri="{FF2B5EF4-FFF2-40B4-BE49-F238E27FC236}">
                      <a16:creationId xmlns:a16="http://schemas.microsoft.com/office/drawing/2014/main" id="{44289250-E96C-57C6-BE77-C75D06CBD2CF}"/>
                    </a:ext>
                  </a:extLst>
                </p:cNvPr>
                <p:cNvSpPr/>
                <p:nvPr/>
              </p:nvSpPr>
              <p:spPr>
                <a:xfrm flipH="1">
                  <a:off x="5640748" y="4656469"/>
                  <a:ext cx="1055321" cy="629906"/>
                </a:xfrm>
                <a:prstGeom prst="parallelogram">
                  <a:avLst>
                    <a:gd name="adj" fmla="val 113889"/>
                  </a:avLst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38F6EA29-F713-58E0-365F-4616F3C0A8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48311" y="5286375"/>
                  <a:ext cx="0" cy="28800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직선 연결선 70">
                  <a:extLst>
                    <a:ext uri="{FF2B5EF4-FFF2-40B4-BE49-F238E27FC236}">
                      <a16:creationId xmlns:a16="http://schemas.microsoft.com/office/drawing/2014/main" id="{79924B4F-D489-42B3-6169-974245FF36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31125" y="4656470"/>
                  <a:ext cx="0" cy="28800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그룹 50">
                <a:extLst>
                  <a:ext uri="{FF2B5EF4-FFF2-40B4-BE49-F238E27FC236}">
                    <a16:creationId xmlns:a16="http://schemas.microsoft.com/office/drawing/2014/main" id="{56887CD3-BAEA-8F39-8B20-5548EF5C81B3}"/>
                  </a:ext>
                </a:extLst>
              </p:cNvPr>
              <p:cNvGrpSpPr/>
              <p:nvPr/>
            </p:nvGrpSpPr>
            <p:grpSpPr>
              <a:xfrm>
                <a:off x="6125974" y="4035951"/>
                <a:ext cx="1064944" cy="917906"/>
                <a:chOff x="5631125" y="4656469"/>
                <a:chExt cx="1064944" cy="917906"/>
              </a:xfrm>
            </p:grpSpPr>
            <p:sp>
              <p:nvSpPr>
                <p:cNvPr id="65" name="평행 사변형 64">
                  <a:extLst>
                    <a:ext uri="{FF2B5EF4-FFF2-40B4-BE49-F238E27FC236}">
                      <a16:creationId xmlns:a16="http://schemas.microsoft.com/office/drawing/2014/main" id="{403231D6-2A21-1A8A-61EC-A78B263B48DD}"/>
                    </a:ext>
                  </a:extLst>
                </p:cNvPr>
                <p:cNvSpPr/>
                <p:nvPr/>
              </p:nvSpPr>
              <p:spPr>
                <a:xfrm flipH="1">
                  <a:off x="5640748" y="4656469"/>
                  <a:ext cx="1055321" cy="629906"/>
                </a:xfrm>
                <a:prstGeom prst="parallelogram">
                  <a:avLst>
                    <a:gd name="adj" fmla="val 113889"/>
                  </a:avLst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66" name="직선 연결선 65">
                  <a:extLst>
                    <a:ext uri="{FF2B5EF4-FFF2-40B4-BE49-F238E27FC236}">
                      <a16:creationId xmlns:a16="http://schemas.microsoft.com/office/drawing/2014/main" id="{86F7BB62-8977-7300-F2CD-2272DAAAB1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48311" y="5286375"/>
                  <a:ext cx="0" cy="28800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직선 연결선 66">
                  <a:extLst>
                    <a:ext uri="{FF2B5EF4-FFF2-40B4-BE49-F238E27FC236}">
                      <a16:creationId xmlns:a16="http://schemas.microsoft.com/office/drawing/2014/main" id="{4CD51F19-F154-5758-FF0A-7A66292B08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31125" y="4656470"/>
                  <a:ext cx="0" cy="28800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2" name="그룹 51">
                <a:extLst>
                  <a:ext uri="{FF2B5EF4-FFF2-40B4-BE49-F238E27FC236}">
                    <a16:creationId xmlns:a16="http://schemas.microsoft.com/office/drawing/2014/main" id="{21866B9A-6613-854D-DCDC-9CDAFB60CA49}"/>
                  </a:ext>
                </a:extLst>
              </p:cNvPr>
              <p:cNvGrpSpPr/>
              <p:nvPr/>
            </p:nvGrpSpPr>
            <p:grpSpPr>
              <a:xfrm>
                <a:off x="6478303" y="3755558"/>
                <a:ext cx="1064944" cy="917906"/>
                <a:chOff x="5631125" y="4656469"/>
                <a:chExt cx="1064944" cy="917906"/>
              </a:xfrm>
            </p:grpSpPr>
            <p:sp>
              <p:nvSpPr>
                <p:cNvPr id="62" name="평행 사변형 61">
                  <a:extLst>
                    <a:ext uri="{FF2B5EF4-FFF2-40B4-BE49-F238E27FC236}">
                      <a16:creationId xmlns:a16="http://schemas.microsoft.com/office/drawing/2014/main" id="{C32154FA-980A-0371-9661-D995BDB5FC1D}"/>
                    </a:ext>
                  </a:extLst>
                </p:cNvPr>
                <p:cNvSpPr/>
                <p:nvPr/>
              </p:nvSpPr>
              <p:spPr>
                <a:xfrm flipH="1">
                  <a:off x="5640748" y="4656469"/>
                  <a:ext cx="1055321" cy="629906"/>
                </a:xfrm>
                <a:prstGeom prst="parallelogram">
                  <a:avLst>
                    <a:gd name="adj" fmla="val 113889"/>
                  </a:avLst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63" name="직선 연결선 62">
                  <a:extLst>
                    <a:ext uri="{FF2B5EF4-FFF2-40B4-BE49-F238E27FC236}">
                      <a16:creationId xmlns:a16="http://schemas.microsoft.com/office/drawing/2014/main" id="{44C880D0-F740-8F39-60AB-1961BBE786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48311" y="5286375"/>
                  <a:ext cx="0" cy="28800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직선 연결선 63">
                  <a:extLst>
                    <a:ext uri="{FF2B5EF4-FFF2-40B4-BE49-F238E27FC236}">
                      <a16:creationId xmlns:a16="http://schemas.microsoft.com/office/drawing/2014/main" id="{8FEE1F4B-43F2-5A41-5EA3-A2572BEDB0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31125" y="4656470"/>
                  <a:ext cx="0" cy="28800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" name="그룹 52">
                <a:extLst>
                  <a:ext uri="{FF2B5EF4-FFF2-40B4-BE49-F238E27FC236}">
                    <a16:creationId xmlns:a16="http://schemas.microsoft.com/office/drawing/2014/main" id="{0DFF73C2-A5E1-E16B-4DC7-778C0E2A8DDE}"/>
                  </a:ext>
                </a:extLst>
              </p:cNvPr>
              <p:cNvGrpSpPr/>
              <p:nvPr/>
            </p:nvGrpSpPr>
            <p:grpSpPr>
              <a:xfrm>
                <a:off x="6840253" y="3467558"/>
                <a:ext cx="1064944" cy="917906"/>
                <a:chOff x="5631125" y="4656469"/>
                <a:chExt cx="1064944" cy="917906"/>
              </a:xfrm>
            </p:grpSpPr>
            <p:sp>
              <p:nvSpPr>
                <p:cNvPr id="59" name="평행 사변형 58">
                  <a:extLst>
                    <a:ext uri="{FF2B5EF4-FFF2-40B4-BE49-F238E27FC236}">
                      <a16:creationId xmlns:a16="http://schemas.microsoft.com/office/drawing/2014/main" id="{78EEF88C-25D9-D415-3C79-DF99BBD3F822}"/>
                    </a:ext>
                  </a:extLst>
                </p:cNvPr>
                <p:cNvSpPr/>
                <p:nvPr/>
              </p:nvSpPr>
              <p:spPr>
                <a:xfrm flipH="1">
                  <a:off x="5640748" y="4656469"/>
                  <a:ext cx="1055321" cy="629906"/>
                </a:xfrm>
                <a:prstGeom prst="parallelogram">
                  <a:avLst>
                    <a:gd name="adj" fmla="val 113889"/>
                  </a:avLst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60" name="직선 연결선 59">
                  <a:extLst>
                    <a:ext uri="{FF2B5EF4-FFF2-40B4-BE49-F238E27FC236}">
                      <a16:creationId xmlns:a16="http://schemas.microsoft.com/office/drawing/2014/main" id="{ABC6E8BB-E517-4C60-D592-F4D82F4932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48311" y="5286375"/>
                  <a:ext cx="0" cy="28800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직선 연결선 60">
                  <a:extLst>
                    <a:ext uri="{FF2B5EF4-FFF2-40B4-BE49-F238E27FC236}">
                      <a16:creationId xmlns:a16="http://schemas.microsoft.com/office/drawing/2014/main" id="{EA575E85-14D1-7014-16B3-97DD9FD3F2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31125" y="4656470"/>
                  <a:ext cx="0" cy="28800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360C5FB2-A5D4-2D35-DB48-B6DB9460061D}"/>
                  </a:ext>
                </a:extLst>
              </p:cNvPr>
              <p:cNvGrpSpPr/>
              <p:nvPr/>
            </p:nvGrpSpPr>
            <p:grpSpPr>
              <a:xfrm>
                <a:off x="7202203" y="3187165"/>
                <a:ext cx="2579968" cy="917906"/>
                <a:chOff x="5631125" y="4656469"/>
                <a:chExt cx="2579968" cy="917906"/>
              </a:xfrm>
            </p:grpSpPr>
            <p:sp>
              <p:nvSpPr>
                <p:cNvPr id="56" name="평행 사변형 55">
                  <a:extLst>
                    <a:ext uri="{FF2B5EF4-FFF2-40B4-BE49-F238E27FC236}">
                      <a16:creationId xmlns:a16="http://schemas.microsoft.com/office/drawing/2014/main" id="{82FA66FE-08EF-EC2D-8B2F-9CCA4FF281EE}"/>
                    </a:ext>
                  </a:extLst>
                </p:cNvPr>
                <p:cNvSpPr/>
                <p:nvPr/>
              </p:nvSpPr>
              <p:spPr>
                <a:xfrm flipH="1">
                  <a:off x="5640746" y="4656469"/>
                  <a:ext cx="2570347" cy="629906"/>
                </a:xfrm>
                <a:prstGeom prst="parallelogram">
                  <a:avLst>
                    <a:gd name="adj" fmla="val 113889"/>
                  </a:avLst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cxnSp>
              <p:nvCxnSpPr>
                <p:cNvPr id="57" name="직선 연결선 56">
                  <a:extLst>
                    <a:ext uri="{FF2B5EF4-FFF2-40B4-BE49-F238E27FC236}">
                      <a16:creationId xmlns:a16="http://schemas.microsoft.com/office/drawing/2014/main" id="{08553F43-663F-F460-1408-BEFFDE4A26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48311" y="5286375"/>
                  <a:ext cx="0" cy="28800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직선 연결선 57">
                  <a:extLst>
                    <a:ext uri="{FF2B5EF4-FFF2-40B4-BE49-F238E27FC236}">
                      <a16:creationId xmlns:a16="http://schemas.microsoft.com/office/drawing/2014/main" id="{6EF2CBE0-BC83-7AD2-C4C5-D5DDD3D940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31125" y="4656470"/>
                  <a:ext cx="0" cy="288000"/>
                </a:xfrm>
                <a:prstGeom prst="lin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5" name="평행 사변형 54">
                <a:extLst>
                  <a:ext uri="{FF2B5EF4-FFF2-40B4-BE49-F238E27FC236}">
                    <a16:creationId xmlns:a16="http://schemas.microsoft.com/office/drawing/2014/main" id="{176B626B-1249-65EF-6E8A-1752512731AE}"/>
                  </a:ext>
                </a:extLst>
              </p:cNvPr>
              <p:cNvSpPr/>
              <p:nvPr/>
            </p:nvSpPr>
            <p:spPr>
              <a:xfrm flipH="1">
                <a:off x="3390899" y="5460736"/>
                <a:ext cx="2008411" cy="629906"/>
              </a:xfrm>
              <a:prstGeom prst="parallelogram">
                <a:avLst>
                  <a:gd name="adj" fmla="val 113889"/>
                </a:avLst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41" name="화살표: 아래쪽 40">
              <a:extLst>
                <a:ext uri="{FF2B5EF4-FFF2-40B4-BE49-F238E27FC236}">
                  <a16:creationId xmlns:a16="http://schemas.microsoft.com/office/drawing/2014/main" id="{02BE0D6E-02AF-E8A9-B982-A62C2DC5D752}"/>
                </a:ext>
              </a:extLst>
            </p:cNvPr>
            <p:cNvSpPr/>
            <p:nvPr/>
          </p:nvSpPr>
          <p:spPr>
            <a:xfrm rot="13871462">
              <a:off x="3494777" y="1775539"/>
              <a:ext cx="257239" cy="1727939"/>
            </a:xfrm>
            <a:prstGeom prst="downArrow">
              <a:avLst>
                <a:gd name="adj1" fmla="val 29687"/>
                <a:gd name="adj2" fmla="val 50000"/>
              </a:avLst>
            </a:prstGeom>
            <a:solidFill>
              <a:srgbClr val="331E72"/>
            </a:solidFill>
            <a:ln>
              <a:solidFill>
                <a:srgbClr val="331E72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2" name="화살표: 아래쪽 41">
              <a:extLst>
                <a:ext uri="{FF2B5EF4-FFF2-40B4-BE49-F238E27FC236}">
                  <a16:creationId xmlns:a16="http://schemas.microsoft.com/office/drawing/2014/main" id="{37147E82-5367-0261-CCE6-B120C031C229}"/>
                </a:ext>
              </a:extLst>
            </p:cNvPr>
            <p:cNvSpPr/>
            <p:nvPr/>
          </p:nvSpPr>
          <p:spPr>
            <a:xfrm rot="2958005">
              <a:off x="4574758" y="2860656"/>
              <a:ext cx="292398" cy="1951338"/>
            </a:xfrm>
            <a:prstGeom prst="downArrow">
              <a:avLst>
                <a:gd name="adj1" fmla="val 29687"/>
                <a:gd name="adj2" fmla="val 50000"/>
              </a:avLst>
            </a:prstGeom>
            <a:solidFill>
              <a:srgbClr val="32B6C4"/>
            </a:solidFill>
            <a:ln>
              <a:solidFill>
                <a:srgbClr val="32B6C4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3" name="화살표: U자형 42">
              <a:extLst>
                <a:ext uri="{FF2B5EF4-FFF2-40B4-BE49-F238E27FC236}">
                  <a16:creationId xmlns:a16="http://schemas.microsoft.com/office/drawing/2014/main" id="{47E417D4-29A8-E42D-E19F-C5AEB34F126D}"/>
                </a:ext>
              </a:extLst>
            </p:cNvPr>
            <p:cNvSpPr/>
            <p:nvPr/>
          </p:nvSpPr>
          <p:spPr>
            <a:xfrm rot="5400000">
              <a:off x="6094140" y="1275299"/>
              <a:ext cx="419286" cy="1544965"/>
            </a:xfrm>
            <a:prstGeom prst="uturnArrow">
              <a:avLst>
                <a:gd name="adj1" fmla="val 14812"/>
                <a:gd name="adj2" fmla="val 25000"/>
                <a:gd name="adj3" fmla="val 32641"/>
                <a:gd name="adj4" fmla="val 43750"/>
                <a:gd name="adj5" fmla="val 75000"/>
              </a:avLst>
            </a:prstGeom>
            <a:solidFill>
              <a:srgbClr val="3177A0"/>
            </a:solidFill>
            <a:ln>
              <a:solidFill>
                <a:srgbClr val="3177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b="1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AC5C4DF-4811-583E-8332-5C9E908F8EB9}"/>
                </a:ext>
              </a:extLst>
            </p:cNvPr>
            <p:cNvSpPr txBox="1"/>
            <p:nvPr/>
          </p:nvSpPr>
          <p:spPr>
            <a:xfrm>
              <a:off x="2256558" y="2100864"/>
              <a:ext cx="1506844" cy="516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>
                  <a:ln>
                    <a:solidFill>
                      <a:srgbClr val="331E72">
                        <a:alpha val="30000"/>
                      </a:srgbClr>
                    </a:solidFill>
                  </a:ln>
                  <a:solidFill>
                    <a:srgbClr val="331E72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Incline</a:t>
              </a:r>
              <a:endParaRPr lang="ko-KR" altLang="en-US" sz="1600" dirty="0">
                <a:ln>
                  <a:solidFill>
                    <a:srgbClr val="331E72">
                      <a:alpha val="30000"/>
                    </a:srgbClr>
                  </a:solidFill>
                </a:ln>
                <a:solidFill>
                  <a:srgbClr val="331E72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3CCA862-2A0B-E91F-E6CF-263E1EC168DF}"/>
                </a:ext>
              </a:extLst>
            </p:cNvPr>
            <p:cNvSpPr txBox="1"/>
            <p:nvPr/>
          </p:nvSpPr>
          <p:spPr>
            <a:xfrm>
              <a:off x="4738481" y="3604075"/>
              <a:ext cx="1585635" cy="516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>
                  <a:ln>
                    <a:solidFill>
                      <a:srgbClr val="32B6C4">
                        <a:alpha val="30000"/>
                      </a:srgbClr>
                    </a:solidFill>
                  </a:ln>
                  <a:solidFill>
                    <a:srgbClr val="32B6C4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Decline</a:t>
              </a:r>
              <a:endParaRPr lang="ko-KR" altLang="en-US" sz="1600" dirty="0">
                <a:ln>
                  <a:solidFill>
                    <a:srgbClr val="32B6C4">
                      <a:alpha val="30000"/>
                    </a:srgbClr>
                  </a:solidFill>
                </a:ln>
                <a:solidFill>
                  <a:srgbClr val="32B6C4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014A6DD-7BC1-905D-9225-F500ECBC5308}"/>
                </a:ext>
              </a:extLst>
            </p:cNvPr>
            <p:cNvSpPr txBox="1"/>
            <p:nvPr/>
          </p:nvSpPr>
          <p:spPr>
            <a:xfrm>
              <a:off x="5182676" y="1158496"/>
              <a:ext cx="2205528" cy="516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>
                  <a:ln>
                    <a:solidFill>
                      <a:srgbClr val="2B7795">
                        <a:alpha val="30000"/>
                      </a:srgbClr>
                    </a:solidFill>
                  </a:ln>
                  <a:solidFill>
                    <a:srgbClr val="2B7795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Level Ground</a:t>
              </a:r>
              <a:endParaRPr lang="ko-KR" altLang="en-US" dirty="0">
                <a:ln>
                  <a:solidFill>
                    <a:srgbClr val="2B7795">
                      <a:alpha val="30000"/>
                    </a:srgbClr>
                  </a:solidFill>
                </a:ln>
                <a:solidFill>
                  <a:srgbClr val="2B7795"/>
                </a:solidFill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B8ADA685-77CC-E48F-5BE9-2C7736CB713D}"/>
              </a:ext>
            </a:extLst>
          </p:cNvPr>
          <p:cNvGrpSpPr/>
          <p:nvPr/>
        </p:nvGrpSpPr>
        <p:grpSpPr>
          <a:xfrm>
            <a:off x="419100" y="676457"/>
            <a:ext cx="2232143" cy="491416"/>
            <a:chOff x="749302" y="973566"/>
            <a:chExt cx="1729560" cy="491416"/>
          </a:xfrm>
        </p:grpSpPr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603464F6-9A3D-6BB9-E19A-8B10AA8FB324}"/>
                </a:ext>
              </a:extLst>
            </p:cNvPr>
            <p:cNvSpPr/>
            <p:nvPr/>
          </p:nvSpPr>
          <p:spPr>
            <a:xfrm>
              <a:off x="749302" y="1022832"/>
              <a:ext cx="1729560" cy="442150"/>
            </a:xfrm>
            <a:prstGeom prst="roundRect">
              <a:avLst>
                <a:gd name="adj" fmla="val 50000"/>
              </a:avLst>
            </a:prstGeom>
            <a:solidFill>
              <a:srgbClr val="32518D"/>
            </a:solidFill>
            <a:ln>
              <a:solidFill>
                <a:srgbClr val="32518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CCA8CCC-384A-7E39-7220-686F5FF643E0}"/>
                </a:ext>
              </a:extLst>
            </p:cNvPr>
            <p:cNvSpPr txBox="1"/>
            <p:nvPr/>
          </p:nvSpPr>
          <p:spPr>
            <a:xfrm>
              <a:off x="782676" y="973566"/>
              <a:ext cx="1683912" cy="4514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>
                  <a:ln>
                    <a:solidFill>
                      <a:schemeClr val="bg1">
                        <a:alpha val="30000"/>
                      </a:schemeClr>
                    </a:solidFill>
                  </a:ln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Experimental Setup</a:t>
              </a:r>
              <a:endParaRPr lang="en-US" altLang="ko-KR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AD363646-F988-6078-E191-40EE00B5EC1E}"/>
              </a:ext>
            </a:extLst>
          </p:cNvPr>
          <p:cNvSpPr txBox="1"/>
          <p:nvPr/>
        </p:nvSpPr>
        <p:spPr>
          <a:xfrm>
            <a:off x="668518" y="3725411"/>
            <a:ext cx="4352237" cy="267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Condition</a:t>
            </a:r>
          </a:p>
          <a:p>
            <a:pPr marL="342900" indent="-342900" algn="ctr">
              <a:lnSpc>
                <a:spcPct val="150000"/>
              </a:lnSpc>
              <a:buAutoNum type="arabicParenR"/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without exosuit (</a:t>
            </a:r>
            <a:r>
              <a:rPr lang="en-US" altLang="ko-KR" sz="1600" i="1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Exo</a:t>
            </a: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L="342900" indent="-342900" algn="ctr">
              <a:lnSpc>
                <a:spcPct val="150000"/>
              </a:lnSpc>
              <a:buAutoNum type="arabicParenR"/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Exosuit worn but unpowered (</a:t>
            </a:r>
            <a:r>
              <a:rPr lang="en-US" altLang="ko-KR" sz="1600" i="1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Exo Off</a:t>
            </a: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L="342900" indent="-342900" algn="ctr">
              <a:lnSpc>
                <a:spcPct val="150000"/>
              </a:lnSpc>
              <a:buAutoNum type="arabicParenR"/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Exosuit worn and powerd (</a:t>
            </a:r>
            <a:r>
              <a:rPr lang="en-US" altLang="ko-KR" sz="1600" i="1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Exo On</a:t>
            </a: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L="342900" indent="-342900" algn="ctr">
              <a:lnSpc>
                <a:spcPct val="150000"/>
              </a:lnSpc>
              <a:buAutoNum type="arabicParenR"/>
            </a:pPr>
            <a:endParaRPr lang="en-US" altLang="ko-KR" sz="160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10-minute familarization with exosuit</a:t>
            </a:r>
          </a:p>
          <a:p>
            <a:pPr algn="ctr">
              <a:lnSpc>
                <a:spcPct val="150000"/>
              </a:lnSpc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20-minute rest between conditions</a:t>
            </a:r>
            <a:endParaRPr lang="en-US" altLang="ko-KR" sz="140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946960D4-0667-299A-CFC9-88D82284E742}"/>
              </a:ext>
            </a:extLst>
          </p:cNvPr>
          <p:cNvGrpSpPr/>
          <p:nvPr/>
        </p:nvGrpSpPr>
        <p:grpSpPr>
          <a:xfrm>
            <a:off x="5372422" y="1329204"/>
            <a:ext cx="6727549" cy="4792414"/>
            <a:chOff x="5289104" y="1194490"/>
            <a:chExt cx="6727549" cy="4792414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007BB8F0-6764-E891-EB04-894B60988823}"/>
                </a:ext>
              </a:extLst>
            </p:cNvPr>
            <p:cNvGrpSpPr/>
            <p:nvPr/>
          </p:nvGrpSpPr>
          <p:grpSpPr>
            <a:xfrm>
              <a:off x="5549758" y="1194490"/>
              <a:ext cx="5773828" cy="4469020"/>
              <a:chOff x="-54674" y="1359119"/>
              <a:chExt cx="5435286" cy="4516485"/>
            </a:xfrm>
          </p:grpSpPr>
          <p:pic>
            <p:nvPicPr>
              <p:cNvPr id="6" name="그림 5" descr="신발류, 의류, 사람, 발목이(가) 표시된 사진&#10;&#10;자동 생성된 설명">
                <a:extLst>
                  <a:ext uri="{FF2B5EF4-FFF2-40B4-BE49-F238E27FC236}">
                    <a16:creationId xmlns:a16="http://schemas.microsoft.com/office/drawing/2014/main" id="{CFE43692-BAA4-5F3B-5F73-ACC85CBC3B7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972" b="-1"/>
              <a:stretch/>
            </p:blipFill>
            <p:spPr>
              <a:xfrm>
                <a:off x="2304965" y="1359119"/>
                <a:ext cx="1000858" cy="4516485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A2B950A-2F27-36C0-0F0C-E9DB2F66A1BA}"/>
                  </a:ext>
                </a:extLst>
              </p:cNvPr>
              <p:cNvSpPr txBox="1"/>
              <p:nvPr/>
            </p:nvSpPr>
            <p:spPr>
              <a:xfrm>
                <a:off x="3483338" y="1649494"/>
                <a:ext cx="955148" cy="34215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>
                    <a:ln>
                      <a:solidFill>
                        <a:schemeClr val="tx1">
                          <a:lumMod val="65000"/>
                          <a:lumOff val="35000"/>
                          <a:alpha val="3000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Camera</a:t>
                </a:r>
                <a:endParaRPr lang="ko-KR" altLang="en-US" sz="1600" dirty="0">
                  <a:ln>
                    <a:solidFill>
                      <a:schemeClr val="tx1">
                        <a:lumMod val="65000"/>
                        <a:lumOff val="35000"/>
                        <a:alpha val="3000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16E320CD-097A-8E6E-6186-5F18BE68C1B7}"/>
                  </a:ext>
                </a:extLst>
              </p:cNvPr>
              <p:cNvGrpSpPr/>
              <p:nvPr/>
            </p:nvGrpSpPr>
            <p:grpSpPr>
              <a:xfrm>
                <a:off x="3155128" y="1595916"/>
                <a:ext cx="394443" cy="245650"/>
                <a:chOff x="2058628" y="394133"/>
                <a:chExt cx="394443" cy="245650"/>
              </a:xfrm>
              <a:solidFill>
                <a:schemeClr val="tx1">
                  <a:lumMod val="65000"/>
                  <a:lumOff val="35000"/>
                </a:schemeClr>
              </a:solidFill>
            </p:grpSpPr>
            <p:cxnSp>
              <p:nvCxnSpPr>
                <p:cNvPr id="38" name="직선 연결선 37">
                  <a:extLst>
                    <a:ext uri="{FF2B5EF4-FFF2-40B4-BE49-F238E27FC236}">
                      <a16:creationId xmlns:a16="http://schemas.microsoft.com/office/drawing/2014/main" id="{9D0BBE56-F4C8-9FA6-35DF-28608DE5B9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84920" y="438897"/>
                  <a:ext cx="132936" cy="200886"/>
                </a:xfrm>
                <a:prstGeom prst="line">
                  <a:avLst/>
                </a:prstGeom>
                <a:grpFill/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직선 연결선 38">
                  <a:extLst>
                    <a:ext uri="{FF2B5EF4-FFF2-40B4-BE49-F238E27FC236}">
                      <a16:creationId xmlns:a16="http://schemas.microsoft.com/office/drawing/2014/main" id="{470F5402-6240-C9B4-1198-78CFF3DED2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09323" y="639783"/>
                  <a:ext cx="243748" cy="0"/>
                </a:xfrm>
                <a:prstGeom prst="line">
                  <a:avLst/>
                </a:prstGeom>
                <a:grpFill/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타원 39">
                  <a:extLst>
                    <a:ext uri="{FF2B5EF4-FFF2-40B4-BE49-F238E27FC236}">
                      <a16:creationId xmlns:a16="http://schemas.microsoft.com/office/drawing/2014/main" id="{329C16E1-5682-31A0-0654-FA8F2F93C53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58628" y="394133"/>
                  <a:ext cx="72000" cy="720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E72FCD84-B460-3606-B916-A527615F6A3D}"/>
                  </a:ext>
                </a:extLst>
              </p:cNvPr>
              <p:cNvGrpSpPr/>
              <p:nvPr/>
            </p:nvGrpSpPr>
            <p:grpSpPr>
              <a:xfrm flipV="1">
                <a:off x="2805394" y="4224819"/>
                <a:ext cx="568887" cy="309095"/>
                <a:chOff x="2058628" y="394133"/>
                <a:chExt cx="568887" cy="309095"/>
              </a:xfrm>
              <a:solidFill>
                <a:srgbClr val="0070C0"/>
              </a:solidFill>
            </p:grpSpPr>
            <p:cxnSp>
              <p:nvCxnSpPr>
                <p:cNvPr id="35" name="직선 연결선 34">
                  <a:extLst>
                    <a:ext uri="{FF2B5EF4-FFF2-40B4-BE49-F238E27FC236}">
                      <a16:creationId xmlns:a16="http://schemas.microsoft.com/office/drawing/2014/main" id="{66E6DC19-B366-D242-3B65-001AF7293F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84920" y="438897"/>
                  <a:ext cx="237067" cy="264331"/>
                </a:xfrm>
                <a:prstGeom prst="line">
                  <a:avLst/>
                </a:prstGeom>
                <a:solidFill>
                  <a:srgbClr val="2F518D"/>
                </a:solidFill>
                <a:ln w="19050">
                  <a:solidFill>
                    <a:srgbClr val="2F51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직선 연결선 35">
                  <a:extLst>
                    <a:ext uri="{FF2B5EF4-FFF2-40B4-BE49-F238E27FC236}">
                      <a16:creationId xmlns:a16="http://schemas.microsoft.com/office/drawing/2014/main" id="{0DF42BAF-C721-3FBE-3F38-7E0441FAB2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03515" y="693992"/>
                  <a:ext cx="324000" cy="0"/>
                </a:xfrm>
                <a:prstGeom prst="line">
                  <a:avLst/>
                </a:prstGeom>
                <a:solidFill>
                  <a:srgbClr val="2F518D"/>
                </a:solidFill>
                <a:ln w="19050">
                  <a:solidFill>
                    <a:srgbClr val="2F51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" name="타원 36">
                  <a:extLst>
                    <a:ext uri="{FF2B5EF4-FFF2-40B4-BE49-F238E27FC236}">
                      <a16:creationId xmlns:a16="http://schemas.microsoft.com/office/drawing/2014/main" id="{5EE1B57E-6210-1241-8D9D-09EC0FDD193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58628" y="394133"/>
                  <a:ext cx="72000" cy="72000"/>
                </a:xfrm>
                <a:prstGeom prst="ellipse">
                  <a:avLst/>
                </a:prstGeom>
                <a:solidFill>
                  <a:srgbClr val="2F518D"/>
                </a:solidFill>
                <a:ln>
                  <a:solidFill>
                    <a:srgbClr val="2F518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BDB8E33-AB34-186B-96E4-707635B0CBA9}"/>
                  </a:ext>
                </a:extLst>
              </p:cNvPr>
              <p:cNvSpPr txBox="1"/>
              <p:nvPr/>
            </p:nvSpPr>
            <p:spPr>
              <a:xfrm>
                <a:off x="-54674" y="3981908"/>
                <a:ext cx="2089561" cy="777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>
                    <a:ln>
                      <a:solidFill>
                        <a:srgbClr val="2F518D">
                          <a:alpha val="30000"/>
                        </a:srgbClr>
                      </a:solidFill>
                    </a:ln>
                    <a:solidFill>
                      <a:srgbClr val="2F518D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Surface EMG Sensors:</a:t>
                </a:r>
              </a:p>
              <a:p>
                <a:pPr algn="ctr"/>
                <a:r>
                  <a:rPr lang="en-US" altLang="ko-KR" sz="1400">
                    <a:ln>
                      <a:solidFill>
                        <a:srgbClr val="2F518D">
                          <a:alpha val="30000"/>
                        </a:srgbClr>
                      </a:solidFill>
                    </a:ln>
                    <a:solidFill>
                      <a:srgbClr val="2F518D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Medial gastrocnemius</a:t>
                </a:r>
              </a:p>
              <a:p>
                <a:pPr algn="ctr"/>
                <a:r>
                  <a:rPr lang="en-US" altLang="ko-KR" sz="1400">
                    <a:ln>
                      <a:solidFill>
                        <a:srgbClr val="2F518D">
                          <a:alpha val="30000"/>
                        </a:srgbClr>
                      </a:solidFill>
                    </a:ln>
                    <a:solidFill>
                      <a:srgbClr val="2F518D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(MG)</a:t>
                </a:r>
                <a:endParaRPr lang="ko-KR" altLang="en-US" sz="1600" dirty="0">
                  <a:ln>
                    <a:solidFill>
                      <a:srgbClr val="2F518D">
                        <a:alpha val="30000"/>
                      </a:srgbClr>
                    </a:solidFill>
                  </a:ln>
                  <a:solidFill>
                    <a:srgbClr val="2F518D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71DC47-DFA3-4072-1615-04AFFA3C4C1A}"/>
                  </a:ext>
                </a:extLst>
              </p:cNvPr>
              <p:cNvSpPr txBox="1"/>
              <p:nvPr/>
            </p:nvSpPr>
            <p:spPr>
              <a:xfrm>
                <a:off x="3147471" y="4092596"/>
                <a:ext cx="1783661" cy="528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>
                    <a:ln>
                      <a:solidFill>
                        <a:srgbClr val="2F518D">
                          <a:alpha val="30000"/>
                        </a:srgbClr>
                      </a:solidFill>
                    </a:ln>
                    <a:solidFill>
                      <a:srgbClr val="2F518D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Tibialis anterior</a:t>
                </a:r>
              </a:p>
              <a:p>
                <a:pPr algn="ctr"/>
                <a:r>
                  <a:rPr lang="en-US" altLang="ko-KR" sz="1400">
                    <a:ln>
                      <a:solidFill>
                        <a:srgbClr val="2F518D">
                          <a:alpha val="30000"/>
                        </a:srgbClr>
                      </a:solidFill>
                    </a:ln>
                    <a:solidFill>
                      <a:srgbClr val="2F518D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(TA)</a:t>
                </a:r>
                <a:endParaRPr lang="ko-KR" altLang="en-US" sz="1400" dirty="0">
                  <a:ln>
                    <a:solidFill>
                      <a:srgbClr val="2F518D">
                        <a:alpha val="30000"/>
                      </a:srgbClr>
                    </a:solidFill>
                  </a:ln>
                  <a:solidFill>
                    <a:srgbClr val="2F518D"/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87F54008-D834-D5EA-BA18-BCE05641F07C}"/>
                  </a:ext>
                </a:extLst>
              </p:cNvPr>
              <p:cNvGrpSpPr/>
              <p:nvPr/>
            </p:nvGrpSpPr>
            <p:grpSpPr>
              <a:xfrm flipH="1" flipV="1">
                <a:off x="2166417" y="4224819"/>
                <a:ext cx="351615" cy="256118"/>
                <a:chOff x="2058628" y="394133"/>
                <a:chExt cx="351615" cy="256118"/>
              </a:xfrm>
              <a:solidFill>
                <a:srgbClr val="0070C0"/>
              </a:solidFill>
            </p:grpSpPr>
            <p:cxnSp>
              <p:nvCxnSpPr>
                <p:cNvPr id="32" name="직선 연결선 31">
                  <a:extLst>
                    <a:ext uri="{FF2B5EF4-FFF2-40B4-BE49-F238E27FC236}">
                      <a16:creationId xmlns:a16="http://schemas.microsoft.com/office/drawing/2014/main" id="{40A2DB54-0F77-3E58-D95B-5DE1372DEE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84920" y="438897"/>
                  <a:ext cx="109323" cy="211354"/>
                </a:xfrm>
                <a:prstGeom prst="line">
                  <a:avLst/>
                </a:prstGeom>
                <a:solidFill>
                  <a:srgbClr val="2F518D"/>
                </a:solidFill>
                <a:ln w="19050">
                  <a:solidFill>
                    <a:srgbClr val="2F51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직선 연결선 32">
                  <a:extLst>
                    <a:ext uri="{FF2B5EF4-FFF2-40B4-BE49-F238E27FC236}">
                      <a16:creationId xmlns:a16="http://schemas.microsoft.com/office/drawing/2014/main" id="{DF619696-498A-9C16-1EB9-AFC26D06FF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94243" y="641015"/>
                  <a:ext cx="216000" cy="0"/>
                </a:xfrm>
                <a:prstGeom prst="line">
                  <a:avLst/>
                </a:prstGeom>
                <a:solidFill>
                  <a:srgbClr val="2F518D"/>
                </a:solidFill>
                <a:ln w="19050">
                  <a:solidFill>
                    <a:srgbClr val="2F51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8BFAD564-5678-B74E-1823-9497B571F60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58628" y="394133"/>
                  <a:ext cx="72000" cy="72000"/>
                </a:xfrm>
                <a:prstGeom prst="ellipse">
                  <a:avLst/>
                </a:prstGeom>
                <a:solidFill>
                  <a:srgbClr val="2F518D"/>
                </a:solidFill>
                <a:ln>
                  <a:solidFill>
                    <a:srgbClr val="2F518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78A0257-585C-FFFA-7BDB-653E24899E21}"/>
                  </a:ext>
                </a:extLst>
              </p:cNvPr>
              <p:cNvSpPr txBox="1"/>
              <p:nvPr/>
            </p:nvSpPr>
            <p:spPr>
              <a:xfrm>
                <a:off x="3577805" y="4946928"/>
                <a:ext cx="1802807" cy="559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>
                    <a:ln>
                      <a:solidFill>
                        <a:schemeClr val="tx1">
                          <a:lumMod val="65000"/>
                          <a:lumOff val="35000"/>
                          <a:alpha val="3000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Inertial sensor</a:t>
                </a:r>
              </a:p>
              <a:p>
                <a:pPr algn="ctr"/>
                <a:r>
                  <a:rPr lang="en-US" altLang="ko-KR" sz="1400">
                    <a:ln>
                      <a:solidFill>
                        <a:schemeClr val="tx1">
                          <a:lumMod val="65000"/>
                          <a:lumOff val="35000"/>
                          <a:alpha val="3000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ahoma" panose="020B0604030504040204" pitchFamily="34" charset="0"/>
                    <a:cs typeface="Tahoma" panose="020B0604030504040204" pitchFamily="34" charset="0"/>
                  </a:rPr>
                  <a:t>: Xsens MTw Awinda</a:t>
                </a:r>
                <a:endParaRPr lang="ko-KR" altLang="en-US" sz="1600" dirty="0">
                  <a:ln>
                    <a:solidFill>
                      <a:schemeClr val="tx1">
                        <a:lumMod val="65000"/>
                        <a:lumOff val="35000"/>
                        <a:alpha val="3000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6352006-B84D-B1D0-C3C3-02AA79000061}"/>
                  </a:ext>
                </a:extLst>
              </p:cNvPr>
              <p:cNvSpPr txBox="1"/>
              <p:nvPr/>
            </p:nvSpPr>
            <p:spPr>
              <a:xfrm>
                <a:off x="907244" y="1461720"/>
                <a:ext cx="972640" cy="3421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>
                    <a:ln>
                      <a:solidFill>
                        <a:schemeClr val="tx1">
                          <a:lumMod val="65000"/>
                          <a:lumOff val="35000"/>
                          <a:alpha val="30000"/>
                        </a:scheme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Exosuit</a:t>
                </a:r>
                <a:endParaRPr lang="ko-KR" altLang="en-US" sz="1600" dirty="0">
                  <a:ln>
                    <a:solidFill>
                      <a:schemeClr val="tx1">
                        <a:lumMod val="65000"/>
                        <a:lumOff val="35000"/>
                        <a:alpha val="30000"/>
                      </a:scheme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ED0AC403-3C6A-7A3D-77C4-6E029CD27C3B}"/>
                  </a:ext>
                </a:extLst>
              </p:cNvPr>
              <p:cNvGrpSpPr/>
              <p:nvPr/>
            </p:nvGrpSpPr>
            <p:grpSpPr>
              <a:xfrm flipH="1" flipV="1">
                <a:off x="1804886" y="1658680"/>
                <a:ext cx="633119" cy="309095"/>
                <a:chOff x="2058628" y="394133"/>
                <a:chExt cx="633119" cy="309095"/>
              </a:xfrm>
              <a:solidFill>
                <a:schemeClr val="tx1">
                  <a:lumMod val="65000"/>
                  <a:lumOff val="35000"/>
                </a:schemeClr>
              </a:solidFill>
            </p:grpSpPr>
            <p:cxnSp>
              <p:nvCxnSpPr>
                <p:cNvPr id="29" name="직선 연결선 28">
                  <a:extLst>
                    <a:ext uri="{FF2B5EF4-FFF2-40B4-BE49-F238E27FC236}">
                      <a16:creationId xmlns:a16="http://schemas.microsoft.com/office/drawing/2014/main" id="{0429478E-8479-E344-9595-438CA6BC64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84920" y="438897"/>
                  <a:ext cx="237067" cy="264331"/>
                </a:xfrm>
                <a:prstGeom prst="line">
                  <a:avLst/>
                </a:prstGeom>
                <a:grpFill/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직선 연결선 29">
                  <a:extLst>
                    <a:ext uri="{FF2B5EF4-FFF2-40B4-BE49-F238E27FC236}">
                      <a16:creationId xmlns:a16="http://schemas.microsoft.com/office/drawing/2014/main" id="{8B3BC011-1674-C086-345B-7670868B55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03515" y="693992"/>
                  <a:ext cx="388232" cy="0"/>
                </a:xfrm>
                <a:prstGeom prst="line">
                  <a:avLst/>
                </a:prstGeom>
                <a:grpFill/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782BD0E8-18D9-EF15-C0F7-21F5995C31E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58628" y="394133"/>
                  <a:ext cx="72000" cy="720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pic>
            <p:nvPicPr>
              <p:cNvPr id="16" name="그림 15" descr="직사각형, 오렌지이(가) 표시된 사진&#10;&#10;자동 생성된 설명">
                <a:extLst>
                  <a:ext uri="{FF2B5EF4-FFF2-40B4-BE49-F238E27FC236}">
                    <a16:creationId xmlns:a16="http://schemas.microsoft.com/office/drawing/2014/main" id="{E6D60065-98E2-8C8A-2FD4-FFDAEF4AFB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98544" y="5570031"/>
                <a:ext cx="115846" cy="175389"/>
              </a:xfrm>
              <a:prstGeom prst="rect">
                <a:avLst/>
              </a:prstGeom>
            </p:spPr>
          </p:pic>
          <p:pic>
            <p:nvPicPr>
              <p:cNvPr id="17" name="그림 16" descr="직사각형, 오렌지이(가) 표시된 사진&#10;&#10;자동 생성된 설명">
                <a:extLst>
                  <a:ext uri="{FF2B5EF4-FFF2-40B4-BE49-F238E27FC236}">
                    <a16:creationId xmlns:a16="http://schemas.microsoft.com/office/drawing/2014/main" id="{EA08509E-82E0-F93C-E52E-77ABD51F69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21082" y="4641455"/>
                <a:ext cx="115846" cy="175389"/>
              </a:xfrm>
              <a:prstGeom prst="rect">
                <a:avLst/>
              </a:prstGeom>
            </p:spPr>
          </p:pic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B6ECADFD-5157-D453-4BBC-4CAEE5BDB286}"/>
                  </a:ext>
                </a:extLst>
              </p:cNvPr>
              <p:cNvGrpSpPr/>
              <p:nvPr/>
            </p:nvGrpSpPr>
            <p:grpSpPr>
              <a:xfrm flipV="1">
                <a:off x="2950219" y="5314591"/>
                <a:ext cx="599352" cy="309095"/>
                <a:chOff x="2058628" y="394133"/>
                <a:chExt cx="599352" cy="309095"/>
              </a:xfrm>
              <a:solidFill>
                <a:schemeClr val="tx1">
                  <a:lumMod val="65000"/>
                  <a:lumOff val="35000"/>
                </a:schemeClr>
              </a:solidFill>
            </p:grpSpPr>
            <p:cxnSp>
              <p:nvCxnSpPr>
                <p:cNvPr id="26" name="직선 연결선 25">
                  <a:extLst>
                    <a:ext uri="{FF2B5EF4-FFF2-40B4-BE49-F238E27FC236}">
                      <a16:creationId xmlns:a16="http://schemas.microsoft.com/office/drawing/2014/main" id="{AE3B7E63-4C06-3524-FC7C-B53313B178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84920" y="438897"/>
                  <a:ext cx="237067" cy="264331"/>
                </a:xfrm>
                <a:prstGeom prst="line">
                  <a:avLst/>
                </a:prstGeom>
                <a:grpFill/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직선 연결선 26">
                  <a:extLst>
                    <a:ext uri="{FF2B5EF4-FFF2-40B4-BE49-F238E27FC236}">
                      <a16:creationId xmlns:a16="http://schemas.microsoft.com/office/drawing/2014/main" id="{5ED6336F-B22F-1512-0E1B-2F22564F48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03515" y="693992"/>
                  <a:ext cx="354465" cy="9236"/>
                </a:xfrm>
                <a:prstGeom prst="line">
                  <a:avLst/>
                </a:prstGeom>
                <a:grpFill/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" name="타원 27">
                  <a:extLst>
                    <a:ext uri="{FF2B5EF4-FFF2-40B4-BE49-F238E27FC236}">
                      <a16:creationId xmlns:a16="http://schemas.microsoft.com/office/drawing/2014/main" id="{50F32278-BD79-698C-3658-241AC9124C5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58628" y="394133"/>
                  <a:ext cx="72000" cy="720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D11A5489-E986-7C3A-F51F-A9082A8C5B95}"/>
                  </a:ext>
                </a:extLst>
              </p:cNvPr>
              <p:cNvGrpSpPr/>
              <p:nvPr/>
            </p:nvGrpSpPr>
            <p:grpSpPr>
              <a:xfrm>
                <a:off x="2683696" y="4763815"/>
                <a:ext cx="865875" cy="377126"/>
                <a:chOff x="2058628" y="394133"/>
                <a:chExt cx="865875" cy="377126"/>
              </a:xfrm>
              <a:solidFill>
                <a:schemeClr val="tx1">
                  <a:lumMod val="65000"/>
                  <a:lumOff val="35000"/>
                </a:schemeClr>
              </a:solidFill>
            </p:grpSpPr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F30FB0EA-F2EA-FCCD-D0E5-CDEBD7EC84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99185" y="439983"/>
                  <a:ext cx="252258" cy="331276"/>
                </a:xfrm>
                <a:prstGeom prst="line">
                  <a:avLst/>
                </a:prstGeom>
                <a:grpFill/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402F5022-62B0-D3F1-975D-7E8723E77C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47507" y="763113"/>
                  <a:ext cx="576996" cy="0"/>
                </a:xfrm>
                <a:prstGeom prst="line">
                  <a:avLst/>
                </a:prstGeom>
                <a:grpFill/>
                <a:ln w="190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타원 24">
                  <a:extLst>
                    <a:ext uri="{FF2B5EF4-FFF2-40B4-BE49-F238E27FC236}">
                      <a16:creationId xmlns:a16="http://schemas.microsoft.com/office/drawing/2014/main" id="{2FB925CC-BB55-A488-F0B9-054144F1371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058628" y="394133"/>
                  <a:ext cx="72000" cy="72000"/>
                </a:xfrm>
                <a:prstGeom prst="ellipse">
                  <a:avLst/>
                </a:prstGeom>
                <a:grpFill/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p:grpSp>
        </p:grp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423A511D-9579-B108-B2A0-E515E9421D3A}"/>
                </a:ext>
              </a:extLst>
            </p:cNvPr>
            <p:cNvSpPr txBox="1"/>
            <p:nvPr/>
          </p:nvSpPr>
          <p:spPr>
            <a:xfrm>
              <a:off x="9321286" y="5319038"/>
              <a:ext cx="2530254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altLang="ko-KR" sz="1600" u="sng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cs typeface="Tahoma" panose="020B0604030504040204" pitchFamily="34" charset="0"/>
                </a:rPr>
                <a:t>ankle joint angles </a:t>
              </a:r>
              <a:r>
                <a:rPr lang="en-US" altLang="ko-KR" sz="14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cs typeface="Tahoma" panose="020B0604030504040204" pitchFamily="34" charset="0"/>
                </a:rPr>
                <a:t>(sagittal plane)</a:t>
              </a:r>
              <a:endParaRPr lang="ko-KR" altLang="en-US" sz="16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C8A2AF63-A41A-E845-5D1E-EE23F1E6D4BE}"/>
                </a:ext>
              </a:extLst>
            </p:cNvPr>
            <p:cNvSpPr txBox="1"/>
            <p:nvPr/>
          </p:nvSpPr>
          <p:spPr>
            <a:xfrm>
              <a:off x="5289104" y="4722775"/>
              <a:ext cx="2909329" cy="12641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altLang="ko-KR" sz="1600" u="sng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cs typeface="Tahoma" panose="020B0604030504040204" pitchFamily="34" charset="0"/>
                </a:rPr>
                <a:t>Muscle Activation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altLang="ko-KR" sz="14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cs typeface="Tahoma" panose="020B0604030504040204" pitchFamily="34" charset="0"/>
                </a:rPr>
                <a:t>MVC Normalization</a:t>
              </a: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ü"/>
              </a:pPr>
              <a:r>
                <a:rPr lang="en-US" altLang="ko-KR" sz="14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cs typeface="Tahoma" panose="020B0604030504040204" pitchFamily="34" charset="0"/>
                </a:rPr>
                <a:t>fourth-order Butterworth filter (6Hz cutoff frequency)</a:t>
              </a:r>
              <a:endPara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2CB5F6F-CB6F-846D-5CE8-1485A660C8C6}"/>
                </a:ext>
              </a:extLst>
            </p:cNvPr>
            <p:cNvSpPr txBox="1"/>
            <p:nvPr/>
          </p:nvSpPr>
          <p:spPr>
            <a:xfrm>
              <a:off x="9293261" y="1774853"/>
              <a:ext cx="27233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altLang="ko-KR" sz="1600" u="sng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cs typeface="Tahoma" panose="020B0604030504040204" pitchFamily="34" charset="0"/>
                </a:rPr>
                <a:t>gait environment frame</a:t>
              </a:r>
              <a:endParaRPr lang="ko-KR" altLang="en-US" sz="1600" u="sng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5379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25772E8-F4A6-C0B1-6BFC-7DF7B9F17C2E}"/>
              </a:ext>
            </a:extLst>
          </p:cNvPr>
          <p:cNvSpPr/>
          <p:nvPr/>
        </p:nvSpPr>
        <p:spPr>
          <a:xfrm>
            <a:off x="419100" y="4664466"/>
            <a:ext cx="5565120" cy="1989259"/>
          </a:xfrm>
          <a:prstGeom prst="roundRect">
            <a:avLst>
              <a:gd name="adj" fmla="val 8968"/>
            </a:avLst>
          </a:prstGeom>
          <a:solidFill>
            <a:srgbClr val="B0CAE6">
              <a:alpha val="2549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위쪽 모서리 23">
            <a:extLst>
              <a:ext uri="{FF2B5EF4-FFF2-40B4-BE49-F238E27FC236}">
                <a16:creationId xmlns:a16="http://schemas.microsoft.com/office/drawing/2014/main" id="{79B5719A-5C80-DEF8-6B08-3D983C99EEBB}"/>
              </a:ext>
            </a:extLst>
          </p:cNvPr>
          <p:cNvSpPr/>
          <p:nvPr/>
        </p:nvSpPr>
        <p:spPr>
          <a:xfrm>
            <a:off x="419100" y="4664464"/>
            <a:ext cx="5565120" cy="1139889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pic>
        <p:nvPicPr>
          <p:cNvPr id="3" name="그림 2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81ABE9CF-31D2-640E-67B6-2A7E657152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62" y="1559224"/>
            <a:ext cx="2836754" cy="2836754"/>
          </a:xfrm>
          <a:prstGeom prst="rect">
            <a:avLst/>
          </a:prstGeom>
        </p:spPr>
      </p:pic>
      <p:pic>
        <p:nvPicPr>
          <p:cNvPr id="13" name="그림 12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C9BF1A2E-7918-D9B3-AA0D-118E1EDD0D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660" y="1559224"/>
            <a:ext cx="2836754" cy="2836754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8BA276B-F34C-65B4-E592-0C44693C19D3}"/>
              </a:ext>
            </a:extLst>
          </p:cNvPr>
          <p:cNvGrpSpPr/>
          <p:nvPr/>
        </p:nvGrpSpPr>
        <p:grpSpPr>
          <a:xfrm>
            <a:off x="6096000" y="624408"/>
            <a:ext cx="5565120" cy="3898789"/>
            <a:chOff x="6029346" y="2569278"/>
            <a:chExt cx="6003697" cy="4146660"/>
          </a:xfrm>
        </p:grpSpPr>
        <p:pic>
          <p:nvPicPr>
            <p:cNvPr id="15" name="그림 14" descr="텍스트, 라인, 폰트, 도표이(가) 표시된 사진&#10;&#10;자동 생성된 설명">
              <a:extLst>
                <a:ext uri="{FF2B5EF4-FFF2-40B4-BE49-F238E27FC236}">
                  <a16:creationId xmlns:a16="http://schemas.microsoft.com/office/drawing/2014/main" id="{400E1838-6226-A601-7484-DB46AAAEA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29346" y="2569278"/>
              <a:ext cx="6003697" cy="2222433"/>
            </a:xfrm>
            <a:prstGeom prst="rect">
              <a:avLst/>
            </a:prstGeom>
          </p:spPr>
        </p:pic>
        <p:pic>
          <p:nvPicPr>
            <p:cNvPr id="17" name="그림 16" descr="텍스트, 라인, 도표, 스크린샷이(가) 표시된 사진&#10;&#10;자동 생성된 설명">
              <a:extLst>
                <a:ext uri="{FF2B5EF4-FFF2-40B4-BE49-F238E27FC236}">
                  <a16:creationId xmlns:a16="http://schemas.microsoft.com/office/drawing/2014/main" id="{593CF5CE-6F4F-4293-3CDF-7B37BAC2F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29346" y="4848305"/>
              <a:ext cx="5834072" cy="1867633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EB92466-7E07-49DB-D9D2-BDA3F534054D}"/>
              </a:ext>
            </a:extLst>
          </p:cNvPr>
          <p:cNvSpPr txBox="1"/>
          <p:nvPr/>
        </p:nvSpPr>
        <p:spPr>
          <a:xfrm>
            <a:off x="390523" y="56322"/>
            <a:ext cx="5705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 . Results</a:t>
            </a:r>
            <a:endParaRPr lang="en-US" altLang="ko-KR" sz="2400" dirty="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8E10E1D-714D-A4A9-8598-F4E856D4971A}"/>
              </a:ext>
            </a:extLst>
          </p:cNvPr>
          <p:cNvGrpSpPr/>
          <p:nvPr/>
        </p:nvGrpSpPr>
        <p:grpSpPr>
          <a:xfrm>
            <a:off x="419100" y="676457"/>
            <a:ext cx="5365959" cy="1697901"/>
            <a:chOff x="749302" y="973566"/>
            <a:chExt cx="1729560" cy="1697901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C6CCAA30-B54F-B3DE-1C0C-5A6AA0E7FB38}"/>
                </a:ext>
              </a:extLst>
            </p:cNvPr>
            <p:cNvSpPr/>
            <p:nvPr/>
          </p:nvSpPr>
          <p:spPr>
            <a:xfrm>
              <a:off x="749302" y="1022832"/>
              <a:ext cx="1729560" cy="442150"/>
            </a:xfrm>
            <a:prstGeom prst="roundRect">
              <a:avLst>
                <a:gd name="adj" fmla="val 50000"/>
              </a:avLst>
            </a:prstGeom>
            <a:solidFill>
              <a:srgbClr val="32518D"/>
            </a:solidFill>
            <a:ln>
              <a:solidFill>
                <a:srgbClr val="32518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7AF812F-947D-63D7-7FAA-E086859503A8}"/>
                </a:ext>
              </a:extLst>
            </p:cNvPr>
            <p:cNvSpPr txBox="1"/>
            <p:nvPr/>
          </p:nvSpPr>
          <p:spPr>
            <a:xfrm>
              <a:off x="782676" y="973566"/>
              <a:ext cx="1683912" cy="16979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>
                  <a:ln>
                    <a:solidFill>
                      <a:schemeClr val="bg1">
                        <a:alpha val="30000"/>
                      </a:schemeClr>
                    </a:solidFill>
                  </a:ln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Real-Time Environment Classification Performance</a:t>
              </a:r>
              <a:endParaRPr lang="en-US" altLang="ko-KR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93DDB7A-A485-FCEC-603C-172358209A77}"/>
              </a:ext>
            </a:extLst>
          </p:cNvPr>
          <p:cNvSpPr/>
          <p:nvPr/>
        </p:nvSpPr>
        <p:spPr>
          <a:xfrm>
            <a:off x="6096000" y="4664465"/>
            <a:ext cx="5565120" cy="1989259"/>
          </a:xfrm>
          <a:prstGeom prst="roundRect">
            <a:avLst>
              <a:gd name="adj" fmla="val 8968"/>
            </a:avLst>
          </a:prstGeom>
          <a:solidFill>
            <a:srgbClr val="B0CAE6">
              <a:alpha val="2549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61F3D33-937D-7828-5315-ECCC30E38CC5}"/>
                  </a:ext>
                </a:extLst>
              </p:cNvPr>
              <p:cNvSpPr txBox="1"/>
              <p:nvPr/>
            </p:nvSpPr>
            <p:spPr>
              <a:xfrm>
                <a:off x="522643" y="4664465"/>
                <a:ext cx="4352237" cy="1092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YOLO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Low Recall in Transition Classes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n>
                              <a:solidFill>
                                <a:schemeClr val="tx1"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i="1">
                            <a:ln>
                              <a:solidFill>
                                <a:schemeClr val="tx1"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IC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400" i="1">
                            <a:ln>
                              <a:solidFill>
                                <a:schemeClr val="tx1"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prev</m:t>
                        </m:r>
                      </m:sub>
                    </m:sSub>
                  </m:oMath>
                </a14:m>
                <a:r>
                  <a:rPr lang="en-US" altLang="ko-KR" sz="140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n>
                              <a:solidFill>
                                <a:schemeClr val="tx1"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n>
                              <a:solidFill>
                                <a:schemeClr val="tx1"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en-US" altLang="ko-KR" sz="1400" i="1">
                            <a:ln>
                              <a:solidFill>
                                <a:schemeClr val="tx1"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400" i="1">
                            <a:ln>
                              <a:solidFill>
                                <a:schemeClr val="tx1">
                                  <a:alpha val="30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prev</m:t>
                        </m:r>
                      </m:sub>
                    </m:sSub>
                  </m:oMath>
                </a14:m>
                <a:r>
                  <a:rPr lang="en-US" altLang="ko-KR" sz="140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40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Overall F1 score : </a:t>
                </a:r>
                <a:r>
                  <a:rPr lang="en-US" altLang="ko-KR" sz="1400" b="1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0.774</a:t>
                </a:r>
                <a:r>
                  <a:rPr lang="en-US" altLang="ko-KR" sz="140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- transition misclassification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61F3D33-937D-7828-5315-ECCC30E38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643" y="4664465"/>
                <a:ext cx="4352237" cy="10928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3DF1FF8-24E4-3507-1A26-3C2CAC34AD76}"/>
              </a:ext>
            </a:extLst>
          </p:cNvPr>
          <p:cNvCxnSpPr>
            <a:cxnSpLocks/>
          </p:cNvCxnSpPr>
          <p:nvPr/>
        </p:nvCxnSpPr>
        <p:spPr>
          <a:xfrm>
            <a:off x="604836" y="5095981"/>
            <a:ext cx="57669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사각형: 둥근 위쪽 모서리 24">
            <a:extLst>
              <a:ext uri="{FF2B5EF4-FFF2-40B4-BE49-F238E27FC236}">
                <a16:creationId xmlns:a16="http://schemas.microsoft.com/office/drawing/2014/main" id="{6711419D-58E2-0954-B157-F8C3B4BDF4B6}"/>
              </a:ext>
            </a:extLst>
          </p:cNvPr>
          <p:cNvSpPr/>
          <p:nvPr/>
        </p:nvSpPr>
        <p:spPr>
          <a:xfrm>
            <a:off x="6106653" y="4643914"/>
            <a:ext cx="5565120" cy="1160437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266C4F-399F-546E-CD48-82FE7D90EF69}"/>
              </a:ext>
            </a:extLst>
          </p:cNvPr>
          <p:cNvSpPr txBox="1"/>
          <p:nvPr/>
        </p:nvSpPr>
        <p:spPr>
          <a:xfrm>
            <a:off x="522643" y="5776851"/>
            <a:ext cx="5097321" cy="740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YOLO - LSTM</a:t>
            </a:r>
          </a:p>
          <a:p>
            <a:pPr>
              <a:lnSpc>
                <a:spcPct val="150000"/>
              </a:lnSpc>
            </a:pPr>
            <a:r>
              <a:rPr lang="en-US" altLang="ko-KR" sz="1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Overall F1 score : </a:t>
            </a:r>
            <a:r>
              <a:rPr lang="en-US" altLang="ko-KR" sz="1400" b="1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0.971</a:t>
            </a:r>
            <a:r>
              <a:rPr lang="en-US" altLang="ko-KR" sz="1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- balanced classification performance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C9C711BF-6999-A0E6-C738-2E69F85CE2C3}"/>
              </a:ext>
            </a:extLst>
          </p:cNvPr>
          <p:cNvCxnSpPr>
            <a:cxnSpLocks/>
          </p:cNvCxnSpPr>
          <p:nvPr/>
        </p:nvCxnSpPr>
        <p:spPr>
          <a:xfrm>
            <a:off x="604836" y="6198094"/>
            <a:ext cx="123423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723743F-F506-8851-CDB6-F32470A629E0}"/>
              </a:ext>
            </a:extLst>
          </p:cNvPr>
          <p:cNvGrpSpPr/>
          <p:nvPr/>
        </p:nvGrpSpPr>
        <p:grpSpPr>
          <a:xfrm>
            <a:off x="6261389" y="4674733"/>
            <a:ext cx="5312706" cy="740908"/>
            <a:chOff x="6261389" y="4674733"/>
            <a:chExt cx="5312706" cy="740908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A08A2E8-DBEA-02C8-1ADB-BE808F410F1C}"/>
                </a:ext>
              </a:extLst>
            </p:cNvPr>
            <p:cNvSpPr txBox="1"/>
            <p:nvPr/>
          </p:nvSpPr>
          <p:spPr>
            <a:xfrm>
              <a:off x="6261389" y="4674733"/>
              <a:ext cx="5312706" cy="740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YOLO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b="1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Misclassified LG </a:t>
              </a:r>
              <a:r>
                <a:rPr lang="en-US" altLang="ko-KR" sz="14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as stairs 1.5s (6 frames) before stair transition</a:t>
              </a:r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5EBE3EA2-4578-9058-BD6B-250C1A9EAD9C}"/>
                </a:ext>
              </a:extLst>
            </p:cNvPr>
            <p:cNvCxnSpPr>
              <a:cxnSpLocks/>
            </p:cNvCxnSpPr>
            <p:nvPr/>
          </p:nvCxnSpPr>
          <p:spPr>
            <a:xfrm>
              <a:off x="6343582" y="5106249"/>
              <a:ext cx="5766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DAD2A18-010A-4CF0-310C-79DFE5140660}"/>
              </a:ext>
            </a:extLst>
          </p:cNvPr>
          <p:cNvGrpSpPr/>
          <p:nvPr/>
        </p:nvGrpSpPr>
        <p:grpSpPr>
          <a:xfrm>
            <a:off x="6253152" y="5771545"/>
            <a:ext cx="5407968" cy="740908"/>
            <a:chOff x="6179196" y="5712211"/>
            <a:chExt cx="5407968" cy="740908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E20D055-9943-944A-33A6-C46DF2F9DB6B}"/>
                </a:ext>
              </a:extLst>
            </p:cNvPr>
            <p:cNvSpPr txBox="1"/>
            <p:nvPr/>
          </p:nvSpPr>
          <p:spPr>
            <a:xfrm>
              <a:off x="6179196" y="5712211"/>
              <a:ext cx="5407968" cy="740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YOLO - LSTM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400" b="1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rapid and accurate classification</a:t>
              </a:r>
              <a:r>
                <a:rPr lang="en-US" altLang="ko-KR" sz="14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during the transition phase</a:t>
              </a:r>
            </a:p>
          </p:txBody>
        </p: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28CD59B1-C161-4B1D-BC85-62FC6883E899}"/>
                </a:ext>
              </a:extLst>
            </p:cNvPr>
            <p:cNvCxnSpPr>
              <a:cxnSpLocks/>
            </p:cNvCxnSpPr>
            <p:nvPr/>
          </p:nvCxnSpPr>
          <p:spPr>
            <a:xfrm>
              <a:off x="6261389" y="6133454"/>
              <a:ext cx="123423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0544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3847DE5-FC05-7C35-A6AB-135AA91965AC}"/>
              </a:ext>
            </a:extLst>
          </p:cNvPr>
          <p:cNvGrpSpPr/>
          <p:nvPr/>
        </p:nvGrpSpPr>
        <p:grpSpPr>
          <a:xfrm>
            <a:off x="918797" y="1322852"/>
            <a:ext cx="10101637" cy="2884683"/>
            <a:chOff x="-4557485" y="5761863"/>
            <a:chExt cx="18875580" cy="5001388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BA235F5-E1EB-B7D7-C8E6-E5D023AFB359}"/>
                </a:ext>
              </a:extLst>
            </p:cNvPr>
            <p:cNvSpPr/>
            <p:nvPr/>
          </p:nvSpPr>
          <p:spPr>
            <a:xfrm>
              <a:off x="-4557485" y="5867400"/>
              <a:ext cx="18875580" cy="48958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pic>
          <p:nvPicPr>
            <p:cNvPr id="7" name="그림 6" descr="텍스트, 스크린샷, 그래프, 도표이(가) 표시된 사진&#10;&#10;자동 생성된 설명">
              <a:extLst>
                <a:ext uri="{FF2B5EF4-FFF2-40B4-BE49-F238E27FC236}">
                  <a16:creationId xmlns:a16="http://schemas.microsoft.com/office/drawing/2014/main" id="{EA23E042-8D9D-5FCC-1172-D2A2EE11FD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352945" y="5990381"/>
              <a:ext cx="6240000" cy="4680000"/>
            </a:xfrm>
            <a:prstGeom prst="rect">
              <a:avLst/>
            </a:prstGeom>
          </p:spPr>
        </p:pic>
        <p:pic>
          <p:nvPicPr>
            <p:cNvPr id="8" name="그림 7" descr="텍스트, 스크린샷, 그래프, 도표이(가) 표시된 사진&#10;&#10;자동 생성된 설명">
              <a:extLst>
                <a:ext uri="{FF2B5EF4-FFF2-40B4-BE49-F238E27FC236}">
                  <a16:creationId xmlns:a16="http://schemas.microsoft.com/office/drawing/2014/main" id="{66264300-4197-17EA-FD29-FA7C4BABB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2574" y="5978899"/>
              <a:ext cx="6240000" cy="4680000"/>
            </a:xfrm>
            <a:prstGeom prst="rect">
              <a:avLst/>
            </a:prstGeom>
          </p:spPr>
        </p:pic>
        <p:pic>
          <p:nvPicPr>
            <p:cNvPr id="9" name="그림 8" descr="텍스트, 그래프, 도표, 스크린샷이(가) 표시된 사진&#10;&#10;자동 생성된 설명">
              <a:extLst>
                <a:ext uri="{FF2B5EF4-FFF2-40B4-BE49-F238E27FC236}">
                  <a16:creationId xmlns:a16="http://schemas.microsoft.com/office/drawing/2014/main" id="{5C21A4A6-CD04-8888-CD8B-3AF156A75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78094" y="5978899"/>
              <a:ext cx="6240000" cy="46800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81AF1C-37EB-837B-CD91-2064887BF369}"/>
                </a:ext>
              </a:extLst>
            </p:cNvPr>
            <p:cNvSpPr txBox="1"/>
            <p:nvPr/>
          </p:nvSpPr>
          <p:spPr>
            <a:xfrm>
              <a:off x="-4353193" y="5867402"/>
              <a:ext cx="801505" cy="63990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ko-KR" altLang="en-US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3FA816B-AE95-8E25-B286-2A42C8E44FB8}"/>
                </a:ext>
              </a:extLst>
            </p:cNvPr>
            <p:cNvSpPr txBox="1"/>
            <p:nvPr/>
          </p:nvSpPr>
          <p:spPr>
            <a:xfrm>
              <a:off x="1690842" y="5834040"/>
              <a:ext cx="801505" cy="63990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ko-KR" altLang="en-US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367600D-E369-6E34-DE75-678B2927F6A2}"/>
                </a:ext>
              </a:extLst>
            </p:cNvPr>
            <p:cNvSpPr txBox="1"/>
            <p:nvPr/>
          </p:nvSpPr>
          <p:spPr>
            <a:xfrm>
              <a:off x="7960873" y="5761863"/>
              <a:ext cx="801505" cy="63990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  <a:endParaRPr lang="ko-KR" altLang="en-US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2475570-66FE-8580-8992-862768A3FA31}"/>
              </a:ext>
            </a:extLst>
          </p:cNvPr>
          <p:cNvSpPr txBox="1"/>
          <p:nvPr/>
        </p:nvSpPr>
        <p:spPr>
          <a:xfrm>
            <a:off x="390523" y="56322"/>
            <a:ext cx="5705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 . Results</a:t>
            </a:r>
            <a:endParaRPr lang="en-US" altLang="ko-KR" sz="2400" dirty="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9E94E5D-2B4F-E6BA-E42E-1614C30F2C55}"/>
              </a:ext>
            </a:extLst>
          </p:cNvPr>
          <p:cNvSpPr/>
          <p:nvPr/>
        </p:nvSpPr>
        <p:spPr>
          <a:xfrm>
            <a:off x="419100" y="725723"/>
            <a:ext cx="2036423" cy="442150"/>
          </a:xfrm>
          <a:prstGeom prst="roundRect">
            <a:avLst>
              <a:gd name="adj" fmla="val 50000"/>
            </a:avLst>
          </a:prstGeom>
          <a:solidFill>
            <a:srgbClr val="32518D"/>
          </a:solidFill>
          <a:ln>
            <a:solidFill>
              <a:srgbClr val="32518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E01337-4786-498F-DE95-A09A1680B62B}"/>
              </a:ext>
            </a:extLst>
          </p:cNvPr>
          <p:cNvSpPr txBox="1"/>
          <p:nvPr/>
        </p:nvSpPr>
        <p:spPr>
          <a:xfrm>
            <a:off x="522643" y="676457"/>
            <a:ext cx="5224336" cy="45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Joint Kinematics</a:t>
            </a:r>
            <a:endParaRPr lang="en-US" altLang="ko-KR" dirty="0">
              <a:ln>
                <a:solidFill>
                  <a:schemeClr val="bg1">
                    <a:alpha val="30000"/>
                  </a:schemeClr>
                </a:solidFill>
              </a:ln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4" name="양쪽 대괄호 83">
            <a:extLst>
              <a:ext uri="{FF2B5EF4-FFF2-40B4-BE49-F238E27FC236}">
                <a16:creationId xmlns:a16="http://schemas.microsoft.com/office/drawing/2014/main" id="{4A1F7F9C-FD44-4CE5-BE7E-15012100A7E9}"/>
              </a:ext>
            </a:extLst>
          </p:cNvPr>
          <p:cNvSpPr/>
          <p:nvPr/>
        </p:nvSpPr>
        <p:spPr>
          <a:xfrm>
            <a:off x="7224466" y="4535551"/>
            <a:ext cx="4309738" cy="1966854"/>
          </a:xfrm>
          <a:prstGeom prst="bracketPair">
            <a:avLst>
              <a:gd name="adj" fmla="val 10527"/>
            </a:avLst>
          </a:prstGeom>
          <a:solidFill>
            <a:srgbClr val="F5F5F5"/>
          </a:solidFill>
          <a:ln w="28575">
            <a:solidFill>
              <a:srgbClr val="AEAE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0E520AD-80CF-AF0E-48D5-A909717334E4}"/>
              </a:ext>
            </a:extLst>
          </p:cNvPr>
          <p:cNvSpPr txBox="1"/>
          <p:nvPr/>
        </p:nvSpPr>
        <p:spPr>
          <a:xfrm>
            <a:off x="669872" y="4096117"/>
            <a:ext cx="4299159" cy="411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peak ankle joint dorsiflexion angle</a:t>
            </a:r>
            <a:endParaRPr lang="en-US" altLang="ko-KR" sz="1600" i="1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8CC32CF6-C3C6-A9F4-107E-8F24E1444B5B}"/>
              </a:ext>
            </a:extLst>
          </p:cNvPr>
          <p:cNvGrpSpPr/>
          <p:nvPr/>
        </p:nvGrpSpPr>
        <p:grpSpPr>
          <a:xfrm>
            <a:off x="7376744" y="4857824"/>
            <a:ext cx="4699407" cy="891293"/>
            <a:chOff x="7418429" y="4591876"/>
            <a:chExt cx="4699407" cy="891293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1E9EBED-A095-51F6-BE99-5ED70F17E235}"/>
                </a:ext>
              </a:extLst>
            </p:cNvPr>
            <p:cNvSpPr txBox="1"/>
            <p:nvPr/>
          </p:nvSpPr>
          <p:spPr>
            <a:xfrm>
              <a:off x="7418429" y="4591876"/>
              <a:ext cx="4299159" cy="411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LG: </a:t>
              </a:r>
              <a:r>
                <a:rPr lang="en-US" altLang="ko-KR" sz="1600" b="1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significant increase </a:t>
              </a:r>
              <a:r>
                <a:rPr lang="en-US" altLang="ko-KR" sz="16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with the </a:t>
              </a:r>
              <a:r>
                <a:rPr lang="en-US" altLang="ko-KR" sz="1600" i="1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exo on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AE32667-4424-A4DE-3112-90964E74E004}"/>
                </a:ext>
              </a:extLst>
            </p:cNvPr>
            <p:cNvSpPr txBox="1"/>
            <p:nvPr/>
          </p:nvSpPr>
          <p:spPr>
            <a:xfrm>
              <a:off x="7425199" y="5071710"/>
              <a:ext cx="4692637" cy="411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IC:</a:t>
              </a:r>
              <a:r>
                <a:rPr lang="en-US" altLang="ko-KR" sz="1600" b="1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increase </a:t>
              </a:r>
              <a:r>
                <a:rPr lang="en-US" altLang="ko-KR" sz="16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with the </a:t>
              </a:r>
              <a:r>
                <a:rPr lang="en-US" altLang="ko-KR" sz="1600" i="1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exo on, exo off</a:t>
              </a:r>
            </a:p>
          </p:txBody>
        </p: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DFB0DADA-CC68-40A8-6BE8-11C4957BCE1C}"/>
              </a:ext>
            </a:extLst>
          </p:cNvPr>
          <p:cNvGrpSpPr/>
          <p:nvPr/>
        </p:nvGrpSpPr>
        <p:grpSpPr>
          <a:xfrm>
            <a:off x="657796" y="4535552"/>
            <a:ext cx="6456662" cy="1990898"/>
            <a:chOff x="657796" y="4429253"/>
            <a:chExt cx="6456662" cy="1990898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BD3E01BD-ECB7-CEBB-A0F5-258FB1EBDB36}"/>
                </a:ext>
              </a:extLst>
            </p:cNvPr>
            <p:cNvGrpSpPr/>
            <p:nvPr/>
          </p:nvGrpSpPr>
          <p:grpSpPr>
            <a:xfrm>
              <a:off x="657796" y="4429253"/>
              <a:ext cx="6085682" cy="1990898"/>
              <a:chOff x="522643" y="3722946"/>
              <a:chExt cx="10847410" cy="1990898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2A3CCA36-6F39-C337-6A82-3BC752A19B6B}"/>
                  </a:ext>
                </a:extLst>
              </p:cNvPr>
              <p:cNvSpPr/>
              <p:nvPr/>
            </p:nvSpPr>
            <p:spPr>
              <a:xfrm>
                <a:off x="522643" y="4129597"/>
                <a:ext cx="10841376" cy="1571330"/>
              </a:xfrm>
              <a:prstGeom prst="roundRect">
                <a:avLst>
                  <a:gd name="adj" fmla="val 8968"/>
                </a:avLst>
              </a:prstGeom>
              <a:solidFill>
                <a:srgbClr val="B4D9D3">
                  <a:alpha val="2549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사각형: 둥근 위쪽 모서리 25">
                <a:extLst>
                  <a:ext uri="{FF2B5EF4-FFF2-40B4-BE49-F238E27FC236}">
                    <a16:creationId xmlns:a16="http://schemas.microsoft.com/office/drawing/2014/main" id="{C62CC199-191C-E46C-D042-619646F6FA50}"/>
                  </a:ext>
                </a:extLst>
              </p:cNvPr>
              <p:cNvSpPr/>
              <p:nvPr/>
            </p:nvSpPr>
            <p:spPr>
              <a:xfrm>
                <a:off x="544168" y="3722946"/>
                <a:ext cx="10825885" cy="488725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rgbClr val="F9F9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사각형: 둥근 위쪽 모서리 26">
                <a:extLst>
                  <a:ext uri="{FF2B5EF4-FFF2-40B4-BE49-F238E27FC236}">
                    <a16:creationId xmlns:a16="http://schemas.microsoft.com/office/drawing/2014/main" id="{3416178F-97B7-69CD-A241-8EFDB497218E}"/>
                  </a:ext>
                </a:extLst>
              </p:cNvPr>
              <p:cNvSpPr/>
              <p:nvPr/>
            </p:nvSpPr>
            <p:spPr>
              <a:xfrm flipV="1">
                <a:off x="522643" y="5209735"/>
                <a:ext cx="10825885" cy="504109"/>
              </a:xfrm>
              <a:prstGeom prst="round2SameRect">
                <a:avLst/>
              </a:prstGeom>
              <a:solidFill>
                <a:srgbClr val="EBF1F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BE58766-3E85-556C-20FF-5C3B66B32303}"/>
                </a:ext>
              </a:extLst>
            </p:cNvPr>
            <p:cNvSpPr txBox="1"/>
            <p:nvPr/>
          </p:nvSpPr>
          <p:spPr>
            <a:xfrm>
              <a:off x="1662824" y="5440381"/>
              <a:ext cx="2186933" cy="371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4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6.74° ± 2.08°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0F41549-A72A-C4AE-B4C6-7A9DBEC80B1C}"/>
                </a:ext>
              </a:extLst>
            </p:cNvPr>
            <p:cNvSpPr txBox="1"/>
            <p:nvPr/>
          </p:nvSpPr>
          <p:spPr>
            <a:xfrm>
              <a:off x="5163548" y="5440381"/>
              <a:ext cx="1612137" cy="371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4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25.08° ± 3.63°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2BC119E-EB4C-F266-F680-DB59CEA57D3D}"/>
                </a:ext>
              </a:extLst>
            </p:cNvPr>
            <p:cNvSpPr txBox="1"/>
            <p:nvPr/>
          </p:nvSpPr>
          <p:spPr>
            <a:xfrm>
              <a:off x="3407473" y="5440381"/>
              <a:ext cx="2186933" cy="371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4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25.99° ± 2.78°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4EFEB6B-468C-7363-4F9B-5B321937BFAA}"/>
                </a:ext>
              </a:extLst>
            </p:cNvPr>
            <p:cNvSpPr txBox="1"/>
            <p:nvPr/>
          </p:nvSpPr>
          <p:spPr>
            <a:xfrm>
              <a:off x="1662824" y="5934780"/>
              <a:ext cx="2212248" cy="371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400" b="1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27.13° ± 5.71°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D1582E3-B847-151A-0DB9-BEF7818541B4}"/>
                </a:ext>
              </a:extLst>
            </p:cNvPr>
            <p:cNvSpPr txBox="1"/>
            <p:nvPr/>
          </p:nvSpPr>
          <p:spPr>
            <a:xfrm>
              <a:off x="5163548" y="5934780"/>
              <a:ext cx="1612137" cy="371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400" b="1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25.65° ± 5.16° 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1526363-65FB-37ED-4C39-DA67074296C0}"/>
                </a:ext>
              </a:extLst>
            </p:cNvPr>
            <p:cNvSpPr txBox="1"/>
            <p:nvPr/>
          </p:nvSpPr>
          <p:spPr>
            <a:xfrm>
              <a:off x="3407473" y="5934780"/>
              <a:ext cx="2186933" cy="371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400" b="1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21.06° ± 2.08°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4B1ECDD-FCB9-595A-3893-B624C1597BDD}"/>
                </a:ext>
              </a:extLst>
            </p:cNvPr>
            <p:cNvSpPr txBox="1"/>
            <p:nvPr/>
          </p:nvSpPr>
          <p:spPr>
            <a:xfrm>
              <a:off x="714686" y="5390993"/>
              <a:ext cx="866112" cy="4114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i="1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exo off</a:t>
              </a:r>
              <a:endParaRPr lang="en-US" altLang="ko-KR" sz="1800" i="1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8436549E-7A8B-A3AC-93EA-04F2E7B71ED8}"/>
                </a:ext>
              </a:extLst>
            </p:cNvPr>
            <p:cNvCxnSpPr>
              <a:cxnSpLocks/>
            </p:cNvCxnSpPr>
            <p:nvPr/>
          </p:nvCxnSpPr>
          <p:spPr>
            <a:xfrm>
              <a:off x="786900" y="5802452"/>
              <a:ext cx="684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004F436-34BC-9E0C-2512-90D3014C011C}"/>
                </a:ext>
              </a:extLst>
            </p:cNvPr>
            <p:cNvSpPr txBox="1"/>
            <p:nvPr/>
          </p:nvSpPr>
          <p:spPr>
            <a:xfrm>
              <a:off x="727264" y="5871356"/>
              <a:ext cx="866112" cy="4114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i="1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exo on</a:t>
              </a:r>
              <a:endParaRPr lang="en-US" altLang="ko-KR" sz="1800" i="1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59B264CF-45FE-76D7-D872-F0EA3BAC6123}"/>
                </a:ext>
              </a:extLst>
            </p:cNvPr>
            <p:cNvCxnSpPr>
              <a:cxnSpLocks/>
            </p:cNvCxnSpPr>
            <p:nvPr/>
          </p:nvCxnSpPr>
          <p:spPr>
            <a:xfrm>
              <a:off x="799478" y="6282815"/>
              <a:ext cx="684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5" name="그림 84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9720D1AC-1AB1-DECD-55AC-8EE72FFD50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6740093" y="5190099"/>
              <a:ext cx="374365" cy="374365"/>
            </a:xfrm>
            <a:prstGeom prst="rect">
              <a:avLst/>
            </a:prstGeom>
          </p:spPr>
        </p:pic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C7EA78F9-63A3-5308-8513-A2508FB4D8AB}"/>
                </a:ext>
              </a:extLst>
            </p:cNvPr>
            <p:cNvSpPr/>
            <p:nvPr/>
          </p:nvSpPr>
          <p:spPr>
            <a:xfrm>
              <a:off x="657796" y="4846970"/>
              <a:ext cx="6073606" cy="530312"/>
            </a:xfrm>
            <a:prstGeom prst="rect">
              <a:avLst/>
            </a:prstGeom>
            <a:solidFill>
              <a:srgbClr val="FBEBE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2B801AA-E53F-9CA0-0243-DAAEE606B95E}"/>
                </a:ext>
              </a:extLst>
            </p:cNvPr>
            <p:cNvSpPr txBox="1"/>
            <p:nvPr/>
          </p:nvSpPr>
          <p:spPr>
            <a:xfrm>
              <a:off x="1718126" y="4881764"/>
              <a:ext cx="2186933" cy="371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4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8.88° ± 3.95°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14187AA-9E95-496D-F86C-0E149020B96A}"/>
                </a:ext>
              </a:extLst>
            </p:cNvPr>
            <p:cNvSpPr txBox="1"/>
            <p:nvPr/>
          </p:nvSpPr>
          <p:spPr>
            <a:xfrm>
              <a:off x="5218850" y="4881764"/>
              <a:ext cx="1612137" cy="371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4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9.14° ± 2.27°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F86E239-DAD6-9E88-6568-FBE9680CA2F3}"/>
                </a:ext>
              </a:extLst>
            </p:cNvPr>
            <p:cNvSpPr txBox="1"/>
            <p:nvPr/>
          </p:nvSpPr>
          <p:spPr>
            <a:xfrm>
              <a:off x="3462775" y="4881764"/>
              <a:ext cx="2186933" cy="371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4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7.92° ± 1.48°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296E2AD-731D-C93A-22FA-3305FEEF432C}"/>
                </a:ext>
              </a:extLst>
            </p:cNvPr>
            <p:cNvSpPr txBox="1"/>
            <p:nvPr/>
          </p:nvSpPr>
          <p:spPr>
            <a:xfrm>
              <a:off x="737462" y="4857938"/>
              <a:ext cx="866112" cy="4114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i="1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no exo</a:t>
              </a:r>
              <a:endParaRPr lang="en-US" altLang="ko-KR" sz="1800" i="1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6A6CA85C-F615-DEBB-F891-C8EAB92C300A}"/>
                </a:ext>
              </a:extLst>
            </p:cNvPr>
            <p:cNvCxnSpPr>
              <a:cxnSpLocks/>
            </p:cNvCxnSpPr>
            <p:nvPr/>
          </p:nvCxnSpPr>
          <p:spPr>
            <a:xfrm>
              <a:off x="812941" y="5238942"/>
              <a:ext cx="684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536DBE9F-D11D-4BA1-F827-138885E1FFD0}"/>
                </a:ext>
              </a:extLst>
            </p:cNvPr>
            <p:cNvCxnSpPr>
              <a:cxnSpLocks/>
            </p:cNvCxnSpPr>
            <p:nvPr/>
          </p:nvCxnSpPr>
          <p:spPr>
            <a:xfrm>
              <a:off x="3256534" y="4452106"/>
              <a:ext cx="0" cy="194400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15F241AD-2329-09D3-65C5-22F5D0A62E17}"/>
                </a:ext>
              </a:extLst>
            </p:cNvPr>
            <p:cNvCxnSpPr>
              <a:cxnSpLocks/>
            </p:cNvCxnSpPr>
            <p:nvPr/>
          </p:nvCxnSpPr>
          <p:spPr>
            <a:xfrm>
              <a:off x="5120688" y="4452106"/>
              <a:ext cx="0" cy="194400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19A4043D-8178-6387-7899-A4CAFB3D07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02227" y="4463173"/>
              <a:ext cx="19004" cy="194400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6774C105-BB33-6A08-B69F-5FF61B6E3D97}"/>
              </a:ext>
            </a:extLst>
          </p:cNvPr>
          <p:cNvSpPr txBox="1"/>
          <p:nvPr/>
        </p:nvSpPr>
        <p:spPr>
          <a:xfrm>
            <a:off x="2166032" y="4484595"/>
            <a:ext cx="866112" cy="41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LG</a:t>
            </a:r>
            <a:endParaRPr lang="en-US" altLang="ko-KR" sz="180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4BC0A88-A49B-1E87-D84D-C4353036A8D5}"/>
              </a:ext>
            </a:extLst>
          </p:cNvPr>
          <p:cNvSpPr txBox="1"/>
          <p:nvPr/>
        </p:nvSpPr>
        <p:spPr>
          <a:xfrm>
            <a:off x="3953476" y="4484595"/>
            <a:ext cx="866112" cy="41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</a:t>
            </a:r>
            <a:endParaRPr lang="en-US" altLang="ko-KR" sz="180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1B46D3A-69FA-66FA-2DA7-09EFB1ED2121}"/>
              </a:ext>
            </a:extLst>
          </p:cNvPr>
          <p:cNvSpPr txBox="1"/>
          <p:nvPr/>
        </p:nvSpPr>
        <p:spPr>
          <a:xfrm>
            <a:off x="5740921" y="4484595"/>
            <a:ext cx="866112" cy="41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DC</a:t>
            </a:r>
            <a:endParaRPr lang="en-US" altLang="ko-KR" sz="180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717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그림 77" descr="블랙, 어둠이(가) 표시된 사진&#10;&#10;자동 생성된 설명">
            <a:extLst>
              <a:ext uri="{FF2B5EF4-FFF2-40B4-BE49-F238E27FC236}">
                <a16:creationId xmlns:a16="http://schemas.microsoft.com/office/drawing/2014/main" id="{250BAB69-F366-BC71-7143-75E4EA1B4E08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909388" y="5268895"/>
            <a:ext cx="374365" cy="374365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17875F3-7C11-DF93-310D-906C056AE925}"/>
              </a:ext>
            </a:extLst>
          </p:cNvPr>
          <p:cNvSpPr txBox="1"/>
          <p:nvPr/>
        </p:nvSpPr>
        <p:spPr>
          <a:xfrm>
            <a:off x="390523" y="56322"/>
            <a:ext cx="5705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 . Results</a:t>
            </a:r>
            <a:endParaRPr lang="en-US" altLang="ko-KR" sz="2400" dirty="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774B1B5-6349-B283-406A-ADED85AC9105}"/>
              </a:ext>
            </a:extLst>
          </p:cNvPr>
          <p:cNvGrpSpPr/>
          <p:nvPr/>
        </p:nvGrpSpPr>
        <p:grpSpPr>
          <a:xfrm>
            <a:off x="1004325" y="1155839"/>
            <a:ext cx="10183350" cy="2931102"/>
            <a:chOff x="-6471000" y="9292482"/>
            <a:chExt cx="19800000" cy="5640565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A3AF229-9F25-EBF7-C2B6-9D4E2543AF51}"/>
                </a:ext>
              </a:extLst>
            </p:cNvPr>
            <p:cNvSpPr/>
            <p:nvPr/>
          </p:nvSpPr>
          <p:spPr>
            <a:xfrm>
              <a:off x="-6471000" y="9292482"/>
              <a:ext cx="19800000" cy="56405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pic>
          <p:nvPicPr>
            <p:cNvPr id="45" name="그림 44" descr="텍스트, 스크린샷, 도표, 번호이(가) 표시된 사진&#10;&#10;자동 생성된 설명">
              <a:extLst>
                <a:ext uri="{FF2B5EF4-FFF2-40B4-BE49-F238E27FC236}">
                  <a16:creationId xmlns:a16="http://schemas.microsoft.com/office/drawing/2014/main" id="{C7DC1894-367E-26D6-9735-53C866008C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111623" y="9820250"/>
              <a:ext cx="6176976" cy="4896000"/>
            </a:xfrm>
            <a:prstGeom prst="rect">
              <a:avLst/>
            </a:prstGeom>
          </p:spPr>
        </p:pic>
        <p:pic>
          <p:nvPicPr>
            <p:cNvPr id="46" name="그림 45" descr="텍스트, 스크린샷, 도표, 폰트이(가) 표시된 사진&#10;&#10;자동 생성된 설명">
              <a:extLst>
                <a:ext uri="{FF2B5EF4-FFF2-40B4-BE49-F238E27FC236}">
                  <a16:creationId xmlns:a16="http://schemas.microsoft.com/office/drawing/2014/main" id="{EBF592C1-97EA-E4F8-4957-5CC6BB831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53917" y="9820250"/>
              <a:ext cx="6176976" cy="4896000"/>
            </a:xfrm>
            <a:prstGeom prst="rect">
              <a:avLst/>
            </a:prstGeom>
          </p:spPr>
        </p:pic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63E46737-5E00-E7FF-C192-38B7FEFF9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275"/>
            <a:stretch/>
          </p:blipFill>
          <p:spPr>
            <a:xfrm>
              <a:off x="224431" y="9676250"/>
              <a:ext cx="6409138" cy="5184000"/>
            </a:xfrm>
            <a:prstGeom prst="rect">
              <a:avLst/>
            </a:prstGeom>
          </p:spPr>
        </p:pic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C4F19672-48CA-0493-F3DF-B08937BB0546}"/>
                </a:ext>
              </a:extLst>
            </p:cNvPr>
            <p:cNvGrpSpPr/>
            <p:nvPr/>
          </p:nvGrpSpPr>
          <p:grpSpPr>
            <a:xfrm>
              <a:off x="-6394800" y="9500772"/>
              <a:ext cx="13651992" cy="566671"/>
              <a:chOff x="-5792286" y="-1910991"/>
              <a:chExt cx="13651992" cy="566671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233BA05-9E25-0C00-0D20-37C1691D8E40}"/>
                  </a:ext>
                </a:extLst>
              </p:cNvPr>
              <p:cNvSpPr txBox="1"/>
              <p:nvPr/>
            </p:nvSpPr>
            <p:spPr>
              <a:xfrm>
                <a:off x="7058203" y="-1910991"/>
                <a:ext cx="801503" cy="56667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(C)</a:t>
                </a:r>
                <a:endParaRPr lang="ko-KR" altLang="en-US" sz="160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4FCC35C-70FB-972B-968F-9934F4433422}"/>
                  </a:ext>
                </a:extLst>
              </p:cNvPr>
              <p:cNvSpPr txBox="1"/>
              <p:nvPr/>
            </p:nvSpPr>
            <p:spPr>
              <a:xfrm>
                <a:off x="604032" y="-1910991"/>
                <a:ext cx="801503" cy="56667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</a:t>
                </a:r>
                <a:endParaRPr lang="ko-KR" altLang="en-US" sz="160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E740379-5562-2698-C541-E1E08D36FD58}"/>
                  </a:ext>
                </a:extLst>
              </p:cNvPr>
              <p:cNvSpPr txBox="1"/>
              <p:nvPr/>
            </p:nvSpPr>
            <p:spPr>
              <a:xfrm>
                <a:off x="-5792286" y="-1910991"/>
                <a:ext cx="801503" cy="56667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</a:t>
                </a:r>
                <a:endParaRPr lang="ko-KR" altLang="en-US" sz="1600" dirty="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C13E3821-73A5-DE0B-9F90-864937CE159B}"/>
              </a:ext>
            </a:extLst>
          </p:cNvPr>
          <p:cNvGrpSpPr/>
          <p:nvPr/>
        </p:nvGrpSpPr>
        <p:grpSpPr>
          <a:xfrm>
            <a:off x="419100" y="676457"/>
            <a:ext cx="2200557" cy="491416"/>
            <a:chOff x="419100" y="676457"/>
            <a:chExt cx="2200557" cy="491416"/>
          </a:xfrm>
        </p:grpSpPr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05CE8A34-3E76-93A6-3B5C-59FB0B9CD561}"/>
                </a:ext>
              </a:extLst>
            </p:cNvPr>
            <p:cNvSpPr/>
            <p:nvPr/>
          </p:nvSpPr>
          <p:spPr>
            <a:xfrm>
              <a:off x="419100" y="725723"/>
              <a:ext cx="2097014" cy="442150"/>
            </a:xfrm>
            <a:prstGeom prst="roundRect">
              <a:avLst>
                <a:gd name="adj" fmla="val 50000"/>
              </a:avLst>
            </a:prstGeom>
            <a:solidFill>
              <a:srgbClr val="32518D"/>
            </a:solidFill>
            <a:ln>
              <a:solidFill>
                <a:srgbClr val="32518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40AFAB0-F43F-2E29-D135-CC83C3A046DE}"/>
                </a:ext>
              </a:extLst>
            </p:cNvPr>
            <p:cNvSpPr txBox="1"/>
            <p:nvPr/>
          </p:nvSpPr>
          <p:spPr>
            <a:xfrm>
              <a:off x="522643" y="676457"/>
              <a:ext cx="2097014" cy="4514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>
                  <a:ln>
                    <a:solidFill>
                      <a:schemeClr val="bg1">
                        <a:alpha val="30000"/>
                      </a:schemeClr>
                    </a:solidFill>
                  </a:ln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Muscle Reduction</a:t>
              </a:r>
              <a:endParaRPr lang="en-US" altLang="ko-KR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61" name="양쪽 대괄호 60">
            <a:extLst>
              <a:ext uri="{FF2B5EF4-FFF2-40B4-BE49-F238E27FC236}">
                <a16:creationId xmlns:a16="http://schemas.microsoft.com/office/drawing/2014/main" id="{9152D8A6-B993-68E6-BC25-B9ED279E605C}"/>
              </a:ext>
            </a:extLst>
          </p:cNvPr>
          <p:cNvSpPr/>
          <p:nvPr/>
        </p:nvSpPr>
        <p:spPr>
          <a:xfrm>
            <a:off x="7342475" y="4523858"/>
            <a:ext cx="4503628" cy="1966854"/>
          </a:xfrm>
          <a:prstGeom prst="bracketPair">
            <a:avLst>
              <a:gd name="adj" fmla="val 10527"/>
            </a:avLst>
          </a:prstGeom>
          <a:solidFill>
            <a:srgbClr val="F5F5F5"/>
          </a:solidFill>
          <a:ln w="28575">
            <a:solidFill>
              <a:srgbClr val="AEAE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8E16C8-668C-0139-7497-BFE175933711}"/>
              </a:ext>
            </a:extLst>
          </p:cNvPr>
          <p:cNvSpPr txBox="1"/>
          <p:nvPr/>
        </p:nvSpPr>
        <p:spPr>
          <a:xfrm>
            <a:off x="669872" y="4096117"/>
            <a:ext cx="4299159" cy="411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average TA muscle activation</a:t>
            </a:r>
            <a:endParaRPr lang="en-US" altLang="ko-KR" sz="1600" i="1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F5FBE0E6-1BA5-0C02-17DE-CE1704A1CDD8}"/>
              </a:ext>
            </a:extLst>
          </p:cNvPr>
          <p:cNvGrpSpPr/>
          <p:nvPr/>
        </p:nvGrpSpPr>
        <p:grpSpPr>
          <a:xfrm>
            <a:off x="7438407" y="4949333"/>
            <a:ext cx="4952245" cy="891293"/>
            <a:chOff x="7418429" y="4591876"/>
            <a:chExt cx="4952245" cy="891293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B3D58E1-4EBE-75F6-90CB-F57BB61493C6}"/>
                </a:ext>
              </a:extLst>
            </p:cNvPr>
            <p:cNvSpPr txBox="1"/>
            <p:nvPr/>
          </p:nvSpPr>
          <p:spPr>
            <a:xfrm>
              <a:off x="7418429" y="4591876"/>
              <a:ext cx="4952245" cy="411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LG, IC: </a:t>
              </a:r>
              <a:r>
                <a:rPr lang="en-US" altLang="ko-KR" sz="1600" b="1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reduction </a:t>
              </a:r>
              <a:r>
                <a:rPr lang="en-US" altLang="ko-KR" sz="16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in </a:t>
              </a:r>
              <a:r>
                <a:rPr lang="en-US" altLang="ko-KR" sz="1600" i="1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exo off , exo on</a:t>
              </a:r>
              <a:r>
                <a:rPr lang="en-US" altLang="ko-KR" sz="16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condition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7EC4D29-1DE1-4C0F-E5DE-D267CC9B3FE5}"/>
                </a:ext>
              </a:extLst>
            </p:cNvPr>
            <p:cNvSpPr txBox="1"/>
            <p:nvPr/>
          </p:nvSpPr>
          <p:spPr>
            <a:xfrm>
              <a:off x="7425199" y="5071710"/>
              <a:ext cx="4692637" cy="411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>
                  <a:ln>
                    <a:solidFill>
                      <a:schemeClr val="tx1">
                        <a:alpha val="30000"/>
                      </a:schemeClr>
                    </a:solidFill>
                  </a:ln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DC: slight increases with exosuit</a:t>
              </a: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2BA796F3-9499-0BA7-7544-EFDA31E2BED7}"/>
              </a:ext>
            </a:extLst>
          </p:cNvPr>
          <p:cNvGrpSpPr/>
          <p:nvPr/>
        </p:nvGrpSpPr>
        <p:grpSpPr>
          <a:xfrm>
            <a:off x="657796" y="4535552"/>
            <a:ext cx="6266834" cy="1990898"/>
            <a:chOff x="522643" y="3722946"/>
            <a:chExt cx="10847410" cy="1990898"/>
          </a:xfrm>
        </p:grpSpPr>
        <p:sp>
          <p:nvSpPr>
            <p:cNvPr id="88" name="사각형: 둥근 모서리 87">
              <a:extLst>
                <a:ext uri="{FF2B5EF4-FFF2-40B4-BE49-F238E27FC236}">
                  <a16:creationId xmlns:a16="http://schemas.microsoft.com/office/drawing/2014/main" id="{8844FE9F-8817-FCD1-2903-13EFA7A1CE0C}"/>
                </a:ext>
              </a:extLst>
            </p:cNvPr>
            <p:cNvSpPr/>
            <p:nvPr/>
          </p:nvSpPr>
          <p:spPr>
            <a:xfrm>
              <a:off x="522643" y="4129597"/>
              <a:ext cx="10841376" cy="1571330"/>
            </a:xfrm>
            <a:prstGeom prst="roundRect">
              <a:avLst>
                <a:gd name="adj" fmla="val 8968"/>
              </a:avLst>
            </a:prstGeom>
            <a:solidFill>
              <a:srgbClr val="B4D9D3">
                <a:alpha val="2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사각형: 둥근 위쪽 모서리 88">
              <a:extLst>
                <a:ext uri="{FF2B5EF4-FFF2-40B4-BE49-F238E27FC236}">
                  <a16:creationId xmlns:a16="http://schemas.microsoft.com/office/drawing/2014/main" id="{8DB44210-8DA9-8270-24ED-57022F19381D}"/>
                </a:ext>
              </a:extLst>
            </p:cNvPr>
            <p:cNvSpPr/>
            <p:nvPr/>
          </p:nvSpPr>
          <p:spPr>
            <a:xfrm>
              <a:off x="544168" y="3722946"/>
              <a:ext cx="10825885" cy="488725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사각형: 둥근 위쪽 모서리 89">
              <a:extLst>
                <a:ext uri="{FF2B5EF4-FFF2-40B4-BE49-F238E27FC236}">
                  <a16:creationId xmlns:a16="http://schemas.microsoft.com/office/drawing/2014/main" id="{25117316-F83B-A6A0-1687-EE005479AFC3}"/>
                </a:ext>
              </a:extLst>
            </p:cNvPr>
            <p:cNvSpPr/>
            <p:nvPr/>
          </p:nvSpPr>
          <p:spPr>
            <a:xfrm flipV="1">
              <a:off x="522643" y="5209735"/>
              <a:ext cx="10825885" cy="504109"/>
            </a:xfrm>
            <a:prstGeom prst="round2SameRect">
              <a:avLst/>
            </a:prstGeom>
            <a:solidFill>
              <a:srgbClr val="EBF1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F51B9156-BD92-0708-B018-7EE74F5B8EED}"/>
              </a:ext>
            </a:extLst>
          </p:cNvPr>
          <p:cNvSpPr txBox="1"/>
          <p:nvPr/>
        </p:nvSpPr>
        <p:spPr>
          <a:xfrm>
            <a:off x="1662824" y="5546680"/>
            <a:ext cx="2186933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12.77% ± 5.02%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86728D9-61A4-6187-A596-5B1A6A27813B}"/>
              </a:ext>
            </a:extLst>
          </p:cNvPr>
          <p:cNvSpPr txBox="1"/>
          <p:nvPr/>
        </p:nvSpPr>
        <p:spPr>
          <a:xfrm>
            <a:off x="5163548" y="5546680"/>
            <a:ext cx="1761085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12.34% ± 10.93%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4EDFBC8-479E-6051-5EB2-EC7AC6446C17}"/>
              </a:ext>
            </a:extLst>
          </p:cNvPr>
          <p:cNvSpPr txBox="1"/>
          <p:nvPr/>
        </p:nvSpPr>
        <p:spPr>
          <a:xfrm>
            <a:off x="3407473" y="5546680"/>
            <a:ext cx="2186933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15.24% ± 12.77%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484A813-D140-F624-D303-325211DC1B82}"/>
              </a:ext>
            </a:extLst>
          </p:cNvPr>
          <p:cNvSpPr txBox="1"/>
          <p:nvPr/>
        </p:nvSpPr>
        <p:spPr>
          <a:xfrm>
            <a:off x="1662824" y="6041079"/>
            <a:ext cx="2212248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13.22% ± 3.43%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8FE233F-63E0-9650-3978-629954773E5E}"/>
              </a:ext>
            </a:extLst>
          </p:cNvPr>
          <p:cNvSpPr txBox="1"/>
          <p:nvPr/>
        </p:nvSpPr>
        <p:spPr>
          <a:xfrm>
            <a:off x="5163547" y="6041079"/>
            <a:ext cx="1761083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12.09% ± 4.81%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D94EFAF-9880-72AE-D7B2-4B9463100472}"/>
              </a:ext>
            </a:extLst>
          </p:cNvPr>
          <p:cNvSpPr txBox="1"/>
          <p:nvPr/>
        </p:nvSpPr>
        <p:spPr>
          <a:xfrm>
            <a:off x="3407473" y="6041079"/>
            <a:ext cx="2186933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9.79% ± 10.12%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66362DC-6DA9-9749-DBCC-5626F36BCD86}"/>
              </a:ext>
            </a:extLst>
          </p:cNvPr>
          <p:cNvSpPr txBox="1"/>
          <p:nvPr/>
        </p:nvSpPr>
        <p:spPr>
          <a:xfrm>
            <a:off x="714686" y="5497292"/>
            <a:ext cx="866112" cy="41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i="1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exo off</a:t>
            </a:r>
            <a:endParaRPr lang="en-US" altLang="ko-KR" sz="1800" i="1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892C3147-F187-C66F-C0A8-551920479E07}"/>
              </a:ext>
            </a:extLst>
          </p:cNvPr>
          <p:cNvCxnSpPr>
            <a:cxnSpLocks/>
          </p:cNvCxnSpPr>
          <p:nvPr/>
        </p:nvCxnSpPr>
        <p:spPr>
          <a:xfrm>
            <a:off x="786900" y="5908751"/>
            <a:ext cx="68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D3D6EC7D-E286-2F50-B04D-9AEFF29FDA3D}"/>
              </a:ext>
            </a:extLst>
          </p:cNvPr>
          <p:cNvSpPr txBox="1"/>
          <p:nvPr/>
        </p:nvSpPr>
        <p:spPr>
          <a:xfrm>
            <a:off x="727264" y="5977655"/>
            <a:ext cx="866112" cy="41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i="1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exo on</a:t>
            </a:r>
            <a:endParaRPr lang="en-US" altLang="ko-KR" sz="1800" i="1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0E32C6FC-01B6-991B-7BC7-955790200745}"/>
              </a:ext>
            </a:extLst>
          </p:cNvPr>
          <p:cNvCxnSpPr>
            <a:cxnSpLocks/>
          </p:cNvCxnSpPr>
          <p:nvPr/>
        </p:nvCxnSpPr>
        <p:spPr>
          <a:xfrm>
            <a:off x="799478" y="6389114"/>
            <a:ext cx="68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733976B8-E8C5-9AA4-E77A-9EE35BC94A9F}"/>
              </a:ext>
            </a:extLst>
          </p:cNvPr>
          <p:cNvSpPr/>
          <p:nvPr/>
        </p:nvSpPr>
        <p:spPr>
          <a:xfrm>
            <a:off x="657795" y="4953269"/>
            <a:ext cx="6254399" cy="530312"/>
          </a:xfrm>
          <a:prstGeom prst="rect">
            <a:avLst/>
          </a:prstGeom>
          <a:solidFill>
            <a:srgbClr val="F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184732D-9F99-0B2A-A821-3563E5DF39F8}"/>
              </a:ext>
            </a:extLst>
          </p:cNvPr>
          <p:cNvSpPr txBox="1"/>
          <p:nvPr/>
        </p:nvSpPr>
        <p:spPr>
          <a:xfrm>
            <a:off x="1718126" y="4988063"/>
            <a:ext cx="2186933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20.63 ± 11.56%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EB0798F-1229-7593-1012-C39BB2AB3C46}"/>
              </a:ext>
            </a:extLst>
          </p:cNvPr>
          <p:cNvSpPr txBox="1"/>
          <p:nvPr/>
        </p:nvSpPr>
        <p:spPr>
          <a:xfrm>
            <a:off x="5218850" y="4988063"/>
            <a:ext cx="1612137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10.75% ± 4.25%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4CE2C2C-18C2-5C96-DF77-A78924A03F31}"/>
              </a:ext>
            </a:extLst>
          </p:cNvPr>
          <p:cNvSpPr txBox="1"/>
          <p:nvPr/>
        </p:nvSpPr>
        <p:spPr>
          <a:xfrm>
            <a:off x="3462775" y="4988063"/>
            <a:ext cx="2186933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18.44% ± 9.92%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2E2CF2A-2ECC-FDBB-DFD8-05CBC2B82716}"/>
              </a:ext>
            </a:extLst>
          </p:cNvPr>
          <p:cNvSpPr txBox="1"/>
          <p:nvPr/>
        </p:nvSpPr>
        <p:spPr>
          <a:xfrm>
            <a:off x="737462" y="4964237"/>
            <a:ext cx="866112" cy="41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i="1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exo</a:t>
            </a:r>
            <a:endParaRPr lang="en-US" altLang="ko-KR" sz="1800" i="1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58E4F10D-ED70-426D-5D04-8706A3DFBF72}"/>
              </a:ext>
            </a:extLst>
          </p:cNvPr>
          <p:cNvCxnSpPr>
            <a:cxnSpLocks/>
          </p:cNvCxnSpPr>
          <p:nvPr/>
        </p:nvCxnSpPr>
        <p:spPr>
          <a:xfrm>
            <a:off x="812941" y="5345241"/>
            <a:ext cx="68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19528990-3720-8DF1-658A-A739D3B94270}"/>
              </a:ext>
            </a:extLst>
          </p:cNvPr>
          <p:cNvCxnSpPr>
            <a:cxnSpLocks/>
          </p:cNvCxnSpPr>
          <p:nvPr/>
        </p:nvCxnSpPr>
        <p:spPr>
          <a:xfrm>
            <a:off x="3407473" y="4569472"/>
            <a:ext cx="0" cy="194400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5DBDD4E6-2FC3-D825-ED77-D72936B36DDB}"/>
              </a:ext>
            </a:extLst>
          </p:cNvPr>
          <p:cNvCxnSpPr>
            <a:cxnSpLocks/>
          </p:cNvCxnSpPr>
          <p:nvPr/>
        </p:nvCxnSpPr>
        <p:spPr>
          <a:xfrm>
            <a:off x="5120688" y="4558405"/>
            <a:ext cx="0" cy="194400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436675AF-8DDF-730D-2367-3F50AD8A8CD2}"/>
              </a:ext>
            </a:extLst>
          </p:cNvPr>
          <p:cNvCxnSpPr>
            <a:cxnSpLocks/>
          </p:cNvCxnSpPr>
          <p:nvPr/>
        </p:nvCxnSpPr>
        <p:spPr>
          <a:xfrm flipH="1">
            <a:off x="1602227" y="4569472"/>
            <a:ext cx="19004" cy="194400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C54AF726-598D-C90D-6F41-DDC2F8516552}"/>
              </a:ext>
            </a:extLst>
          </p:cNvPr>
          <p:cNvSpPr txBox="1"/>
          <p:nvPr/>
        </p:nvSpPr>
        <p:spPr>
          <a:xfrm>
            <a:off x="2166032" y="4484595"/>
            <a:ext cx="866112" cy="41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LG</a:t>
            </a:r>
            <a:endParaRPr lang="en-US" altLang="ko-KR" sz="180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6765A14-5B34-7B2B-41A8-B5CEDC925651}"/>
              </a:ext>
            </a:extLst>
          </p:cNvPr>
          <p:cNvSpPr txBox="1"/>
          <p:nvPr/>
        </p:nvSpPr>
        <p:spPr>
          <a:xfrm>
            <a:off x="3953476" y="4484595"/>
            <a:ext cx="866112" cy="41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</a:t>
            </a:r>
            <a:endParaRPr lang="en-US" altLang="ko-KR" sz="180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70921D1-D6B3-5CD4-496E-D7E9310629F3}"/>
              </a:ext>
            </a:extLst>
          </p:cNvPr>
          <p:cNvSpPr txBox="1"/>
          <p:nvPr/>
        </p:nvSpPr>
        <p:spPr>
          <a:xfrm>
            <a:off x="5740921" y="4484595"/>
            <a:ext cx="866112" cy="41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DC</a:t>
            </a:r>
            <a:endParaRPr lang="en-US" altLang="ko-KR" sz="180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60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29E97-0329-3A68-26E9-5E1BDD759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9E22DE2C-1CF0-DC98-DCE2-1BAC8904B889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CDD3367-4843-140D-4F23-8AD66A2CF826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25DC2B63-0C75-F12E-B645-4A3B29A114C2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89AFFCB-1514-2794-05F0-95B9F0B54765}"/>
              </a:ext>
            </a:extLst>
          </p:cNvPr>
          <p:cNvSpPr txBox="1"/>
          <p:nvPr/>
        </p:nvSpPr>
        <p:spPr>
          <a:xfrm>
            <a:off x="390523" y="56322"/>
            <a:ext cx="5705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 . Results</a:t>
            </a:r>
            <a:endParaRPr lang="en-US" altLang="ko-KR" sz="2400" dirty="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9D4760C-C738-A5D1-5ADC-7971B1472355}"/>
              </a:ext>
            </a:extLst>
          </p:cNvPr>
          <p:cNvGrpSpPr/>
          <p:nvPr/>
        </p:nvGrpSpPr>
        <p:grpSpPr>
          <a:xfrm>
            <a:off x="419100" y="676457"/>
            <a:ext cx="2200557" cy="491416"/>
            <a:chOff x="419100" y="676457"/>
            <a:chExt cx="2200557" cy="491416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0D5855D3-8BA3-F6C8-6574-4DC6C99CD828}"/>
                </a:ext>
              </a:extLst>
            </p:cNvPr>
            <p:cNvSpPr/>
            <p:nvPr/>
          </p:nvSpPr>
          <p:spPr>
            <a:xfrm>
              <a:off x="419100" y="725723"/>
              <a:ext cx="2097014" cy="442150"/>
            </a:xfrm>
            <a:prstGeom prst="roundRect">
              <a:avLst>
                <a:gd name="adj" fmla="val 50000"/>
              </a:avLst>
            </a:prstGeom>
            <a:solidFill>
              <a:srgbClr val="32518D"/>
            </a:solidFill>
            <a:ln>
              <a:solidFill>
                <a:srgbClr val="32518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BA5443E-4694-BB71-FA91-48121B7F5CFA}"/>
                </a:ext>
              </a:extLst>
            </p:cNvPr>
            <p:cNvSpPr txBox="1"/>
            <p:nvPr/>
          </p:nvSpPr>
          <p:spPr>
            <a:xfrm>
              <a:off x="522643" y="676457"/>
              <a:ext cx="2097014" cy="4514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>
                  <a:ln>
                    <a:solidFill>
                      <a:schemeClr val="bg1">
                        <a:alpha val="30000"/>
                      </a:schemeClr>
                    </a:solidFill>
                  </a:ln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Muscle Reduction</a:t>
              </a:r>
              <a:endParaRPr lang="en-US" altLang="ko-KR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DEF132B-6F54-DA51-19F4-9A2A82E800C5}"/>
              </a:ext>
            </a:extLst>
          </p:cNvPr>
          <p:cNvGrpSpPr/>
          <p:nvPr/>
        </p:nvGrpSpPr>
        <p:grpSpPr>
          <a:xfrm>
            <a:off x="1300628" y="1397287"/>
            <a:ext cx="9765566" cy="2718053"/>
            <a:chOff x="-5133678" y="5274128"/>
            <a:chExt cx="18750774" cy="4724748"/>
          </a:xfrm>
        </p:grpSpPr>
        <p:pic>
          <p:nvPicPr>
            <p:cNvPr id="28" name="그림 27" descr="텍스트, 스크린샷, 도표, 폰트이(가) 표시된 사진&#10;&#10;자동 생성된 설명">
              <a:extLst>
                <a:ext uri="{FF2B5EF4-FFF2-40B4-BE49-F238E27FC236}">
                  <a16:creationId xmlns:a16="http://schemas.microsoft.com/office/drawing/2014/main" id="{3044520F-21BF-18B9-46BD-D80763CC3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133678" y="5274128"/>
              <a:ext cx="5960920" cy="4724748"/>
            </a:xfrm>
            <a:prstGeom prst="rect">
              <a:avLst/>
            </a:prstGeom>
          </p:spPr>
        </p:pic>
        <p:pic>
          <p:nvPicPr>
            <p:cNvPr id="29" name="그림 28" descr="텍스트, 스크린샷, 도표, 폰트이(가) 표시된 사진&#10;&#10;자동 생성된 설명">
              <a:extLst>
                <a:ext uri="{FF2B5EF4-FFF2-40B4-BE49-F238E27FC236}">
                  <a16:creationId xmlns:a16="http://schemas.microsoft.com/office/drawing/2014/main" id="{CEFA20F2-D7AF-015E-0D71-2C0BB759B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6178" y="5274128"/>
              <a:ext cx="5960918" cy="4724748"/>
            </a:xfrm>
            <a:prstGeom prst="rect">
              <a:avLst/>
            </a:prstGeom>
          </p:spPr>
        </p:pic>
        <p:pic>
          <p:nvPicPr>
            <p:cNvPr id="30" name="그림 29" descr="텍스트, 스크린샷, 도표, 폰트이(가) 표시된 사진&#10;&#10;자동 생성된 설명">
              <a:extLst>
                <a:ext uri="{FF2B5EF4-FFF2-40B4-BE49-F238E27FC236}">
                  <a16:creationId xmlns:a16="http://schemas.microsoft.com/office/drawing/2014/main" id="{DA12F027-2758-D7BC-9039-BDF1D6034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5947" y="5274128"/>
              <a:ext cx="5960920" cy="4724748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59D9E9A6-AEA8-4220-1917-CD17217BFA9B}"/>
              </a:ext>
            </a:extLst>
          </p:cNvPr>
          <p:cNvSpPr txBox="1"/>
          <p:nvPr/>
        </p:nvSpPr>
        <p:spPr>
          <a:xfrm>
            <a:off x="7755585" y="1230972"/>
            <a:ext cx="412221" cy="294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ko-KR" altLang="en-US" sz="1600" dirty="0">
              <a:ln>
                <a:solidFill>
                  <a:schemeClr val="tx1">
                    <a:alpha val="30000"/>
                  </a:schemeClr>
                </a:solidFill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E57805-1853-72AE-B022-FD45C49091A5}"/>
              </a:ext>
            </a:extLst>
          </p:cNvPr>
          <p:cNvSpPr txBox="1"/>
          <p:nvPr/>
        </p:nvSpPr>
        <p:spPr>
          <a:xfrm>
            <a:off x="4436136" y="1230972"/>
            <a:ext cx="412221" cy="294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ko-KR" altLang="en-US" sz="1600" dirty="0">
              <a:ln>
                <a:solidFill>
                  <a:schemeClr val="tx1">
                    <a:alpha val="30000"/>
                  </a:schemeClr>
                </a:solidFill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07119DB-5DF2-8552-4730-CBBA908D8F8C}"/>
              </a:ext>
            </a:extLst>
          </p:cNvPr>
          <p:cNvSpPr txBox="1"/>
          <p:nvPr/>
        </p:nvSpPr>
        <p:spPr>
          <a:xfrm>
            <a:off x="1146442" y="1230972"/>
            <a:ext cx="412221" cy="294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ko-KR" altLang="en-US" sz="1600" dirty="0">
              <a:ln>
                <a:solidFill>
                  <a:schemeClr val="tx1">
                    <a:alpha val="30000"/>
                  </a:schemeClr>
                </a:solidFill>
              </a:ln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그림 33" descr="블랙, 어둠이(가) 표시된 사진&#10;&#10;자동 생성된 설명">
            <a:extLst>
              <a:ext uri="{FF2B5EF4-FFF2-40B4-BE49-F238E27FC236}">
                <a16:creationId xmlns:a16="http://schemas.microsoft.com/office/drawing/2014/main" id="{A5B8ECBF-0E9A-B923-04A7-37A8441FC796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909388" y="5268895"/>
            <a:ext cx="374365" cy="374365"/>
          </a:xfrm>
          <a:prstGeom prst="rect">
            <a:avLst/>
          </a:prstGeom>
        </p:spPr>
      </p:pic>
      <p:sp>
        <p:nvSpPr>
          <p:cNvPr id="35" name="양쪽 대괄호 34">
            <a:extLst>
              <a:ext uri="{FF2B5EF4-FFF2-40B4-BE49-F238E27FC236}">
                <a16:creationId xmlns:a16="http://schemas.microsoft.com/office/drawing/2014/main" id="{8E3C80B3-0DF3-7EF4-C57C-649BFA58164A}"/>
              </a:ext>
            </a:extLst>
          </p:cNvPr>
          <p:cNvSpPr/>
          <p:nvPr/>
        </p:nvSpPr>
        <p:spPr>
          <a:xfrm>
            <a:off x="7342475" y="4523858"/>
            <a:ext cx="4503628" cy="1966854"/>
          </a:xfrm>
          <a:prstGeom prst="bracketPair">
            <a:avLst>
              <a:gd name="adj" fmla="val 10527"/>
            </a:avLst>
          </a:prstGeom>
          <a:solidFill>
            <a:srgbClr val="F5F5F5"/>
          </a:solidFill>
          <a:ln w="28575">
            <a:solidFill>
              <a:srgbClr val="AEAE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169353-9EA2-2622-2DF0-F08AA0509C51}"/>
              </a:ext>
            </a:extLst>
          </p:cNvPr>
          <p:cNvSpPr txBox="1"/>
          <p:nvPr/>
        </p:nvSpPr>
        <p:spPr>
          <a:xfrm>
            <a:off x="669872" y="4096117"/>
            <a:ext cx="4299159" cy="411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average MG muscle activation</a:t>
            </a:r>
            <a:endParaRPr lang="en-US" altLang="ko-KR" sz="1600" i="1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28DDE1C-6CEE-66AE-29AE-448BF6B27121}"/>
              </a:ext>
            </a:extLst>
          </p:cNvPr>
          <p:cNvSpPr txBox="1"/>
          <p:nvPr/>
        </p:nvSpPr>
        <p:spPr>
          <a:xfrm>
            <a:off x="7566429" y="5153910"/>
            <a:ext cx="4083361" cy="411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LG, IC, DC: </a:t>
            </a:r>
            <a:r>
              <a:rPr lang="en-US" altLang="ko-KR" sz="1600" b="1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reduction </a:t>
            </a: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</a:t>
            </a:r>
            <a:r>
              <a:rPr lang="en-US" altLang="ko-KR" sz="1600" i="1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exo on</a:t>
            </a: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condition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12551D6-33AA-B7F5-7FDA-C3D945A4D9E3}"/>
              </a:ext>
            </a:extLst>
          </p:cNvPr>
          <p:cNvGrpSpPr/>
          <p:nvPr/>
        </p:nvGrpSpPr>
        <p:grpSpPr>
          <a:xfrm>
            <a:off x="657796" y="4535552"/>
            <a:ext cx="6266834" cy="1990898"/>
            <a:chOff x="522643" y="3722946"/>
            <a:chExt cx="10847410" cy="1990898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F7D94B12-E597-6395-B011-F17B19C3118C}"/>
                </a:ext>
              </a:extLst>
            </p:cNvPr>
            <p:cNvSpPr/>
            <p:nvPr/>
          </p:nvSpPr>
          <p:spPr>
            <a:xfrm>
              <a:off x="522643" y="4129597"/>
              <a:ext cx="10841376" cy="1571330"/>
            </a:xfrm>
            <a:prstGeom prst="roundRect">
              <a:avLst>
                <a:gd name="adj" fmla="val 8968"/>
              </a:avLst>
            </a:prstGeom>
            <a:solidFill>
              <a:srgbClr val="B4D9D3">
                <a:alpha val="2549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사각형: 둥근 위쪽 모서리 41">
              <a:extLst>
                <a:ext uri="{FF2B5EF4-FFF2-40B4-BE49-F238E27FC236}">
                  <a16:creationId xmlns:a16="http://schemas.microsoft.com/office/drawing/2014/main" id="{04802000-3AB4-316C-E03D-48533CD22F61}"/>
                </a:ext>
              </a:extLst>
            </p:cNvPr>
            <p:cNvSpPr/>
            <p:nvPr/>
          </p:nvSpPr>
          <p:spPr>
            <a:xfrm>
              <a:off x="544168" y="3722946"/>
              <a:ext cx="10825885" cy="488725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9F9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사각형: 둥근 위쪽 모서리 42">
              <a:extLst>
                <a:ext uri="{FF2B5EF4-FFF2-40B4-BE49-F238E27FC236}">
                  <a16:creationId xmlns:a16="http://schemas.microsoft.com/office/drawing/2014/main" id="{B7C5632C-D2E4-92A3-4C5B-607876628D17}"/>
                </a:ext>
              </a:extLst>
            </p:cNvPr>
            <p:cNvSpPr/>
            <p:nvPr/>
          </p:nvSpPr>
          <p:spPr>
            <a:xfrm flipV="1">
              <a:off x="522643" y="5209735"/>
              <a:ext cx="10825885" cy="504109"/>
            </a:xfrm>
            <a:prstGeom prst="round2SameRect">
              <a:avLst/>
            </a:prstGeom>
            <a:solidFill>
              <a:srgbClr val="EBF1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E1750A74-E95B-80BB-2949-91FF54842A6F}"/>
              </a:ext>
            </a:extLst>
          </p:cNvPr>
          <p:cNvSpPr txBox="1"/>
          <p:nvPr/>
        </p:nvSpPr>
        <p:spPr>
          <a:xfrm>
            <a:off x="1662824" y="5546680"/>
            <a:ext cx="2186933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8.51% ± 4.04%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469DE0-7D25-B32B-0E4C-B0EB2C0700CB}"/>
              </a:ext>
            </a:extLst>
          </p:cNvPr>
          <p:cNvSpPr txBox="1"/>
          <p:nvPr/>
        </p:nvSpPr>
        <p:spPr>
          <a:xfrm>
            <a:off x="5163548" y="5546680"/>
            <a:ext cx="1761085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7.62% ± 3.41%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6898EB-DD43-800F-8F60-B84AA179C76E}"/>
              </a:ext>
            </a:extLst>
          </p:cNvPr>
          <p:cNvSpPr txBox="1"/>
          <p:nvPr/>
        </p:nvSpPr>
        <p:spPr>
          <a:xfrm>
            <a:off x="3407473" y="5546680"/>
            <a:ext cx="2186933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10.66% ± 5.99%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F8B11B-E1AF-71D9-07E9-9AFEBB892030}"/>
              </a:ext>
            </a:extLst>
          </p:cNvPr>
          <p:cNvSpPr txBox="1"/>
          <p:nvPr/>
        </p:nvSpPr>
        <p:spPr>
          <a:xfrm>
            <a:off x="1662824" y="6041079"/>
            <a:ext cx="2212248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4.87% ± 1.21%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5C7260-486A-68BA-9ECE-DB5A8DA0E17B}"/>
              </a:ext>
            </a:extLst>
          </p:cNvPr>
          <p:cNvSpPr txBox="1"/>
          <p:nvPr/>
        </p:nvSpPr>
        <p:spPr>
          <a:xfrm>
            <a:off x="5163547" y="6041079"/>
            <a:ext cx="1761083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6.41% ± 2.19%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3039946-042D-20BA-48DA-7FED22B9ED8C}"/>
              </a:ext>
            </a:extLst>
          </p:cNvPr>
          <p:cNvSpPr txBox="1"/>
          <p:nvPr/>
        </p:nvSpPr>
        <p:spPr>
          <a:xfrm>
            <a:off x="3407473" y="6041079"/>
            <a:ext cx="2186933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4.70% ± 1.69%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E2F5893-5068-7D1A-1F50-DD89175A2230}"/>
              </a:ext>
            </a:extLst>
          </p:cNvPr>
          <p:cNvSpPr txBox="1"/>
          <p:nvPr/>
        </p:nvSpPr>
        <p:spPr>
          <a:xfrm>
            <a:off x="714686" y="5497292"/>
            <a:ext cx="866112" cy="41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i="1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exo off</a:t>
            </a:r>
            <a:endParaRPr lang="en-US" altLang="ko-KR" sz="1800" i="1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650A8D90-5110-6212-9A21-486E78BDEF71}"/>
              </a:ext>
            </a:extLst>
          </p:cNvPr>
          <p:cNvCxnSpPr>
            <a:cxnSpLocks/>
          </p:cNvCxnSpPr>
          <p:nvPr/>
        </p:nvCxnSpPr>
        <p:spPr>
          <a:xfrm>
            <a:off x="786900" y="5908751"/>
            <a:ext cx="68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F88446F2-3FCC-6DC0-BD1C-2818E8DAC107}"/>
              </a:ext>
            </a:extLst>
          </p:cNvPr>
          <p:cNvSpPr txBox="1"/>
          <p:nvPr/>
        </p:nvSpPr>
        <p:spPr>
          <a:xfrm>
            <a:off x="727264" y="5977655"/>
            <a:ext cx="866112" cy="41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i="1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exo on</a:t>
            </a:r>
            <a:endParaRPr lang="en-US" altLang="ko-KR" sz="1800" i="1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02232DFF-F7B3-9506-62E8-E1ECC3B75E9F}"/>
              </a:ext>
            </a:extLst>
          </p:cNvPr>
          <p:cNvCxnSpPr>
            <a:cxnSpLocks/>
          </p:cNvCxnSpPr>
          <p:nvPr/>
        </p:nvCxnSpPr>
        <p:spPr>
          <a:xfrm>
            <a:off x="799478" y="6389114"/>
            <a:ext cx="68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8436F6F-E9EE-62CC-4109-21CE3F637217}"/>
              </a:ext>
            </a:extLst>
          </p:cNvPr>
          <p:cNvSpPr/>
          <p:nvPr/>
        </p:nvSpPr>
        <p:spPr>
          <a:xfrm>
            <a:off x="657795" y="4953269"/>
            <a:ext cx="6254399" cy="530312"/>
          </a:xfrm>
          <a:prstGeom prst="rect">
            <a:avLst/>
          </a:prstGeom>
          <a:solidFill>
            <a:srgbClr val="FBE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933210F-2A48-DDB7-1060-CA9FC096D21F}"/>
              </a:ext>
            </a:extLst>
          </p:cNvPr>
          <p:cNvSpPr txBox="1"/>
          <p:nvPr/>
        </p:nvSpPr>
        <p:spPr>
          <a:xfrm>
            <a:off x="1718126" y="4988063"/>
            <a:ext cx="2186933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7.88% ± 6.61%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4F5BCC0-90BC-7DFD-6C67-313E4D35FC1D}"/>
              </a:ext>
            </a:extLst>
          </p:cNvPr>
          <p:cNvSpPr txBox="1"/>
          <p:nvPr/>
        </p:nvSpPr>
        <p:spPr>
          <a:xfrm>
            <a:off x="5218850" y="4988063"/>
            <a:ext cx="1612137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9.97% ± 7.35%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0B670FB-EA35-11C7-A95E-E3680511F5F9}"/>
              </a:ext>
            </a:extLst>
          </p:cNvPr>
          <p:cNvSpPr txBox="1"/>
          <p:nvPr/>
        </p:nvSpPr>
        <p:spPr>
          <a:xfrm>
            <a:off x="3462775" y="4988063"/>
            <a:ext cx="2186933" cy="371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11.71% ± 8.83%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ADC3DA7-D333-153A-02F9-64D648C4EAE8}"/>
              </a:ext>
            </a:extLst>
          </p:cNvPr>
          <p:cNvSpPr txBox="1"/>
          <p:nvPr/>
        </p:nvSpPr>
        <p:spPr>
          <a:xfrm>
            <a:off x="737462" y="4964237"/>
            <a:ext cx="866112" cy="41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i="1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exo</a:t>
            </a:r>
            <a:endParaRPr lang="en-US" altLang="ko-KR" sz="1800" i="1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F9DD8D72-DBFB-37AF-4EF4-42C6FD0A27EC}"/>
              </a:ext>
            </a:extLst>
          </p:cNvPr>
          <p:cNvCxnSpPr>
            <a:cxnSpLocks/>
          </p:cNvCxnSpPr>
          <p:nvPr/>
        </p:nvCxnSpPr>
        <p:spPr>
          <a:xfrm>
            <a:off x="812941" y="5345241"/>
            <a:ext cx="68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5B5CFE88-0B11-67D9-E1BF-1B30125E5549}"/>
              </a:ext>
            </a:extLst>
          </p:cNvPr>
          <p:cNvCxnSpPr>
            <a:cxnSpLocks/>
          </p:cNvCxnSpPr>
          <p:nvPr/>
        </p:nvCxnSpPr>
        <p:spPr>
          <a:xfrm>
            <a:off x="3407473" y="4569472"/>
            <a:ext cx="0" cy="194400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AAD81E1-4986-C315-7B15-1817DD0AD42C}"/>
              </a:ext>
            </a:extLst>
          </p:cNvPr>
          <p:cNvCxnSpPr>
            <a:cxnSpLocks/>
          </p:cNvCxnSpPr>
          <p:nvPr/>
        </p:nvCxnSpPr>
        <p:spPr>
          <a:xfrm>
            <a:off x="5120688" y="4558405"/>
            <a:ext cx="0" cy="194400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F5053D25-5BA7-8E33-FB76-4ACADDFE080D}"/>
              </a:ext>
            </a:extLst>
          </p:cNvPr>
          <p:cNvCxnSpPr>
            <a:cxnSpLocks/>
          </p:cNvCxnSpPr>
          <p:nvPr/>
        </p:nvCxnSpPr>
        <p:spPr>
          <a:xfrm flipH="1">
            <a:off x="1602227" y="4569472"/>
            <a:ext cx="19004" cy="194400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72C731C-73C9-3F92-A068-DC399ABE33E3}"/>
              </a:ext>
            </a:extLst>
          </p:cNvPr>
          <p:cNvSpPr txBox="1"/>
          <p:nvPr/>
        </p:nvSpPr>
        <p:spPr>
          <a:xfrm>
            <a:off x="2166032" y="4484595"/>
            <a:ext cx="866112" cy="41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LG</a:t>
            </a:r>
            <a:endParaRPr lang="en-US" altLang="ko-KR" sz="180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FBFA67E-5C4A-8B67-F7EE-17E164A98D9C}"/>
              </a:ext>
            </a:extLst>
          </p:cNvPr>
          <p:cNvSpPr txBox="1"/>
          <p:nvPr/>
        </p:nvSpPr>
        <p:spPr>
          <a:xfrm>
            <a:off x="3953476" y="4484595"/>
            <a:ext cx="866112" cy="41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</a:t>
            </a:r>
            <a:endParaRPr lang="en-US" altLang="ko-KR" sz="180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AFCC1CB-0306-FB2A-A593-880E0F806EB7}"/>
              </a:ext>
            </a:extLst>
          </p:cNvPr>
          <p:cNvSpPr txBox="1"/>
          <p:nvPr/>
        </p:nvSpPr>
        <p:spPr>
          <a:xfrm>
            <a:off x="5740921" y="4484595"/>
            <a:ext cx="866112" cy="41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DC</a:t>
            </a:r>
            <a:endParaRPr lang="en-US" altLang="ko-KR" sz="180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743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4F6AD74-78CD-5E60-2E9A-C0FC7B29B913}"/>
              </a:ext>
            </a:extLst>
          </p:cNvPr>
          <p:cNvSpPr txBox="1"/>
          <p:nvPr/>
        </p:nvSpPr>
        <p:spPr>
          <a:xfrm>
            <a:off x="419100" y="95311"/>
            <a:ext cx="26125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 . Conclusion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80117A4-D65A-46DE-674F-C3431D9B500D}"/>
              </a:ext>
            </a:extLst>
          </p:cNvPr>
          <p:cNvGrpSpPr/>
          <p:nvPr/>
        </p:nvGrpSpPr>
        <p:grpSpPr>
          <a:xfrm>
            <a:off x="-1" y="0"/>
            <a:ext cx="12198525" cy="1143002"/>
            <a:chOff x="-3" y="11651"/>
            <a:chExt cx="12345021" cy="1143002"/>
          </a:xfrm>
          <a:gradFill flip="none" rotWithShape="1">
            <a:gsLst>
              <a:gs pos="0">
                <a:srgbClr val="32CCCF"/>
              </a:gs>
              <a:gs pos="34000">
                <a:srgbClr val="2E196F"/>
              </a:gs>
            </a:gsLst>
            <a:lin ang="18900000" scaled="1"/>
            <a:tileRect/>
          </a:gradFill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D272973E-CECF-D913-0372-87EADC77E912}"/>
                </a:ext>
              </a:extLst>
            </p:cNvPr>
            <p:cNvCxnSpPr>
              <a:cxnSpLocks/>
            </p:cNvCxnSpPr>
            <p:nvPr/>
          </p:nvCxnSpPr>
          <p:spPr>
            <a:xfrm>
              <a:off x="395212" y="582848"/>
              <a:ext cx="11949806" cy="0"/>
            </a:xfrm>
            <a:prstGeom prst="line">
              <a:avLst/>
            </a:prstGeom>
            <a:grpFill/>
            <a:ln w="15875">
              <a:solidFill>
                <a:srgbClr val="2E196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이등변 삼각형 21">
              <a:extLst>
                <a:ext uri="{FF2B5EF4-FFF2-40B4-BE49-F238E27FC236}">
                  <a16:creationId xmlns:a16="http://schemas.microsoft.com/office/drawing/2014/main" id="{90D7F18E-A5C0-CB81-F3C6-B3997B7A0FD9}"/>
                </a:ext>
              </a:extLst>
            </p:cNvPr>
            <p:cNvSpPr/>
            <p:nvPr/>
          </p:nvSpPr>
          <p:spPr>
            <a:xfrm rot="5400000">
              <a:off x="-359437" y="371085"/>
              <a:ext cx="1143002" cy="424133"/>
            </a:xfrm>
            <a:prstGeom prst="triangle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42E4AF99-A897-4A28-3850-4866FFA93DF4}"/>
              </a:ext>
            </a:extLst>
          </p:cNvPr>
          <p:cNvSpPr/>
          <p:nvPr/>
        </p:nvSpPr>
        <p:spPr>
          <a:xfrm>
            <a:off x="927101" y="1487087"/>
            <a:ext cx="10847083" cy="1981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Tx/>
              <a:buChar char="-"/>
            </a:pPr>
            <a:r>
              <a:rPr lang="en-US" altLang="ko-KR" sz="1600">
                <a:ln>
                  <a:solidFill>
                    <a:srgbClr val="32518D"/>
                  </a:solidFill>
                </a:ln>
                <a:solidFill>
                  <a:srgbClr val="32518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vision-based detection algorithm </a:t>
            </a: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an ankle exosuit, focusing on improving gait support for stroke patients</a:t>
            </a:r>
          </a:p>
          <a:p>
            <a:pPr marL="285750" indent="-285750" algn="just">
              <a:lnSpc>
                <a:spcPct val="200000"/>
              </a:lnSpc>
              <a:buFontTx/>
              <a:buChar char="-"/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integration of </a:t>
            </a:r>
            <a:r>
              <a:rPr lang="en-US" altLang="ko-KR" sz="1600">
                <a:ln>
                  <a:solidFill>
                    <a:srgbClr val="32518D"/>
                  </a:solidFill>
                </a:ln>
                <a:solidFill>
                  <a:srgbClr val="32518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YOLOv8</a:t>
            </a: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environment classification and </a:t>
            </a:r>
            <a:r>
              <a:rPr lang="en-US" altLang="ko-KR" sz="1600">
                <a:ln>
                  <a:solidFill>
                    <a:srgbClr val="32518D"/>
                  </a:solidFill>
                </a:ln>
                <a:solidFill>
                  <a:srgbClr val="32518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LSTM</a:t>
            </a: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spatio-temporal recognition</a:t>
            </a:r>
          </a:p>
          <a:p>
            <a:pPr marL="285750" indent="-285750" algn="just">
              <a:lnSpc>
                <a:spcPct val="200000"/>
              </a:lnSpc>
              <a:buFontTx/>
              <a:buChar char="-"/>
            </a:pPr>
            <a:r>
              <a:rPr lang="en-US" altLang="ko-KR" sz="1600">
                <a:ln>
                  <a:solidFill>
                    <a:srgbClr val="32518D"/>
                  </a:solidFill>
                </a:ln>
                <a:solidFill>
                  <a:srgbClr val="32518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rapid and accurate classification </a:t>
            </a: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during gait environment transition</a:t>
            </a:r>
          </a:p>
          <a:p>
            <a:pPr marL="285750" indent="-285750" algn="just">
              <a:lnSpc>
                <a:spcPct val="200000"/>
              </a:lnSpc>
              <a:buFontTx/>
              <a:buChar char="-"/>
            </a:pPr>
            <a:r>
              <a:rPr lang="en-US" altLang="ko-KR" sz="1600">
                <a:ln>
                  <a:solidFill>
                    <a:srgbClr val="32518D"/>
                  </a:solidFill>
                </a:ln>
                <a:solidFill>
                  <a:srgbClr val="32518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increased ankle dorsiflexion / Reduced TA and MG muscle activation </a:t>
            </a:r>
            <a:endParaRPr lang="en-US" altLang="ko-KR" sz="1600" dirty="0">
              <a:ln>
                <a:solidFill>
                  <a:srgbClr val="32518D"/>
                </a:solidFill>
              </a:ln>
              <a:solidFill>
                <a:srgbClr val="32518D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346EAE9-9A26-73B7-C18E-8EEAC78DB588}"/>
              </a:ext>
            </a:extLst>
          </p:cNvPr>
          <p:cNvGrpSpPr/>
          <p:nvPr/>
        </p:nvGrpSpPr>
        <p:grpSpPr>
          <a:xfrm>
            <a:off x="927101" y="983170"/>
            <a:ext cx="1945774" cy="484804"/>
            <a:chOff x="749300" y="972028"/>
            <a:chExt cx="2501900" cy="484804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D37BB34A-7094-9A15-ACFB-7DA1FBC0F20D}"/>
                </a:ext>
              </a:extLst>
            </p:cNvPr>
            <p:cNvSpPr/>
            <p:nvPr/>
          </p:nvSpPr>
          <p:spPr>
            <a:xfrm>
              <a:off x="749300" y="1002283"/>
              <a:ext cx="2501900" cy="454549"/>
            </a:xfrm>
            <a:prstGeom prst="roundRect">
              <a:avLst>
                <a:gd name="adj" fmla="val 50000"/>
              </a:avLst>
            </a:prstGeom>
            <a:solidFill>
              <a:srgbClr val="32518D"/>
            </a:solidFill>
            <a:ln>
              <a:solidFill>
                <a:srgbClr val="32518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D878612-4BBE-6D97-0B4D-72D796C90701}"/>
                </a:ext>
              </a:extLst>
            </p:cNvPr>
            <p:cNvSpPr txBox="1"/>
            <p:nvPr/>
          </p:nvSpPr>
          <p:spPr>
            <a:xfrm>
              <a:off x="916892" y="972028"/>
              <a:ext cx="2193755" cy="454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dirty="0">
                  <a:ln>
                    <a:solidFill>
                      <a:schemeClr val="bg1">
                        <a:alpha val="30000"/>
                      </a:schemeClr>
                    </a:solidFill>
                  </a:ln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Conclusion</a:t>
              </a:r>
              <a:endParaRPr lang="en-US" altLang="ko-KR" sz="1200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25749C7-129B-76B6-F7A3-09FFF9FA25E1}"/>
              </a:ext>
            </a:extLst>
          </p:cNvPr>
          <p:cNvSpPr/>
          <p:nvPr/>
        </p:nvSpPr>
        <p:spPr>
          <a:xfrm>
            <a:off x="927101" y="4519556"/>
            <a:ext cx="11011470" cy="996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lnSpc>
                <a:spcPct val="200000"/>
              </a:lnSpc>
              <a:buFontTx/>
              <a:buChar char="-"/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Validate across diverse real-world scenarios and multiple stroke patients</a:t>
            </a:r>
          </a:p>
          <a:p>
            <a:pPr marL="285750" indent="-285750" algn="l">
              <a:lnSpc>
                <a:spcPct val="200000"/>
              </a:lnSpc>
              <a:buFontTx/>
              <a:buChar char="-"/>
            </a:pPr>
            <a:r>
              <a:rPr lang="en-US" altLang="ko-KR" sz="160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Enhance the effectiveness and generalization ability of the exosuit by improving environment classification algorithm</a:t>
            </a:r>
            <a:endParaRPr lang="en-US" altLang="ko-KR" sz="1600" dirty="0">
              <a:ln>
                <a:solidFill>
                  <a:schemeClr val="tx1">
                    <a:alpha val="30000"/>
                  </a:schemeClr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26E3112-54BD-6696-BDD2-A9772F24A2D1}"/>
              </a:ext>
            </a:extLst>
          </p:cNvPr>
          <p:cNvGrpSpPr/>
          <p:nvPr/>
        </p:nvGrpSpPr>
        <p:grpSpPr>
          <a:xfrm>
            <a:off x="788021" y="3970789"/>
            <a:ext cx="2076251" cy="484804"/>
            <a:chOff x="749300" y="972028"/>
            <a:chExt cx="2501900" cy="484804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D7B9CFCC-D0EA-22C7-FBE6-60DC13CBB7B8}"/>
                </a:ext>
              </a:extLst>
            </p:cNvPr>
            <p:cNvSpPr/>
            <p:nvPr/>
          </p:nvSpPr>
          <p:spPr>
            <a:xfrm>
              <a:off x="749300" y="1002283"/>
              <a:ext cx="2501900" cy="454549"/>
            </a:xfrm>
            <a:prstGeom prst="roundRect">
              <a:avLst>
                <a:gd name="adj" fmla="val 50000"/>
              </a:avLst>
            </a:prstGeom>
            <a:solidFill>
              <a:srgbClr val="32518D"/>
            </a:solidFill>
            <a:ln>
              <a:solidFill>
                <a:srgbClr val="32518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1668E1F-B131-E5FC-951E-ECFCD93D8B19}"/>
                </a:ext>
              </a:extLst>
            </p:cNvPr>
            <p:cNvSpPr txBox="1"/>
            <p:nvPr/>
          </p:nvSpPr>
          <p:spPr>
            <a:xfrm>
              <a:off x="916892" y="972028"/>
              <a:ext cx="2193755" cy="4545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dirty="0">
                  <a:ln>
                    <a:solidFill>
                      <a:schemeClr val="bg1">
                        <a:alpha val="30000"/>
                      </a:schemeClr>
                    </a:solidFill>
                  </a:ln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Future work</a:t>
              </a:r>
              <a:endParaRPr lang="en-US" altLang="ko-KR" sz="1200" dirty="0">
                <a:ln>
                  <a:solidFill>
                    <a:schemeClr val="bg1">
                      <a:alpha val="30000"/>
                    </a:schemeClr>
                  </a:solidFill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5766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844B5-0D37-65FC-744D-B67690D28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D20C58B2-AE13-BB9D-7930-BA13A0247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032" y="4257929"/>
            <a:ext cx="11679346" cy="2600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4000"/>
              </a:lnSpc>
              <a:spcBef>
                <a:spcPts val="600"/>
              </a:spcBef>
              <a:buFontTx/>
              <a:buNone/>
            </a:pPr>
            <a:r>
              <a:rPr lang="en-US" altLang="zh-CN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Call for Paper</a:t>
            </a:r>
          </a:p>
          <a:p>
            <a:pPr algn="just" eaLnBrk="1" hangingPunct="1">
              <a:lnSpc>
                <a:spcPct val="100000"/>
              </a:lnSpc>
              <a:spcBef>
                <a:spcPts val="600"/>
              </a:spcBef>
              <a:buFontTx/>
              <a:buNone/>
            </a:pPr>
            <a:r>
              <a:rPr lang="en-US" altLang="zh-CN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lang="en-US" alt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his Special Issue will focus on the latest advances in the field of </a:t>
            </a:r>
            <a:r>
              <a:rPr lang="en-US" altLang="en-US" sz="1400" b="1" dirty="0">
                <a:solidFill>
                  <a:srgbClr val="065F0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soft technologies for robot realization</a:t>
            </a:r>
            <a:r>
              <a:rPr lang="en-US" alt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Here, we invite you to share your latest findings by submitting high-quality manuscripts that address the following challenges in the field:</a:t>
            </a:r>
          </a:p>
          <a:p>
            <a:pPr marL="285750" indent="-285750" algn="just" eaLnBrk="1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Soft actuators and pliable mechanisms in robotics;</a:t>
            </a:r>
          </a:p>
          <a:p>
            <a:pPr marL="285750" indent="-285750" algn="just" eaLnBrk="1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Artificial muscles;</a:t>
            </a:r>
          </a:p>
          <a:p>
            <a:pPr marL="285750" indent="-285750" algn="just" eaLnBrk="1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Material and structural design of soft actuators;</a:t>
            </a:r>
          </a:p>
          <a:p>
            <a:pPr marL="285750" indent="-285750" algn="just" eaLnBrk="1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Soft materials in soft actuators or robots;</a:t>
            </a:r>
          </a:p>
          <a:p>
            <a:pPr marL="285750" indent="-285750" algn="just" eaLnBrk="1" hangingPunct="1">
              <a:lnSpc>
                <a:spcPct val="100000"/>
              </a:lnSpc>
              <a:spcBef>
                <a:spcPts val="600"/>
              </a:spcBef>
            </a:pPr>
            <a:r>
              <a:rPr lang="en-US" alt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…</a:t>
            </a:r>
          </a:p>
          <a:p>
            <a:pPr algn="just" eaLnBrk="1" hangingPunct="1">
              <a:lnSpc>
                <a:spcPct val="100000"/>
              </a:lnSpc>
              <a:spcBef>
                <a:spcPts val="600"/>
              </a:spcBef>
              <a:buFontTx/>
              <a:buNone/>
            </a:pPr>
            <a:endParaRPr lang="en-US" altLang="zh-CN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91F305C-E1A8-233E-2722-B314572A4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899" y="1749329"/>
            <a:ext cx="6396997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Contact us: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Prof. Dr. Brian </a:t>
            </a:r>
            <a:r>
              <a:rPr lang="en-US" altLang="en-US" sz="1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Byunghyun</a:t>
            </a:r>
            <a:r>
              <a:rPr lang="en-US" altLang="en-US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Kang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brianbkang@sejong.ac.kr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  </a:t>
            </a:r>
            <a:r>
              <a:rPr lang="en-US" altLang="zh-C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  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Actuators Editorial Office  </a:t>
            </a:r>
            <a:r>
              <a:rPr lang="en-US" altLang="zh-C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actuators@mdpi.com</a:t>
            </a:r>
            <a:r>
              <a:rPr lang="en-US" altLang="zh-C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Deadline for manuscript submissions: </a:t>
            </a:r>
            <a:r>
              <a:rPr lang="en-US" altLang="zh-CN" sz="1600" b="1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31 March 2025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https://www.mdpi.com/journal/actuators/special_issues/L21IU2ZFN9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BAC910-86E2-AE20-70B5-A8885CBA1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023" y="1161590"/>
            <a:ext cx="8675688" cy="49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Special Issue: </a:t>
            </a:r>
            <a:r>
              <a:rPr lang="en-US" altLang="en-US" sz="20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Recent Advances in Soft Actuators, Robotics </a:t>
            </a:r>
            <a:r>
              <a:rPr lang="en-US" altLang="en-US" sz="200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 Intelligence</a:t>
            </a:r>
            <a:endParaRPr lang="en-US" altLang="zh-CN" sz="2000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8AC6734-510A-65CE-E7A7-4C008FB57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923"/>
            <a:ext cx="3590474" cy="1102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 descr="A green and black text on a white background&#10;&#10;Description automatically generated">
            <a:extLst>
              <a:ext uri="{FF2B5EF4-FFF2-40B4-BE49-F238E27FC236}">
                <a16:creationId xmlns:a16="http://schemas.microsoft.com/office/drawing/2014/main" id="{0341CD17-954F-8439-1E7A-A45E9E04E5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32" y="1684718"/>
            <a:ext cx="4325442" cy="2476316"/>
          </a:xfrm>
          <a:prstGeom prst="rect">
            <a:avLst/>
          </a:prstGeom>
        </p:spPr>
      </p:pic>
      <p:pic>
        <p:nvPicPr>
          <p:cNvPr id="9" name="Picture 5">
            <a:extLst>
              <a:ext uri="{FF2B5EF4-FFF2-40B4-BE49-F238E27FC236}">
                <a16:creationId xmlns:a16="http://schemas.microsoft.com/office/drawing/2014/main" id="{D50709ED-CFCC-95C4-4D76-5DB90ADDD2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8669" y="124194"/>
            <a:ext cx="1278308" cy="12830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E5EFE2-F651-F22F-04CB-28DD3150637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" b="2550"/>
          <a:stretch/>
        </p:blipFill>
        <p:spPr>
          <a:xfrm>
            <a:off x="8492124" y="155437"/>
            <a:ext cx="1790700" cy="90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36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E9C0572-747E-B9F2-4441-240B6A1D8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8944" y="6102969"/>
            <a:ext cx="1857375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296CF2-F1EC-265B-9DBE-4A9F8A662D2D}"/>
              </a:ext>
            </a:extLst>
          </p:cNvPr>
          <p:cNvSpPr txBox="1"/>
          <p:nvPr/>
        </p:nvSpPr>
        <p:spPr>
          <a:xfrm>
            <a:off x="3771526" y="4627414"/>
            <a:ext cx="3977076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Intelligence Robotics Lab</a:t>
            </a: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School of Intelligent Mechatronics Engineering</a:t>
            </a: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Sejong University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B71870-0276-4BE8-F777-536D3F3C0E2E}"/>
              </a:ext>
            </a:extLst>
          </p:cNvPr>
          <p:cNvSpPr txBox="1"/>
          <p:nvPr/>
        </p:nvSpPr>
        <p:spPr>
          <a:xfrm>
            <a:off x="2553634" y="2469814"/>
            <a:ext cx="68444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00" b="1" dirty="0">
                <a:gradFill flip="none" rotWithShape="1">
                  <a:gsLst>
                    <a:gs pos="0">
                      <a:srgbClr val="2E196F"/>
                    </a:gs>
                    <a:gs pos="56000">
                      <a:srgbClr val="306196"/>
                    </a:gs>
                    <a:gs pos="100000">
                      <a:srgbClr val="31ADBE"/>
                    </a:gs>
                  </a:gsLst>
                  <a:lin ang="2700000" scaled="1"/>
                  <a:tileRect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Thank You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3724F66-5E64-2967-2DF5-0B4A5AE5EE68}"/>
              </a:ext>
            </a:extLst>
          </p:cNvPr>
          <p:cNvGrpSpPr/>
          <p:nvPr/>
        </p:nvGrpSpPr>
        <p:grpSpPr>
          <a:xfrm>
            <a:off x="938752" y="605626"/>
            <a:ext cx="3278961" cy="88796"/>
            <a:chOff x="4333419" y="1769106"/>
            <a:chExt cx="3278961" cy="88796"/>
          </a:xfrm>
          <a:solidFill>
            <a:srgbClr val="332D7B"/>
          </a:solidFill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BBA766A-2F64-FC6B-B477-4DD5B712EB13}"/>
                </a:ext>
              </a:extLst>
            </p:cNvPr>
            <p:cNvCxnSpPr>
              <a:cxnSpLocks/>
            </p:cNvCxnSpPr>
            <p:nvPr/>
          </p:nvCxnSpPr>
          <p:spPr>
            <a:xfrm>
              <a:off x="4337108" y="1817467"/>
              <a:ext cx="3275272" cy="0"/>
            </a:xfrm>
            <a:prstGeom prst="line">
              <a:avLst/>
            </a:prstGeom>
            <a:grpFill/>
            <a:ln w="38100">
              <a:solidFill>
                <a:srgbClr val="32327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7690A48-58DA-8E83-F14C-9C7BC10200EA}"/>
                </a:ext>
              </a:extLst>
            </p:cNvPr>
            <p:cNvSpPr/>
            <p:nvPr/>
          </p:nvSpPr>
          <p:spPr>
            <a:xfrm>
              <a:off x="4333419" y="1769106"/>
              <a:ext cx="633711" cy="45719"/>
            </a:xfrm>
            <a:prstGeom prst="rect">
              <a:avLst/>
            </a:prstGeom>
            <a:grpFill/>
            <a:ln>
              <a:solidFill>
                <a:srgbClr val="3234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latin typeface="+mn-ea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17AB952-5145-A47D-48D9-B703F4062470}"/>
                </a:ext>
              </a:extLst>
            </p:cNvPr>
            <p:cNvSpPr/>
            <p:nvPr/>
          </p:nvSpPr>
          <p:spPr>
            <a:xfrm>
              <a:off x="6971526" y="1812183"/>
              <a:ext cx="633711" cy="45719"/>
            </a:xfrm>
            <a:prstGeom prst="rect">
              <a:avLst/>
            </a:prstGeom>
            <a:grpFill/>
            <a:ln>
              <a:solidFill>
                <a:srgbClr val="3235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 dirty="0">
                <a:latin typeface="+mn-ea"/>
              </a:endParaRPr>
            </a:p>
          </p:txBody>
        </p:sp>
      </p:grpSp>
      <p:pic>
        <p:nvPicPr>
          <p:cNvPr id="13" name="그림 12" descr="그래픽, 그래픽 디자인, 클립아트, 디자인이(가) 표시된 사진&#10;&#10;자동 생성된 설명">
            <a:extLst>
              <a:ext uri="{FF2B5EF4-FFF2-40B4-BE49-F238E27FC236}">
                <a16:creationId xmlns:a16="http://schemas.microsoft.com/office/drawing/2014/main" id="{C5A88922-878C-110B-0449-246C4156EA0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68" y="300288"/>
            <a:ext cx="507744" cy="656393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94679786-8FDF-9AB2-6BDD-597587080DF0}"/>
              </a:ext>
            </a:extLst>
          </p:cNvPr>
          <p:cNvGrpSpPr/>
          <p:nvPr/>
        </p:nvGrpSpPr>
        <p:grpSpPr>
          <a:xfrm>
            <a:off x="10108197" y="6102969"/>
            <a:ext cx="1979965" cy="586598"/>
            <a:chOff x="5667685" y="6153183"/>
            <a:chExt cx="1831470" cy="491936"/>
          </a:xfrm>
        </p:grpSpPr>
        <p:pic>
          <p:nvPicPr>
            <p:cNvPr id="25" name="그림 24" descr="그래픽, 그래픽 디자인, 클립아트, 디자인이(가) 표시된 사진&#10;&#10;자동 생성된 설명">
              <a:extLst>
                <a:ext uri="{FF2B5EF4-FFF2-40B4-BE49-F238E27FC236}">
                  <a16:creationId xmlns:a16="http://schemas.microsoft.com/office/drawing/2014/main" id="{D10C241A-74E9-70BC-385F-3E26EEE1A3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67685" y="6153183"/>
              <a:ext cx="330993" cy="413237"/>
            </a:xfrm>
            <a:prstGeom prst="rect">
              <a:avLst/>
            </a:prstGeom>
          </p:spPr>
        </p:pic>
        <p:pic>
          <p:nvPicPr>
            <p:cNvPr id="26" name="그림 25" descr="폰트, 그래픽, 텍스트, 그래픽 디자인이(가) 표시된 사진&#10;&#10;자동 생성된 설명">
              <a:extLst>
                <a:ext uri="{FF2B5EF4-FFF2-40B4-BE49-F238E27FC236}">
                  <a16:creationId xmlns:a16="http://schemas.microsoft.com/office/drawing/2014/main" id="{586DAC1A-FCC6-BEEF-1CBB-EE56B077F5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458"/>
            <a:stretch/>
          </p:blipFill>
          <p:spPr>
            <a:xfrm>
              <a:off x="5997164" y="6153183"/>
              <a:ext cx="1501991" cy="491936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657CC74F-6847-37A1-183C-5F84F592B83D}"/>
              </a:ext>
            </a:extLst>
          </p:cNvPr>
          <p:cNvSpPr txBox="1"/>
          <p:nvPr/>
        </p:nvSpPr>
        <p:spPr>
          <a:xfrm>
            <a:off x="4983479" y="4258082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Gayoung</a:t>
            </a:r>
            <a:r>
              <a:rPr lang="en-US" altLang="ko-KR" dirty="0">
                <a:ln>
                  <a:solidFill>
                    <a:schemeClr val="tx1">
                      <a:alpha val="30000"/>
                    </a:schemeClr>
                  </a:solidFill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Yang</a:t>
            </a:r>
            <a:endParaRPr lang="ko-KR" altLang="en-US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3F4A72-B405-C9F5-F7BD-0C518BCA6CBB}"/>
              </a:ext>
            </a:extLst>
          </p:cNvPr>
          <p:cNvSpPr txBox="1"/>
          <p:nvPr/>
        </p:nvSpPr>
        <p:spPr>
          <a:xfrm>
            <a:off x="749356" y="207330"/>
            <a:ext cx="1536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rgbClr val="332D7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2024.10.30</a:t>
            </a:r>
            <a:endParaRPr lang="en-US" altLang="ko-KR" sz="2000" dirty="0">
              <a:ln>
                <a:solidFill>
                  <a:schemeClr val="tx1">
                    <a:alpha val="10000"/>
                  </a:schemeClr>
                </a:solidFill>
              </a:ln>
              <a:solidFill>
                <a:srgbClr val="332D7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243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6949</TotalTime>
  <Words>1301</Words>
  <Application>Microsoft Office PowerPoint</Application>
  <PresentationFormat>와이드스크린</PresentationFormat>
  <Paragraphs>327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6" baseType="lpstr">
      <vt:lpstr>Wingdings</vt:lpstr>
      <vt:lpstr>맑은 고딕</vt:lpstr>
      <vt:lpstr>Cambria Math</vt:lpstr>
      <vt:lpstr>Times New Roman</vt:lpstr>
      <vt:lpstr>Roboto</vt:lpstr>
      <vt:lpstr>Calibri</vt:lpstr>
      <vt:lpstr>Arial</vt:lpstr>
      <vt:lpstr>Tahoma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user6616</dc:creator>
  <cp:lastModifiedBy>양가영</cp:lastModifiedBy>
  <cp:revision>206</cp:revision>
  <cp:lastPrinted>2023-10-16T16:07:10Z</cp:lastPrinted>
  <dcterms:created xsi:type="dcterms:W3CDTF">2017-11-16T00:50:54Z</dcterms:created>
  <dcterms:modified xsi:type="dcterms:W3CDTF">2024-12-05T06:41:13Z</dcterms:modified>
</cp:coreProperties>
</file>