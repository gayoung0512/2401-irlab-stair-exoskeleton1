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5" r:id="rId3"/>
    <p:sldId id="335" r:id="rId4"/>
    <p:sldId id="342" r:id="rId5"/>
    <p:sldId id="332" r:id="rId6"/>
    <p:sldId id="333" r:id="rId7"/>
    <p:sldId id="338" r:id="rId8"/>
    <p:sldId id="320" r:id="rId9"/>
    <p:sldId id="324" r:id="rId10"/>
    <p:sldId id="343" r:id="rId11"/>
    <p:sldId id="321" r:id="rId12"/>
    <p:sldId id="318" r:id="rId13"/>
    <p:sldId id="322" r:id="rId14"/>
    <p:sldId id="325" r:id="rId15"/>
    <p:sldId id="344" r:id="rId16"/>
    <p:sldId id="345" r:id="rId17"/>
    <p:sldId id="347" r:id="rId18"/>
    <p:sldId id="348" r:id="rId19"/>
    <p:sldId id="327" r:id="rId20"/>
    <p:sldId id="339" r:id="rId21"/>
    <p:sldId id="334" r:id="rId22"/>
    <p:sldId id="352" r:id="rId23"/>
    <p:sldId id="349" r:id="rId24"/>
    <p:sldId id="350" r:id="rId25"/>
    <p:sldId id="353" r:id="rId26"/>
    <p:sldId id="341" r:id="rId27"/>
    <p:sldId id="319" r:id="rId28"/>
  </p:sldIdLst>
  <p:sldSz cx="12192000" cy="6858000"/>
  <p:notesSz cx="6858000" cy="9144000"/>
  <p:embeddedFontLst>
    <p:embeddedFont>
      <p:font typeface="맑은 고딕" panose="020B0503020000020004" pitchFamily="50" charset="-127"/>
      <p:regular r:id="rId29"/>
      <p:bold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18D"/>
    <a:srgbClr val="30C3CA"/>
    <a:srgbClr val="330F6B"/>
    <a:srgbClr val="04878F"/>
    <a:srgbClr val="2E2676"/>
    <a:srgbClr val="89A7C4"/>
    <a:srgbClr val="FFFFFF"/>
    <a:srgbClr val="340B6B"/>
    <a:srgbClr val="319EB6"/>
    <a:srgbClr val="308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925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4C8D-5E69-4E3B-9113-6CCCF865D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AD2A63-DB26-4E21-A28E-486496EF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516B-CACF-4B16-8DE0-EF447989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F7289-8825-45AB-AB03-DEBE7783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5638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4478A-95A5-44C0-9065-4A455527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CCCAB-EDCB-4DEB-8829-65D9D366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1A8F7-361C-4141-9B2E-FC592F15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6F61F-BADB-4AC2-8B69-437A3B17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BD9C5-B34E-4AAB-8377-AF8DFB11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86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DAF6-D7E6-4D33-B850-54F99D20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4B3E0-73A4-4A72-BA7A-63DEFF29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9446C-9096-480E-AB5F-B96C77FF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23449-00CF-4EFE-8DCE-37CA27A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9618E-8D1C-42CF-A630-00AF769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91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7B99E-884D-475E-B612-E0506AE1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59753-2F58-4F95-964D-797A9238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7A64-1427-4BFC-BFB0-C15D5F69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5A9D4-9FB9-4B13-A7E9-CF947D24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248376-A751-44FC-9DF4-10710443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4295E-4655-4EA8-8395-FEB42761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349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39BF5-FDEA-4F3B-BD8D-3ACD536B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8631A-0721-4C53-8306-6649F794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94FC7E-4BF1-4157-933A-AC7864790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851BD7-8624-4B07-A746-164951CC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C870E3-4F26-4A86-93E5-B0B53A8B6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A0566-382B-4256-8073-BA71C306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A8F21B-DAF2-4455-B077-061F299C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1B069-427B-4549-8046-6E907EA0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28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824B5-BF38-49E7-B4FF-F614759E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D06F4-ED54-4D62-A213-DC7BE2D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A152F9-C161-47C4-B2C6-F45666E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2A262-DB12-4D55-9651-26E00565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090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20AA4-0515-47B5-8077-040C9C13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AC7298-5E99-4554-A889-022EB51E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14EAB-A7BC-42C0-9739-D44863A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1320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5DA9-2CB4-496A-9C7C-E08DCF8B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0DB97-54C0-468E-805F-B4AB2C1F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8D323-88DB-4800-9486-11F228661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6FF92-27E8-46E9-9DC2-23FD53E5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28E2E8-C57B-4E85-A7D5-653B9119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3D3EA-58F0-4E84-AFFA-F3D993BF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238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7B7DD-1A64-41A8-9025-8BC029D6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4B8945-21AB-4BE7-BBAE-66923121C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7F580-B158-47C1-992D-3DF0D009F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E3F2C-31F0-46B5-A453-0A5D9857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FF5DD-34B8-44CD-88BD-FE01351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C2BD0-03BB-4721-988B-B156B755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31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09A20-9934-42AD-BD8B-6C219EB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0AB2CD-1CBC-4B7B-835F-D7EC3D84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0B5D7-B382-43E5-A750-46DFB0F1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9757E-E44A-4C7F-BFDD-2925ECF9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4BC8C-2F2E-4F37-8E54-476B8622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748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6C105-AB24-4FE2-ADBB-D3A0B5611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62700E-8EBB-4872-A2AF-2D460EBDD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E8D5E-9F7C-417F-83E0-31F3EA88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B5587-AAC5-4CCF-8A7A-196E85B8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DC317-A57D-4627-85A2-5D676C76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992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796DA4-1717-4E96-9362-C688A577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6BE35E-AF86-4E40-9259-E56A78E0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9C7FE-85A4-4306-9DA9-E77512674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D74D0-C08C-4FA0-B1AC-58A8B9A14615}" type="datetimeFigureOut">
              <a:rPr lang="ko-KR" altLang="en-US" smtClean="0"/>
              <a:t>2024-02-25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C45BA-E608-4D32-9D6B-72C445ECF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BE4C1-E047-4523-A66F-F5BB51073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22.png"/><Relationship Id="rId7" Type="http://schemas.openxmlformats.org/officeDocument/2006/relationships/image" Target="../media/image1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jp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png"/><Relationship Id="rId11" Type="http://schemas.openxmlformats.org/officeDocument/2006/relationships/image" Target="../media/image56.png"/><Relationship Id="rId5" Type="http://schemas.openxmlformats.org/officeDocument/2006/relationships/image" Target="../media/image54.png"/><Relationship Id="rId10" Type="http://schemas.openxmlformats.org/officeDocument/2006/relationships/image" Target="../media/image51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0.jpeg"/><Relationship Id="rId3" Type="http://schemas.openxmlformats.org/officeDocument/2006/relationships/image" Target="../media/image57.png"/><Relationship Id="rId7" Type="http://schemas.openxmlformats.org/officeDocument/2006/relationships/image" Target="../media/image47.png"/><Relationship Id="rId12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58.jp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png"/><Relationship Id="rId11" Type="http://schemas.openxmlformats.org/officeDocument/2006/relationships/image" Target="../media/image63.png"/><Relationship Id="rId5" Type="http://schemas.openxmlformats.org/officeDocument/2006/relationships/image" Target="../media/image50.png"/><Relationship Id="rId10" Type="http://schemas.openxmlformats.org/officeDocument/2006/relationships/image" Target="../media/image62.png"/><Relationship Id="rId4" Type="http://schemas.openxmlformats.org/officeDocument/2006/relationships/image" Target="../media/image49.png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naver.com/nissei-gtr/221599187446" TargetMode="External"/><Relationship Id="rId3" Type="http://schemas.openxmlformats.org/officeDocument/2006/relationships/hyperlink" Target="https://ko.wikipedia.org/wiki/CAN_%EB%B2%84%EC%8A%A4" TargetMode="External"/><Relationship Id="rId7" Type="http://schemas.openxmlformats.org/officeDocument/2006/relationships/hyperlink" Target="https://kr.mathworks.com/solutions/electrification/bldc-motor-control.html" TargetMode="External"/><Relationship Id="rId2" Type="http://schemas.openxmlformats.org/officeDocument/2006/relationships/hyperlink" Target="https://m.blog.naver.com/lagrange0115/221941482740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m.blog.naver.com/lagrange0115/220611637281" TargetMode="External"/><Relationship Id="rId11" Type="http://schemas.openxmlformats.org/officeDocument/2006/relationships/hyperlink" Target="https://www.digikey.kr/ko/articles/sensorless-bldc-motor-control-with-back-emf-filtering-using-a-majority-function" TargetMode="External"/><Relationship Id="rId5" Type="http://schemas.openxmlformats.org/officeDocument/2006/relationships/hyperlink" Target="https://codinghero.tistory.com/139" TargetMode="External"/><Relationship Id="rId10" Type="http://schemas.openxmlformats.org/officeDocument/2006/relationships/hyperlink" Target="https://www.eltra.it/encoderpedia-technical-glossary-en-gb/what-is-an-incremental-encoder/" TargetMode="External"/><Relationship Id="rId4" Type="http://schemas.openxmlformats.org/officeDocument/2006/relationships/hyperlink" Target="https://chkw0107.tistory.com/28" TargetMode="External"/><Relationship Id="rId9" Type="http://schemas.openxmlformats.org/officeDocument/2006/relationships/hyperlink" Target="https://www.devicemart.co.kr/goods_process/get_html_to_string?url=/data/category/category_tech/001500010003/001500010003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63" y="6110037"/>
            <a:ext cx="18573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0CDAC6-6628-5FD2-1B1F-D700441937B0}"/>
              </a:ext>
            </a:extLst>
          </p:cNvPr>
          <p:cNvSpPr txBox="1"/>
          <p:nvPr/>
        </p:nvSpPr>
        <p:spPr>
          <a:xfrm>
            <a:off x="4974419" y="5742360"/>
            <a:ext cx="2045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세종대학교 </a:t>
            </a:r>
            <a:r>
              <a:rPr lang="en-US" altLang="ko-KR" sz="12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IRLab</a:t>
            </a: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허 정</a:t>
            </a:r>
            <a:endParaRPr lang="ko-KR" altLang="en-US" sz="12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F7ABA-DA57-A823-2313-C6A53D2EBAA5}"/>
              </a:ext>
            </a:extLst>
          </p:cNvPr>
          <p:cNvSpPr txBox="1"/>
          <p:nvPr/>
        </p:nvSpPr>
        <p:spPr>
          <a:xfrm>
            <a:off x="2574954" y="3004698"/>
            <a:ext cx="68444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&lt;02.20-02.27 </a:t>
            </a:r>
            <a:r>
              <a:rPr lang="ko-KR" altLang="en-US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연구내용</a:t>
            </a:r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&gt;</a:t>
            </a:r>
            <a:endParaRPr lang="en-US" altLang="ko-KR" sz="3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Motor Sensing &amp; CAN Protocol &amp; Control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48D88-4552-C48C-82B4-530F855598E2}"/>
              </a:ext>
            </a:extLst>
          </p:cNvPr>
          <p:cNvSpPr txBox="1"/>
          <p:nvPr/>
        </p:nvSpPr>
        <p:spPr>
          <a:xfrm>
            <a:off x="7092782" y="2618584"/>
            <a:ext cx="1357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2024.02.27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3C56A1-B6A1-6DAB-FE49-C00FA2CFCAEA}"/>
              </a:ext>
            </a:extLst>
          </p:cNvPr>
          <p:cNvGrpSpPr/>
          <p:nvPr/>
        </p:nvGrpSpPr>
        <p:grpSpPr>
          <a:xfrm>
            <a:off x="4454675" y="2529788"/>
            <a:ext cx="3278961" cy="88796"/>
            <a:chOff x="4333419" y="1769106"/>
            <a:chExt cx="3278961" cy="88796"/>
          </a:xfrm>
          <a:solidFill>
            <a:srgbClr val="332D7B"/>
          </a:solidFill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AC4D32D-140B-1D22-6239-D10073215AA4}"/>
                </a:ext>
              </a:extLst>
            </p:cNvPr>
            <p:cNvCxnSpPr>
              <a:cxnSpLocks/>
            </p:cNvCxnSpPr>
            <p:nvPr/>
          </p:nvCxnSpPr>
          <p:spPr>
            <a:xfrm>
              <a:off x="4337108" y="1817467"/>
              <a:ext cx="3275272" cy="0"/>
            </a:xfrm>
            <a:prstGeom prst="line">
              <a:avLst/>
            </a:prstGeom>
            <a:grpFill/>
            <a:ln w="38100">
              <a:solidFill>
                <a:srgbClr val="3232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F3C3DA-1DB2-78B6-52F2-1015B0C6BA87}"/>
                </a:ext>
              </a:extLst>
            </p:cNvPr>
            <p:cNvSpPr/>
            <p:nvPr/>
          </p:nvSpPr>
          <p:spPr>
            <a:xfrm>
              <a:off x="4333419" y="1769106"/>
              <a:ext cx="633711" cy="45719"/>
            </a:xfrm>
            <a:prstGeom prst="rect">
              <a:avLst/>
            </a:prstGeom>
            <a:grpFill/>
            <a:ln>
              <a:solidFill>
                <a:srgbClr val="3234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1112A9-8FB1-E461-BA88-ADF0362AA998}"/>
                </a:ext>
              </a:extLst>
            </p:cNvPr>
            <p:cNvSpPr/>
            <p:nvPr/>
          </p:nvSpPr>
          <p:spPr>
            <a:xfrm>
              <a:off x="6971526" y="1812183"/>
              <a:ext cx="633711" cy="45719"/>
            </a:xfrm>
            <a:prstGeom prst="rect">
              <a:avLst/>
            </a:prstGeom>
            <a:grpFill/>
            <a:ln>
              <a:solidFill>
                <a:srgbClr val="3235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78A6EBF-1534-8F7D-1707-89DCDCF6CEF5}"/>
              </a:ext>
            </a:extLst>
          </p:cNvPr>
          <p:cNvSpPr txBox="1"/>
          <p:nvPr/>
        </p:nvSpPr>
        <p:spPr>
          <a:xfrm>
            <a:off x="4499468" y="2194277"/>
            <a:ext cx="3425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연구 진행 및 학업 성취 현황 보고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pic>
        <p:nvPicPr>
          <p:cNvPr id="16" name="그림 15" descr="그래픽, 그래픽 디자인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091B48C-78EC-B2AE-BC7B-907C956953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791" y="2224450"/>
            <a:ext cx="507744" cy="656393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CA7FEC36-4437-7A6C-3D6F-55613E3FA02E}"/>
              </a:ext>
            </a:extLst>
          </p:cNvPr>
          <p:cNvGrpSpPr/>
          <p:nvPr/>
        </p:nvGrpSpPr>
        <p:grpSpPr>
          <a:xfrm>
            <a:off x="6177916" y="6110037"/>
            <a:ext cx="1979965" cy="586598"/>
            <a:chOff x="5667685" y="6153183"/>
            <a:chExt cx="1831470" cy="491936"/>
          </a:xfrm>
        </p:grpSpPr>
        <p:pic>
          <p:nvPicPr>
            <p:cNvPr id="18" name="그림 17" descr="그래픽, 그래픽 디자인, 클립아트, 디자인이(가) 표시된 사진&#10;&#10;자동 생성된 설명">
              <a:extLst>
                <a:ext uri="{FF2B5EF4-FFF2-40B4-BE49-F238E27FC236}">
                  <a16:creationId xmlns:a16="http://schemas.microsoft.com/office/drawing/2014/main" id="{DA3078F6-A951-59DE-40B2-4E9CC7754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685" y="6153183"/>
              <a:ext cx="330993" cy="413237"/>
            </a:xfrm>
            <a:prstGeom prst="rect">
              <a:avLst/>
            </a:prstGeom>
          </p:spPr>
        </p:pic>
        <p:pic>
          <p:nvPicPr>
            <p:cNvPr id="20" name="그림 19" descr="폰트, 그래픽, 텍스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14B8CAC1-766B-1C60-7254-90D3C0BFB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58"/>
            <a:stretch/>
          </p:blipFill>
          <p:spPr>
            <a:xfrm>
              <a:off x="5997164" y="6153183"/>
              <a:ext cx="1501991" cy="491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789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E62C0-14A1-4A12-B41E-13F0E87755BC}"/>
              </a:ext>
            </a:extLst>
          </p:cNvPr>
          <p:cNvSpPr txBox="1"/>
          <p:nvPr/>
        </p:nvSpPr>
        <p:spPr>
          <a:xfrm>
            <a:off x="554182" y="339946"/>
            <a:ext cx="182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목차 </a:t>
            </a:r>
            <a:endParaRPr lang="en-US" altLang="ko-KR" sz="24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2983100"/>
            <a:ext cx="1820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CAN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997365"/>
            <a:ext cx="190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761891" y="2451564"/>
            <a:ext cx="3276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이번주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연구 및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계획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761891" y="997365"/>
            <a:ext cx="520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1300413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-Hall Sensor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1624708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-Magnetic Encoder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1949003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계산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3704127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통신기 구조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401190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Standard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431968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Extended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4627458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특징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3394999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 개요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4935235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</a:t>
            </a:r>
            <a:r>
              <a:rPr lang="en-US" altLang="ko-KR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MCP2515-Register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5243012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MCP2515-SPI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6277378" y="1366697"/>
            <a:ext cx="402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Reference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Tracking, Controller(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 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6277378" y="1674474"/>
            <a:ext cx="402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Estimation, Observer(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관측기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66660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663843" y="3024593"/>
            <a:ext cx="326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32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97711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-Hall Sensor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30141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-Magnetic Encoder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62570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계산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514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8433477" y="95311"/>
            <a:ext cx="1578874" cy="6732397"/>
            <a:chOff x="1007208" y="172985"/>
            <a:chExt cx="1578874" cy="6732397"/>
          </a:xfrm>
        </p:grpSpPr>
        <p:grpSp>
          <p:nvGrpSpPr>
            <p:cNvPr id="5" name="그룹 4"/>
            <p:cNvGrpSpPr/>
            <p:nvPr/>
          </p:nvGrpSpPr>
          <p:grpSpPr>
            <a:xfrm>
              <a:off x="1007208" y="172985"/>
              <a:ext cx="1578874" cy="6732397"/>
              <a:chOff x="1193592" y="60221"/>
              <a:chExt cx="1578874" cy="6732397"/>
            </a:xfrm>
          </p:grpSpPr>
          <p:pic>
            <p:nvPicPr>
              <p:cNvPr id="3074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9291"/>
              <a:stretch/>
            </p:blipFill>
            <p:spPr bwMode="auto">
              <a:xfrm>
                <a:off x="1193592" y="1400134"/>
                <a:ext cx="1305402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78" t="6597" r="63777" b="48905"/>
              <a:stretch/>
            </p:blipFill>
            <p:spPr bwMode="auto">
              <a:xfrm>
                <a:off x="1682220" y="60221"/>
                <a:ext cx="1090246" cy="13247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타원 14"/>
            <p:cNvSpPr/>
            <p:nvPr/>
          </p:nvSpPr>
          <p:spPr>
            <a:xfrm>
              <a:off x="2089663" y="633413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35" name="타원 34"/>
            <p:cNvSpPr/>
            <p:nvPr/>
          </p:nvSpPr>
          <p:spPr>
            <a:xfrm>
              <a:off x="1856157" y="761995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36" name="타원 35"/>
            <p:cNvSpPr/>
            <p:nvPr/>
          </p:nvSpPr>
          <p:spPr>
            <a:xfrm>
              <a:off x="1974593" y="1064749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</a:t>
              </a:r>
              <a:endParaRPr lang="ko-KR" altLang="en-US" sz="1000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1646516" y="498080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B</a:t>
              </a:r>
              <a:endParaRPr lang="ko-KR" altLang="en-US" sz="1000" dirty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7895688" y="127458"/>
            <a:ext cx="2114165" cy="6700250"/>
            <a:chOff x="1472335" y="127458"/>
            <a:chExt cx="2114165" cy="6700250"/>
          </a:xfrm>
        </p:grpSpPr>
        <p:grpSp>
          <p:nvGrpSpPr>
            <p:cNvPr id="7" name="그룹 6"/>
            <p:cNvGrpSpPr/>
            <p:nvPr/>
          </p:nvGrpSpPr>
          <p:grpSpPr>
            <a:xfrm>
              <a:off x="1472335" y="127458"/>
              <a:ext cx="2114165" cy="6700250"/>
              <a:chOff x="1184482" y="45016"/>
              <a:chExt cx="2114165" cy="6700250"/>
            </a:xfrm>
          </p:grpSpPr>
          <p:pic>
            <p:nvPicPr>
              <p:cNvPr id="28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6604"/>
              <a:stretch/>
            </p:blipFill>
            <p:spPr bwMode="auto">
              <a:xfrm>
                <a:off x="1184482" y="1352782"/>
                <a:ext cx="1844710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878" t="7975" r="31905" b="47920"/>
              <a:stretch/>
            </p:blipFill>
            <p:spPr bwMode="auto">
              <a:xfrm>
                <a:off x="2202539" y="45016"/>
                <a:ext cx="1096108" cy="13129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" name="타원 38"/>
            <p:cNvSpPr/>
            <p:nvPr/>
          </p:nvSpPr>
          <p:spPr>
            <a:xfrm>
              <a:off x="2980313" y="476402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40" name="타원 39"/>
            <p:cNvSpPr/>
            <p:nvPr/>
          </p:nvSpPr>
          <p:spPr>
            <a:xfrm>
              <a:off x="2967475" y="727718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41" name="타원 40"/>
            <p:cNvSpPr/>
            <p:nvPr/>
          </p:nvSpPr>
          <p:spPr>
            <a:xfrm>
              <a:off x="2971733" y="976389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</a:t>
              </a:r>
              <a:endParaRPr lang="ko-KR" altLang="en-US" sz="1000" dirty="0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7397588" y="84089"/>
            <a:ext cx="2606522" cy="6676252"/>
            <a:chOff x="2582355" y="181748"/>
            <a:chExt cx="2606522" cy="6676252"/>
          </a:xfrm>
        </p:grpSpPr>
        <p:grpSp>
          <p:nvGrpSpPr>
            <p:cNvPr id="8" name="그룹 7"/>
            <p:cNvGrpSpPr/>
            <p:nvPr/>
          </p:nvGrpSpPr>
          <p:grpSpPr>
            <a:xfrm>
              <a:off x="2582355" y="181748"/>
              <a:ext cx="2606522" cy="6676252"/>
              <a:chOff x="1181748" y="69014"/>
              <a:chExt cx="2606522" cy="6676252"/>
            </a:xfrm>
          </p:grpSpPr>
          <p:pic>
            <p:nvPicPr>
              <p:cNvPr id="29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3825"/>
              <a:stretch/>
            </p:blipFill>
            <p:spPr bwMode="auto">
              <a:xfrm>
                <a:off x="1181748" y="1352782"/>
                <a:ext cx="2387929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268" t="7779" r="549" b="48314"/>
              <a:stretch/>
            </p:blipFill>
            <p:spPr bwMode="auto">
              <a:xfrm>
                <a:off x="2727332" y="69014"/>
                <a:ext cx="1060938" cy="13071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2" name="타원 41"/>
            <p:cNvSpPr/>
            <p:nvPr/>
          </p:nvSpPr>
          <p:spPr>
            <a:xfrm>
              <a:off x="4921761" y="463180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  <p:sp>
          <p:nvSpPr>
            <p:cNvPr id="49" name="타원 48"/>
            <p:cNvSpPr/>
            <p:nvPr/>
          </p:nvSpPr>
          <p:spPr>
            <a:xfrm>
              <a:off x="4480175" y="586237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50" name="타원 49"/>
            <p:cNvSpPr/>
            <p:nvPr/>
          </p:nvSpPr>
          <p:spPr>
            <a:xfrm>
              <a:off x="4695491" y="735036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51" name="타원 50"/>
            <p:cNvSpPr/>
            <p:nvPr/>
          </p:nvSpPr>
          <p:spPr>
            <a:xfrm>
              <a:off x="4585291" y="1045108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</a:t>
              </a:r>
              <a:endParaRPr lang="ko-KR" altLang="en-US" sz="1000" dirty="0"/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6874563" y="75804"/>
            <a:ext cx="3170562" cy="6707474"/>
            <a:chOff x="3453564" y="95311"/>
            <a:chExt cx="3170562" cy="6707474"/>
          </a:xfrm>
        </p:grpSpPr>
        <p:grpSp>
          <p:nvGrpSpPr>
            <p:cNvPr id="10" name="그룹 9"/>
            <p:cNvGrpSpPr/>
            <p:nvPr/>
          </p:nvGrpSpPr>
          <p:grpSpPr>
            <a:xfrm>
              <a:off x="3453564" y="95311"/>
              <a:ext cx="3170562" cy="6707474"/>
              <a:chOff x="1173197" y="37792"/>
              <a:chExt cx="3170562" cy="6707474"/>
            </a:xfrm>
          </p:grpSpPr>
          <p:pic>
            <p:nvPicPr>
              <p:cNvPr id="30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0938"/>
              <a:stretch/>
            </p:blipFill>
            <p:spPr bwMode="auto">
              <a:xfrm>
                <a:off x="1173197" y="1352782"/>
                <a:ext cx="2935742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41" t="54146" r="63165" b="468"/>
              <a:stretch/>
            </p:blipFill>
            <p:spPr bwMode="auto">
              <a:xfrm>
                <a:off x="3200759" y="37792"/>
                <a:ext cx="1143000" cy="1351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8" name="타원 57"/>
            <p:cNvSpPr/>
            <p:nvPr/>
          </p:nvSpPr>
          <p:spPr>
            <a:xfrm>
              <a:off x="5874026" y="642595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59" name="타원 58"/>
            <p:cNvSpPr/>
            <p:nvPr/>
          </p:nvSpPr>
          <p:spPr>
            <a:xfrm>
              <a:off x="6113581" y="521466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61" name="타원 60"/>
            <p:cNvSpPr/>
            <p:nvPr/>
          </p:nvSpPr>
          <p:spPr>
            <a:xfrm>
              <a:off x="6316189" y="397566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6337732" y="77033"/>
            <a:ext cx="3678161" cy="6685015"/>
            <a:chOff x="3726867" y="172985"/>
            <a:chExt cx="3678161" cy="6685015"/>
          </a:xfrm>
        </p:grpSpPr>
        <p:grpSp>
          <p:nvGrpSpPr>
            <p:cNvPr id="11" name="그룹 10"/>
            <p:cNvGrpSpPr/>
            <p:nvPr/>
          </p:nvGrpSpPr>
          <p:grpSpPr>
            <a:xfrm>
              <a:off x="3726867" y="172985"/>
              <a:ext cx="3678161" cy="6685015"/>
              <a:chOff x="1173196" y="60251"/>
              <a:chExt cx="3678161" cy="6685015"/>
            </a:xfrm>
          </p:grpSpPr>
          <p:pic>
            <p:nvPicPr>
              <p:cNvPr id="31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977"/>
              <a:stretch/>
            </p:blipFill>
            <p:spPr bwMode="auto">
              <a:xfrm>
                <a:off x="1173196" y="1352782"/>
                <a:ext cx="3486727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567" t="54837" r="32249" b="-263"/>
              <a:stretch/>
            </p:blipFill>
            <p:spPr bwMode="auto">
              <a:xfrm>
                <a:off x="3790419" y="60251"/>
                <a:ext cx="1060938" cy="13523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3" name="타원 62"/>
            <p:cNvSpPr/>
            <p:nvPr/>
          </p:nvSpPr>
          <p:spPr>
            <a:xfrm>
              <a:off x="6801442" y="771699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64" name="타원 63"/>
            <p:cNvSpPr/>
            <p:nvPr/>
          </p:nvSpPr>
          <p:spPr>
            <a:xfrm>
              <a:off x="6801442" y="512578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65" name="타원 64"/>
            <p:cNvSpPr/>
            <p:nvPr/>
          </p:nvSpPr>
          <p:spPr>
            <a:xfrm>
              <a:off x="7127936" y="455880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  <p:sp>
          <p:nvSpPr>
            <p:cNvPr id="66" name="타원 65"/>
            <p:cNvSpPr/>
            <p:nvPr/>
          </p:nvSpPr>
          <p:spPr>
            <a:xfrm>
              <a:off x="6488630" y="457799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B</a:t>
              </a:r>
              <a:endParaRPr lang="ko-KR" altLang="en-US" sz="1000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5738326" y="73001"/>
            <a:ext cx="4283886" cy="6685045"/>
            <a:chOff x="4927851" y="873952"/>
            <a:chExt cx="4283886" cy="6685045"/>
          </a:xfrm>
        </p:grpSpPr>
        <p:grpSp>
          <p:nvGrpSpPr>
            <p:cNvPr id="12" name="그룹 11"/>
            <p:cNvGrpSpPr/>
            <p:nvPr/>
          </p:nvGrpSpPr>
          <p:grpSpPr>
            <a:xfrm>
              <a:off x="4927851" y="873952"/>
              <a:ext cx="4283886" cy="6685045"/>
              <a:chOff x="1173196" y="60221"/>
              <a:chExt cx="4283886" cy="6685045"/>
            </a:xfrm>
          </p:grpSpPr>
          <p:pic>
            <p:nvPicPr>
              <p:cNvPr id="32" name="Picture 2" descr="https://www.devicemart.co.kr/data/category/category_tech/001500010003/image/4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196" y="1352782"/>
                <a:ext cx="4250901" cy="5392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6" name="Picture 4" descr="https://www.devicemart.co.kr/data/category/category_tech/001500010003/image/3.jp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751" t="55033" r="-140" b="-263"/>
              <a:stretch/>
            </p:blipFill>
            <p:spPr bwMode="auto">
              <a:xfrm>
                <a:off x="4355112" y="60221"/>
                <a:ext cx="1101970" cy="13464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8" name="타원 67"/>
            <p:cNvSpPr/>
            <p:nvPr/>
          </p:nvSpPr>
          <p:spPr>
            <a:xfrm>
              <a:off x="8698342" y="1415211"/>
              <a:ext cx="146234" cy="1462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smtClean="0"/>
                <a:t>S</a:t>
              </a:r>
              <a:endParaRPr lang="ko-KR" altLang="en-US" sz="1050" dirty="0"/>
            </a:p>
          </p:txBody>
        </p:sp>
        <p:sp>
          <p:nvSpPr>
            <p:cNvPr id="69" name="타원 68"/>
            <p:cNvSpPr/>
            <p:nvPr/>
          </p:nvSpPr>
          <p:spPr>
            <a:xfrm>
              <a:off x="8477416" y="1268977"/>
              <a:ext cx="146234" cy="1462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71" name="타원 70"/>
            <p:cNvSpPr/>
            <p:nvPr/>
          </p:nvSpPr>
          <p:spPr>
            <a:xfrm>
              <a:off x="8256490" y="1149504"/>
              <a:ext cx="146234" cy="14623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B</a:t>
              </a:r>
              <a:endParaRPr lang="ko-KR" altLang="en-US" sz="1000" dirty="0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65889" y="846028"/>
            <a:ext cx="5316684" cy="142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 in BLDC Motor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이용하여 회전자의 위치를 예측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반복되는 신호가 검출되며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각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신호마다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생기는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위상차로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회전 방향 예측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사진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극일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High, S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극 일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Low</a:t>
            </a: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49" y="3242893"/>
            <a:ext cx="2414880" cy="2184892"/>
          </a:xfrm>
          <a:prstGeom prst="rect">
            <a:avLst/>
          </a:prstGeom>
        </p:spPr>
      </p:pic>
      <p:sp>
        <p:nvSpPr>
          <p:cNvPr id="2" name="타원 1"/>
          <p:cNvSpPr/>
          <p:nvPr/>
        </p:nvSpPr>
        <p:spPr>
          <a:xfrm>
            <a:off x="1793630" y="3922671"/>
            <a:ext cx="175846" cy="1758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2356866" y="4796041"/>
            <a:ext cx="175846" cy="1758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2814755" y="3885958"/>
            <a:ext cx="175846" cy="1758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(Magnetic Encoder)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3446319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Magnetic Encoder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Pulse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42" name="그룹 41"/>
          <p:cNvGrpSpPr/>
          <p:nvPr/>
        </p:nvGrpSpPr>
        <p:grpSpPr>
          <a:xfrm rot="2258350">
            <a:off x="2418836" y="1677041"/>
            <a:ext cx="1039948" cy="1039948"/>
            <a:chOff x="2563511" y="4021016"/>
            <a:chExt cx="1799492" cy="1799492"/>
          </a:xfrm>
        </p:grpSpPr>
        <p:sp>
          <p:nvSpPr>
            <p:cNvPr id="43" name="십자형 42"/>
            <p:cNvSpPr/>
            <p:nvPr/>
          </p:nvSpPr>
          <p:spPr>
            <a:xfrm>
              <a:off x="2563511" y="4021016"/>
              <a:ext cx="1799492" cy="1799492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018692" y="5404338"/>
              <a:ext cx="890954" cy="4161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018692" y="4021016"/>
              <a:ext cx="890954" cy="4161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017780" y="4437186"/>
              <a:ext cx="891866" cy="94370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2449136" y="2870532"/>
            <a:ext cx="405359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Hall sensor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065462" y="2870532"/>
            <a:ext cx="405359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Hall sensor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pic>
        <p:nvPicPr>
          <p:cNvPr id="56" name="Picture 4" descr="Quadrature Encoders determine direction by observing which pulse channel (A or B) receives a pulse first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435"/>
          <a:stretch/>
        </p:blipFill>
        <p:spPr bwMode="auto">
          <a:xfrm>
            <a:off x="774089" y="3911766"/>
            <a:ext cx="658984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Quadrature Encoders determine direction by observing which pulse channel (A or B) receives a pulse first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4"/>
          <a:stretch/>
        </p:blipFill>
        <p:spPr bwMode="auto">
          <a:xfrm>
            <a:off x="1414022" y="3911765"/>
            <a:ext cx="388444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직선 화살표 연결선 24"/>
          <p:cNvCxnSpPr/>
          <p:nvPr/>
        </p:nvCxnSpPr>
        <p:spPr>
          <a:xfrm flipH="1">
            <a:off x="1892300" y="2507592"/>
            <a:ext cx="525521" cy="17532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2417821" y="2766310"/>
            <a:ext cx="388879" cy="1494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flipH="1">
            <a:off x="2417821" y="2766310"/>
            <a:ext cx="750829" cy="17675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 flipH="1">
            <a:off x="2906027" y="2341145"/>
            <a:ext cx="637273" cy="2237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" name="그림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039" y="1142395"/>
            <a:ext cx="5216637" cy="474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7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(Magnetic Encoder)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1" y="1569915"/>
            <a:ext cx="2780356" cy="1054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419099" y="782236"/>
                <a:ext cx="8866218" cy="1911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 Channel Output Pulse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이용한 각도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센싱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두 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Hall sensor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에서 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pulse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당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Edge(Rising, Falling)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을 얻을 수 있음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= 4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Edge (4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체배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제원을 통해 한 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Hall sensor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회전 당 얻을 수 있는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Pulse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 양 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[ex)26P/R]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3.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제원을 통해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감속비를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알 수 있음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1/35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26x2x2x35 = </a:t>
                </a:r>
                <a14:m>
                  <m:oMath xmlns:m="http://schemas.openxmlformats.org/officeDocument/2006/math">
                    <m:r>
                      <a:rPr lang="en-US" altLang="ko-KR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3640</m:t>
                    </m:r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4.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최종 모터 축의 한 바퀴에서 세밀한 각도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센싱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가능 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360°</m:t>
                        </m:r>
                      </m:num>
                      <m:den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3640</m:t>
                        </m:r>
                      </m:den>
                    </m:f>
                    <m:r>
                      <a:rPr lang="en-US" altLang="ko-KR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=0.099°</m:t>
                    </m:r>
                  </m:oMath>
                </a14:m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감지가능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782236"/>
                <a:ext cx="8866218" cy="1911934"/>
              </a:xfrm>
              <a:prstGeom prst="rect">
                <a:avLst/>
              </a:prstGeom>
              <a:blipFill>
                <a:blip r:embed="rId3"/>
                <a:stretch>
                  <a:fillRect l="-206" t="-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그림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445" y="625867"/>
            <a:ext cx="2199836" cy="1998890"/>
          </a:xfrm>
          <a:prstGeom prst="rect">
            <a:avLst/>
          </a:prstGeom>
        </p:spPr>
      </p:pic>
      <p:sp>
        <p:nvSpPr>
          <p:cNvPr id="48" name="직사각형 47"/>
          <p:cNvSpPr/>
          <p:nvPr/>
        </p:nvSpPr>
        <p:spPr>
          <a:xfrm>
            <a:off x="419099" y="2938719"/>
            <a:ext cx="8866218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 Channel Output Pulse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신호처리 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Sine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파 형태를 가짐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" y="3550897"/>
            <a:ext cx="3398420" cy="14270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33" y="5441644"/>
            <a:ext cx="3248526" cy="9775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806" y="3684413"/>
            <a:ext cx="2881540" cy="1257559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>
          <a:xfrm>
            <a:off x="390524" y="5113445"/>
            <a:ext cx="5316684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회전 속도에 따라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w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값이 변함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629" y="3757556"/>
            <a:ext cx="4548867" cy="1684088"/>
          </a:xfrm>
          <a:prstGeom prst="rect">
            <a:avLst/>
          </a:prstGeom>
        </p:spPr>
      </p:pic>
      <p:sp>
        <p:nvSpPr>
          <p:cNvPr id="53" name="직사각형 52"/>
          <p:cNvSpPr/>
          <p:nvPr/>
        </p:nvSpPr>
        <p:spPr>
          <a:xfrm>
            <a:off x="3914054" y="3462475"/>
            <a:ext cx="4115906" cy="59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있는 경우의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Output sine wave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700982" y="3462475"/>
            <a:ext cx="2975364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위상 차이를 모르는 경우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31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511443" y="3024593"/>
            <a:ext cx="326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551779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통신기 구조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85955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Standard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167333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Extended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475110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특징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24265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 개요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782887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</a:t>
            </a:r>
            <a:r>
              <a:rPr lang="en-US" altLang="ko-KR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MCP2515-Register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609066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MCP2515-SPI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648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하나의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인터페이스로 여러 개의 모듈 제어 가능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여러 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ECU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병렬로 연결하여 데이터를 주고받음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라인을 공유하는 모든 기기들이 필요에 따라 언제든지 통신 가능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65" y="2650294"/>
            <a:ext cx="9200975" cy="319090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19099" y="2074512"/>
            <a:ext cx="4743105" cy="487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통신선상에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데이터를 띄워 놓으면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어떤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제어기든지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필요할 때 데이터를 가져가는 방식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910942" y="846028"/>
            <a:ext cx="4571901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키워드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요구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/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식별 송신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실시간 우선순위 통신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7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 개요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099" y="769653"/>
            <a:ext cx="11276907" cy="142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개요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노드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기기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들은 </a:t>
            </a:r>
            <a:r>
              <a:rPr lang="en-US" altLang="ko-KR" sz="1200" kern="100" dirty="0" smtClean="0">
                <a:solidFill>
                  <a:schemeClr val="accent5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Recessive</a:t>
            </a:r>
            <a:r>
              <a:rPr lang="en-US" altLang="ko-KR" sz="1200" kern="100" dirty="0">
                <a:solidFill>
                  <a:schemeClr val="accent5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solidFill>
                  <a:schemeClr val="accent5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열성</a:t>
            </a:r>
            <a:r>
              <a:rPr lang="en-US" altLang="ko-KR" sz="1200" kern="100" dirty="0" smtClean="0">
                <a:solidFill>
                  <a:schemeClr val="accent5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논리 </a:t>
            </a:r>
            <a:r>
              <a:rPr lang="en-US" altLang="ko-KR" sz="1200" kern="100" dirty="0" smtClean="0">
                <a:solidFill>
                  <a:schemeClr val="accent5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(HIGH)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과 </a:t>
            </a:r>
            <a:r>
              <a:rPr lang="en-US" altLang="ko-KR" sz="1200" kern="100" dirty="0" smtClean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Dominant(</a:t>
            </a:r>
            <a:r>
              <a:rPr lang="ko-KR" altLang="en-US" sz="1200" kern="100" dirty="0" smtClean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우성</a:t>
            </a:r>
            <a:r>
              <a:rPr lang="en-US" altLang="ko-KR" sz="1200" kern="100" dirty="0" smtClean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논리 </a:t>
            </a:r>
            <a:r>
              <a:rPr lang="en-US" altLang="ko-KR" sz="1200" kern="100" dirty="0" smtClean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(LOW)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비트를 사용하여 동기화하며 통신한다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만약 두 노드가 동시에 보낼 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같은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(ex:0&amp;0, 1&amp;1)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 경우는 충돌이 일어나지 않지만 다른 비트를 보낼 경우 충돌이 일어나며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때 우선 순위는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즉 우성이 가진다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네트워크 상에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우선적으로 지나간다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결국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낮을 수록 높은 우선순위를 갖게 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https://upload.wikimedia.org/wikipedia/commons/thumb/5/5e/CAN-Bus-frame_in_base_format_without_stuffbits.svg/2560px-CAN-Bus-frame_in_base_format_without_stuffbits.svg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69" y="1990190"/>
            <a:ext cx="5684499" cy="143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390524" y="3224079"/>
            <a:ext cx="5491842" cy="18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전압을 통한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Dominant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Recessive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구현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CAN H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2.5V~3.5V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전압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 CAN L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2.5V~1.5V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전압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= H,L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전위차로 데이터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 : 3.5V, CAN L : 1.5V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전위차 가짐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0, LOW (Dominant,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 : 2.5V, CAN L : 2.5V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전위차 없음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1, HIGH (Recessive,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3" name="Picture 2" descr="https://www.allaboutcircuits.com/uploads/articles/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049" y="3778399"/>
            <a:ext cx="2854137" cy="274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9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통신기 구조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7" y="2648889"/>
            <a:ext cx="2881037" cy="183299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4481884"/>
            <a:ext cx="5208951" cy="1703659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571499" y="848200"/>
            <a:ext cx="4665519" cy="172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전달 방식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H, CAN 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트랜시버와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트랜시버는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MCU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연결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2.5V~3.5V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 CAN 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2.5V~1.5V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H,L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전위차로 데이터 전달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707" y="2648889"/>
            <a:ext cx="4826232" cy="3810957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5910942" y="848200"/>
            <a:ext cx="5943007" cy="1318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0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스위치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Mosfet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비활성화 →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풀업저항에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의해 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H, CAN L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스위치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Mosfet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활성화 →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5V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GND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의해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전위차 발생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Message Frames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Standard Data Frame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19099" y="3800908"/>
            <a:ext cx="5491843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 Data Frame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15" y="646974"/>
            <a:ext cx="7487695" cy="30484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566" y="3771175"/>
            <a:ext cx="8202170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8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Standard DATA FRAME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646974"/>
            <a:ext cx="5044054" cy="185036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90524" y="2532934"/>
            <a:ext cx="5491843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SOF(Start Of Frame)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프레임 제일 처음에 있으며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한 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구성된다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Default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논리값은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가진다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수신 가능 하도록 동기화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90525" y="3763416"/>
            <a:ext cx="6072554" cy="1318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Arbitration Field(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중재 필드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11bit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Identifier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 제어기의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아닌 데이터의 성격을 의미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ex) Speed, Torque,…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RTR(Remote Transmission Request) : 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경우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message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 frame, 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전송 요청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90525" y="5346960"/>
            <a:ext cx="6072554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Control Field(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필드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 : Standard Data Frame(0)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 Data Frame(1)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인지 확인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RB0 : Reserved Bit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Zero,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예약된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혹시나 모를 다음 버전을 위한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DLC : Data Length Code,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필드의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byte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수를 나타내는 정보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63078" y="1274996"/>
            <a:ext cx="5491843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 Field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전하고자 하는 데이터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463077" y="2163094"/>
            <a:ext cx="5606228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CRC(Cyclic Redundancy Check) Field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보낸 정보와 받은 정보가 같은지 확인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계산에 의한 유효성 검사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같은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코드가 아니면 에러 감지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메시지가 재전송됨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보내고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Del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보내면서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자유상태로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답장받으려고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463078" y="3625655"/>
            <a:ext cx="5491843" cy="191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Slot Bit, ACK Del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 노드가 보낸 데이터가 정상적으로 수신되었다고 판단하는 비트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 노드는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 Slot 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(=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어떤 정보가 올라오는지 읽기 위해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자유상태로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바꿈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수신기는 우성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(0)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으로 답함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 Field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신호는 정상 수신의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01,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 불량인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11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463078" y="5682339"/>
            <a:ext cx="5491843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EOF(End Of Frame)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데이터의 끝을 알리며 마지막 비트를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보내면서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버스 라인을 자유 상태로 바꾼다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9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Extended DATA FRAME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099" y="3613115"/>
            <a:ext cx="5491843" cy="1120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SSR(Substitute Remote Request)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항상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가지며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확장인지 표준인지 확인하는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우선권을 주기 위함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Standard Data Frame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보다 우선 순위를 가진다는 의미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02" y="818254"/>
            <a:ext cx="8451618" cy="244930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99547" y="5447717"/>
            <a:ext cx="6384037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나머지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Field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는 동일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 특징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Transmit Priority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동시에 데이터를 전송하는 경우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우선순위가 높은 데이터가 우선권을 가짐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낮을 수록 높은 우선순위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63" y="1891375"/>
            <a:ext cx="5996164" cy="1303304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419099" y="4448861"/>
            <a:ext cx="10986838" cy="84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Node15,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ID 5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비트까지 동일하게 보내다가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4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비트를 보낼 때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Node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은 자신보다 높은 우선순위를 가진 메시지가 전송됨을 알고 전송을 멈춘다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 15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충돌을 감지하지 않았음으로 계속 전송한다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전송을 멈춘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6bit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전송 시간을 대기한 후 재전송한다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363" y="1242844"/>
            <a:ext cx="5160989" cy="1789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9891" y="1533327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Node15</a:t>
            </a:r>
            <a:endParaRPr lang="ko-KR" altLang="en-US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8587146" y="1533327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Node16</a:t>
            </a:r>
            <a:endParaRPr lang="ko-KR" alt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9761114" y="1533327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Node17</a:t>
            </a:r>
            <a:endParaRPr lang="ko-KR" alt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9376103" y="2649858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Node19</a:t>
            </a:r>
            <a:endParaRPr lang="ko-KR" altLang="en-US" sz="900" dirty="0"/>
          </a:p>
        </p:txBody>
      </p:sp>
      <p:sp>
        <p:nvSpPr>
          <p:cNvPr id="27" name="TextBox 26"/>
          <p:cNvSpPr txBox="1"/>
          <p:nvPr/>
        </p:nvSpPr>
        <p:spPr>
          <a:xfrm>
            <a:off x="8094212" y="2649858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Node18</a:t>
            </a:r>
            <a:endParaRPr lang="ko-KR" alt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10581764" y="2649858"/>
            <a:ext cx="6234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Node20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3541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 특징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419100" y="701303"/>
            <a:ext cx="5491842" cy="1823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Transmit/Receive Buffers/Masks/Filters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송신할 때 버퍼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마스크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필터를 사용함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Buffer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전송 중 데이터를 보관하는 메모리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Mask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필터의 사용여부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결정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값을 비교하여 수용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메인 프로세서의 소량의 빠른 저장소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2" y="3205971"/>
            <a:ext cx="6182045" cy="218417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491263" y="5791398"/>
            <a:ext cx="6567209" cy="826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1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이며 이는 필터를 사용하지 않는다는 의미이다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어떤 값이든 수용됨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2, 5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일치하므로 수신된다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3, 4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ko-KR" altLang="en-US" sz="11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불</a:t>
            </a:r>
            <a:r>
              <a:rPr lang="ko-KR" altLang="en-US" sz="11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일치하므로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수신하지 않는다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1263" y="2773071"/>
            <a:ext cx="207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Mask &amp; Filter</a:t>
            </a:r>
            <a:endParaRPr lang="ko-KR" altLang="en-US" sz="1400" b="1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27" y="701303"/>
            <a:ext cx="5216357" cy="596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7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MCP2515-Register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43" y="1272550"/>
            <a:ext cx="3947548" cy="352387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35" y="1142395"/>
            <a:ext cx="6125430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MCP2515-SPI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2124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Arduino-MCP2515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MCP2515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아두이노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(MCU)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SPI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통신을 사용함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SPI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양방향 통신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SCLK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Clock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MISO : Master Input Slave Output -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이동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=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마스터 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Slave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MOSI : Master Output Slave Input –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이동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마스터 →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Slave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CS : Chip Select, Low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 때 동작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273" y="646974"/>
            <a:ext cx="3274558" cy="289632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36521" r="-1893"/>
          <a:stretch/>
        </p:blipFill>
        <p:spPr>
          <a:xfrm>
            <a:off x="672484" y="3322214"/>
            <a:ext cx="3575666" cy="342457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209675" y="4595654"/>
            <a:ext cx="1104900" cy="176371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209675" y="5244761"/>
            <a:ext cx="1285876" cy="184489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50" y="4360055"/>
            <a:ext cx="3051877" cy="52317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248150" y="4332224"/>
            <a:ext cx="3086100" cy="526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77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MCP2515-SPI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SPI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레지스터에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1Clock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신호마다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씩 들어감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읽고 쓰기를 같이 할 수 있는 양방향 통신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256" y="2485477"/>
            <a:ext cx="7440535" cy="270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MCP2515-SPI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1618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SPI-Read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CS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Low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시작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High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종료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일반적인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Read : Master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Instruction(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명령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Address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포함된 신호를 보낸 후 해당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Slave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받음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특정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Buffer Read : Master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Instruction(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명령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보낸 후 바로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Slave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받음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9" y="2673461"/>
            <a:ext cx="5261883" cy="383211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145" y="2553303"/>
            <a:ext cx="5496348" cy="194446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746" y="4497765"/>
            <a:ext cx="4655146" cy="200781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5910942" y="769653"/>
            <a:ext cx="5491842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SPI-Write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CS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Low :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통신 시작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High :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통신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종료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일반적인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Write : Instruction + Address +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보내려는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특정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Buffer Write : Instruction +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보내려는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95193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446802" y="3024593"/>
            <a:ext cx="372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3" y="4242651"/>
            <a:ext cx="402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Reference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Tracking, Controller(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 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3" y="4747346"/>
            <a:ext cx="402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Estimation, Observer(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관측기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418609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1" y="769653"/>
            <a:ext cx="5214534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물리적 현상을 미분방정식으로 표현 가능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관측하고자 하는 변수를 정하거나 변수들 사이의 관계에 대한 정의가 필요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" y="1590327"/>
            <a:ext cx="4214609" cy="322932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416" y="1602172"/>
            <a:ext cx="1644263" cy="305031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19099" y="5137484"/>
            <a:ext cx="5655924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이론상으로 제어를 구현하기 위해 우선 행렬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ko-KR" altLang="en-US" sz="11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상태방정식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로 표현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362054" y="2356341"/>
            <a:ext cx="5214534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안정적인 시스템을 구현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시스템을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으로 수렴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724" y="2979397"/>
            <a:ext cx="3349245" cy="620786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6362054" y="3940184"/>
            <a:ext cx="5214534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Eigenvalue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안정성 판별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eigenvalue?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6362054" y="769653"/>
                <a:ext cx="5214534" cy="1246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제어의 목적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Regulation :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으로 수렴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Reference Tracking :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상태변수가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reference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따라감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Error = X-</a:t>
                </a: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Xref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Estimation :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추정된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상태변수가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실제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따라감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054" y="769653"/>
                <a:ext cx="5214534" cy="1246688"/>
              </a:xfrm>
              <a:prstGeom prst="rect">
                <a:avLst/>
              </a:prstGeom>
              <a:blipFill>
                <a:blip r:embed="rId5"/>
                <a:stretch>
                  <a:fillRect l="-351" t="-976" r="-1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46" y="4251712"/>
            <a:ext cx="38339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9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Reference Tracking, Controller(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0523" y="823827"/>
            <a:ext cx="5243111" cy="89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Reference Tracking, Controller(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Reference Tracking : </a:t>
            </a:r>
            <a:r>
              <a:rPr lang="ko-KR" altLang="en-US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상태변수가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reference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를 </a:t>
            </a:r>
            <a:r>
              <a:rPr lang="ko-KR" altLang="en-US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따라감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→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Error = X-</a:t>
            </a:r>
            <a:r>
              <a:rPr lang="en-US" altLang="ko-KR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Xref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07" y="1677341"/>
            <a:ext cx="4573072" cy="146020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524" y="1243908"/>
            <a:ext cx="3991532" cy="1533739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6024158" y="792504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Reference Tracking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시스템을 원하는 상태로 만드는 과정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23481" y="3564279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Simulink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7" y="3887874"/>
            <a:ext cx="1689960" cy="148422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0971" y="3876283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57266" y="3845932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</a:t>
            </a:r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204" y="3918180"/>
            <a:ext cx="1372915" cy="14958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06539" y="3845932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</a:t>
            </a:r>
            <a:endParaRPr lang="ko-KR" altLang="en-US" dirty="0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643" y="3887874"/>
            <a:ext cx="2491897" cy="277420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71221" y="3887874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</a:t>
            </a:r>
            <a:endParaRPr lang="ko-KR" altLang="en-US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7"/>
          <a:srcRect l="42068" t="67825" r="30567" b="2670"/>
          <a:stretch/>
        </p:blipFill>
        <p:spPr>
          <a:xfrm>
            <a:off x="7464322" y="3809826"/>
            <a:ext cx="915344" cy="95055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578" y="3887874"/>
            <a:ext cx="1348787" cy="94692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0755" y="5067299"/>
            <a:ext cx="818911" cy="1105531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7958" y="5024175"/>
            <a:ext cx="1010025" cy="11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8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Reference Tracking, Controller(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662586"/>
            <a:ext cx="4573072" cy="1460203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390524" y="2441719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Simulink</a:t>
            </a: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4" y="2762471"/>
            <a:ext cx="5922487" cy="1552354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778" y="3086099"/>
            <a:ext cx="2270905" cy="771525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16" y="4444830"/>
            <a:ext cx="4478638" cy="2061268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076" y="629918"/>
            <a:ext cx="2133898" cy="571580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7"/>
          <a:srcRect l="42068" t="67825" r="30567" b="2670"/>
          <a:stretch/>
        </p:blipFill>
        <p:spPr>
          <a:xfrm>
            <a:off x="9854860" y="1363340"/>
            <a:ext cx="517191" cy="537084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8928" y="1368067"/>
            <a:ext cx="762097" cy="535033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9347" y="2137820"/>
            <a:ext cx="462704" cy="624651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4286" y="2128516"/>
            <a:ext cx="570688" cy="649017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4598" y="4213937"/>
            <a:ext cx="3195378" cy="2292161"/>
          </a:xfrm>
          <a:prstGeom prst="rect">
            <a:avLst/>
          </a:prstGeom>
        </p:spPr>
      </p:pic>
      <p:cxnSp>
        <p:nvCxnSpPr>
          <p:cNvPr id="57" name="직선 화살표 연결선 56"/>
          <p:cNvCxnSpPr/>
          <p:nvPr/>
        </p:nvCxnSpPr>
        <p:spPr>
          <a:xfrm>
            <a:off x="8572500" y="3505200"/>
            <a:ext cx="457200" cy="62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4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Estimation, Observer(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관측기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390522" y="776667"/>
                <a:ext cx="5221451" cy="590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Estimation, Observer(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관측기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설계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Estimation : 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추정된 </a:t>
                </a:r>
                <a:r>
                  <a:rPr lang="ko-KR" altLang="en-US" sz="1200" kern="100" dirty="0" err="1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상태변수가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실제 </a:t>
                </a:r>
                <a:r>
                  <a:rPr lang="ko-KR" altLang="en-US" sz="1200" kern="100" dirty="0" err="1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상태변수를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err="1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따라감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2" y="776667"/>
                <a:ext cx="5221451" cy="590162"/>
              </a:xfrm>
              <a:prstGeom prst="rect">
                <a:avLst/>
              </a:prstGeom>
              <a:blipFill>
                <a:blip r:embed="rId2"/>
                <a:stretch>
                  <a:fillRect t="-1031" r="-933" b="-4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52" y="1366829"/>
            <a:ext cx="4967222" cy="196925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65" y="1358084"/>
            <a:ext cx="2599693" cy="1734159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024158" y="792504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Estimation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실제 모델을 정확하게 알 수 없으니 이론적으로 추정함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23481" y="3564279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Simulink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07" y="3887874"/>
            <a:ext cx="1689960" cy="14842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0971" y="3876283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957266" y="3845932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</a:t>
            </a:r>
            <a:endParaRPr lang="ko-KR" altLang="en-US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204" y="3918180"/>
            <a:ext cx="1372915" cy="14958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06539" y="3845932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</a:t>
            </a:r>
            <a:endParaRPr lang="ko-KR" altLang="en-US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643" y="3887874"/>
            <a:ext cx="2491897" cy="277420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71221" y="3887874"/>
            <a:ext cx="4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8"/>
          <a:srcRect l="42068" t="67825" r="30567" b="2670"/>
          <a:stretch/>
        </p:blipFill>
        <p:spPr>
          <a:xfrm>
            <a:off x="7464322" y="3809826"/>
            <a:ext cx="915344" cy="950551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8578" y="3887874"/>
            <a:ext cx="1348787" cy="94692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0755" y="5067299"/>
            <a:ext cx="818911" cy="110553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7958" y="5024175"/>
            <a:ext cx="1010025" cy="11486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8658" y="3721387"/>
            <a:ext cx="979798" cy="111340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117" y="1491808"/>
            <a:ext cx="3260399" cy="141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2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Estimation, Observer(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관측기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설계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50" y="750193"/>
            <a:ext cx="4221350" cy="167355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rcRect l="42068" t="67825" r="30567" b="2670"/>
          <a:stretch/>
        </p:blipFill>
        <p:spPr>
          <a:xfrm>
            <a:off x="5662210" y="733921"/>
            <a:ext cx="474841" cy="49310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467" y="810221"/>
            <a:ext cx="699694" cy="491222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2235" y="1387816"/>
            <a:ext cx="424816" cy="573502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438" y="1365445"/>
            <a:ext cx="523958" cy="5958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171" y="723855"/>
            <a:ext cx="508277" cy="577588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2210" y="2139183"/>
            <a:ext cx="1683951" cy="45105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892" y="4832969"/>
            <a:ext cx="2866672" cy="154667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350" y="2876855"/>
            <a:ext cx="5641337" cy="1578434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419099" y="2602741"/>
            <a:ext cx="5243111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Simulink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9501" y="4455289"/>
            <a:ext cx="2702553" cy="2026915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2235" y="4384521"/>
            <a:ext cx="3268275" cy="2299007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 flipV="1">
            <a:off x="6029325" y="5534024"/>
            <a:ext cx="2152650" cy="45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6029325" y="2739798"/>
            <a:ext cx="2269543" cy="2251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6610" y="1142395"/>
            <a:ext cx="3414363" cy="242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8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77487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이번주 연구 및 계획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세로 텍스트 개체 틀 5">
            <a:extLst>
              <a:ext uri="{FF2B5EF4-FFF2-40B4-BE49-F238E27FC236}">
                <a16:creationId xmlns:a16="http://schemas.microsoft.com/office/drawing/2014/main" id="{B534263F-8548-094B-C533-B93BA01CE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2395"/>
            <a:ext cx="10515600" cy="5034568"/>
          </a:xfrm>
        </p:spPr>
        <p:txBody>
          <a:bodyPr vert="horz">
            <a:normAutofit/>
          </a:bodyPr>
          <a:lstStyle/>
          <a:p>
            <a:r>
              <a:rPr lang="ko-KR" altLang="en-US" sz="2000" dirty="0" smtClean="0">
                <a:latin typeface="+mn-ea"/>
              </a:rPr>
              <a:t>모터 정보를 받기 위한 코드 만들기</a:t>
            </a:r>
            <a:endParaRPr lang="en-US" altLang="ko-KR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252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774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이미지 자료 출처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세로 텍스트 개체 틀 5">
            <a:extLst>
              <a:ext uri="{FF2B5EF4-FFF2-40B4-BE49-F238E27FC236}">
                <a16:creationId xmlns:a16="http://schemas.microsoft.com/office/drawing/2014/main" id="{B534263F-8548-094B-C533-B93BA01CE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2395"/>
            <a:ext cx="10515600" cy="5034568"/>
          </a:xfrm>
        </p:spPr>
        <p:txBody>
          <a:bodyPr vert="horz">
            <a:normAutofit/>
          </a:bodyPr>
          <a:lstStyle/>
          <a:p>
            <a:r>
              <a:rPr lang="en-US" altLang="ko-KR" sz="800" dirty="0">
                <a:latin typeface="+mn-ea"/>
                <a:hlinkClick r:id="rId2"/>
              </a:rPr>
              <a:t>https://</a:t>
            </a:r>
            <a:r>
              <a:rPr lang="en-US" altLang="ko-KR" sz="800" dirty="0" smtClean="0">
                <a:latin typeface="+mn-ea"/>
                <a:hlinkClick r:id="rId2"/>
              </a:rPr>
              <a:t>m.blog.naver.com/lagrange0115/221941482740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3"/>
              </a:rPr>
              <a:t>https://ko.wikipedia.org/wiki/CAN_%</a:t>
            </a:r>
            <a:r>
              <a:rPr lang="en-US" altLang="ko-KR" sz="800" dirty="0" smtClean="0">
                <a:latin typeface="+mn-ea"/>
                <a:hlinkClick r:id="rId3"/>
              </a:rPr>
              <a:t>EB%B2%84%EC%8A%A4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 smtClean="0">
                <a:latin typeface="+mn-ea"/>
              </a:rPr>
              <a:t>MCP2515T-E Datasheet</a:t>
            </a:r>
          </a:p>
          <a:p>
            <a:r>
              <a:rPr lang="en-US" altLang="ko-KR" sz="800" dirty="0">
                <a:latin typeface="+mn-ea"/>
                <a:hlinkClick r:id="rId4"/>
              </a:rPr>
              <a:t>https://</a:t>
            </a:r>
            <a:r>
              <a:rPr lang="en-US" altLang="ko-KR" sz="800" dirty="0" smtClean="0">
                <a:latin typeface="+mn-ea"/>
                <a:hlinkClick r:id="rId4"/>
              </a:rPr>
              <a:t>chkw0107.tistory.com/28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5"/>
              </a:rPr>
              <a:t>https://</a:t>
            </a:r>
            <a:r>
              <a:rPr lang="en-US" altLang="ko-KR" sz="800" dirty="0" smtClean="0">
                <a:latin typeface="+mn-ea"/>
                <a:hlinkClick r:id="rId5"/>
              </a:rPr>
              <a:t>codinghero.tistory.com/139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6"/>
              </a:rPr>
              <a:t>https://</a:t>
            </a:r>
            <a:r>
              <a:rPr lang="en-US" altLang="ko-KR" sz="800" dirty="0" smtClean="0">
                <a:latin typeface="+mn-ea"/>
                <a:hlinkClick r:id="rId6"/>
              </a:rPr>
              <a:t>m.blog.naver.com/lagrange0115/220611637281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7"/>
              </a:rPr>
              <a:t>https://</a:t>
            </a:r>
            <a:r>
              <a:rPr lang="en-US" altLang="ko-KR" sz="800" dirty="0" smtClean="0">
                <a:latin typeface="+mn-ea"/>
                <a:hlinkClick r:id="rId7"/>
              </a:rPr>
              <a:t>kr.mathworks.com/solutions/electrification/bldc-motor-control.html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8"/>
              </a:rPr>
              <a:t>https://</a:t>
            </a:r>
            <a:r>
              <a:rPr lang="en-US" altLang="ko-KR" sz="800" dirty="0" smtClean="0">
                <a:latin typeface="+mn-ea"/>
                <a:hlinkClick r:id="rId8"/>
              </a:rPr>
              <a:t>blog.naver.com/nissei-gtr/221599187446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9"/>
              </a:rPr>
              <a:t>https://www.devicemart.co.kr/goods_process/get_html_to_string?url=/</a:t>
            </a:r>
            <a:r>
              <a:rPr lang="en-US" altLang="ko-KR" sz="800" dirty="0" smtClean="0">
                <a:latin typeface="+mn-ea"/>
                <a:hlinkClick r:id="rId9"/>
              </a:rPr>
              <a:t>data/category/category_tech/001500010003/001500010003.html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https://www.mouser.kr/new/infineon/infineon-xensiv-hall-gmr-sensors/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10"/>
              </a:rPr>
              <a:t>https://www.eltra.it/encoderpedia-technical-glossary-en-gb/what-is-an-incremental-encoder</a:t>
            </a:r>
            <a:r>
              <a:rPr lang="en-US" altLang="ko-KR" sz="800" dirty="0" smtClean="0">
                <a:latin typeface="+mn-ea"/>
                <a:hlinkClick r:id="rId10"/>
              </a:rPr>
              <a:t>/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11"/>
              </a:rPr>
              <a:t>https://</a:t>
            </a:r>
            <a:r>
              <a:rPr lang="en-US" altLang="ko-KR" sz="800" dirty="0" smtClean="0">
                <a:latin typeface="+mn-ea"/>
                <a:hlinkClick r:id="rId11"/>
              </a:rPr>
              <a:t>www.digikey.kr/ko/articles/sensorless-bldc-motor-control-with-back-emf-filtering-using-a-majority-function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https://mystyle1057.tistory.com/entry/SPI-%ED%86%B5%EC%8B%A0-%EA%B8%B0%EC%B4%88</a:t>
            </a:r>
            <a:endParaRPr lang="en-US" altLang="ko-KR" sz="8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276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10722</TotalTime>
  <Words>1660</Words>
  <Application>Microsoft Office PowerPoint</Application>
  <PresentationFormat>와이드스크린</PresentationFormat>
  <Paragraphs>234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맑은 고딕</vt:lpstr>
      <vt:lpstr>Cambria Math</vt:lpstr>
      <vt:lpstr>Times New Roman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user6616</dc:creator>
  <cp:lastModifiedBy>vegetus5491@gmail.com</cp:lastModifiedBy>
  <cp:revision>432</cp:revision>
  <dcterms:created xsi:type="dcterms:W3CDTF">2017-11-16T00:50:54Z</dcterms:created>
  <dcterms:modified xsi:type="dcterms:W3CDTF">2024-02-25T13:21:26Z</dcterms:modified>
</cp:coreProperties>
</file>