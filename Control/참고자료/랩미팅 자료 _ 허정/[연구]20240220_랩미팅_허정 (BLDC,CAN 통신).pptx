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95" r:id="rId3"/>
    <p:sldId id="335" r:id="rId4"/>
    <p:sldId id="297" r:id="rId5"/>
    <p:sldId id="330" r:id="rId6"/>
    <p:sldId id="331" r:id="rId7"/>
    <p:sldId id="332" r:id="rId8"/>
    <p:sldId id="333" r:id="rId9"/>
    <p:sldId id="329" r:id="rId10"/>
    <p:sldId id="338" r:id="rId11"/>
    <p:sldId id="320" r:id="rId12"/>
    <p:sldId id="324" r:id="rId13"/>
    <p:sldId id="321" r:id="rId14"/>
    <p:sldId id="318" r:id="rId15"/>
    <p:sldId id="322" r:id="rId16"/>
    <p:sldId id="325" r:id="rId17"/>
    <p:sldId id="327" r:id="rId18"/>
    <p:sldId id="326" r:id="rId19"/>
    <p:sldId id="328" r:id="rId20"/>
    <p:sldId id="339" r:id="rId21"/>
    <p:sldId id="334" r:id="rId22"/>
    <p:sldId id="340" r:id="rId23"/>
    <p:sldId id="341" r:id="rId24"/>
    <p:sldId id="319" r:id="rId25"/>
  </p:sldIdLst>
  <p:sldSz cx="12192000" cy="6858000"/>
  <p:notesSz cx="6858000" cy="9144000"/>
  <p:embeddedFontLst>
    <p:embeddedFont>
      <p:font typeface="맑은 고딕" panose="020B0503020000020004" pitchFamily="50" charset="-127"/>
      <p:regular r:id="rId26"/>
      <p:bold r:id="rId27"/>
    </p:embeddedFont>
    <p:embeddedFont>
      <p:font typeface="Cambria Math" panose="02040503050406030204" pitchFamily="18" charset="0"/>
      <p:regular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18D"/>
    <a:srgbClr val="30C3CA"/>
    <a:srgbClr val="330F6B"/>
    <a:srgbClr val="04878F"/>
    <a:srgbClr val="2E2676"/>
    <a:srgbClr val="89A7C4"/>
    <a:srgbClr val="FFFFFF"/>
    <a:srgbClr val="340B6B"/>
    <a:srgbClr val="319EB6"/>
    <a:srgbClr val="3089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925" autoAdjust="0"/>
  </p:normalViewPr>
  <p:slideViewPr>
    <p:cSldViewPr snapToGrid="0">
      <p:cViewPr varScale="1">
        <p:scale>
          <a:sx n="109" d="100"/>
          <a:sy n="109" d="100"/>
        </p:scale>
        <p:origin x="80" y="2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C4C8D-5E69-4E3B-9113-6CCCF865D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AD2A63-DB26-4E21-A28E-486496EF2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2516B-CACF-4B16-8DE0-EF4479896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F7289-8825-45AB-AB03-DEBE7783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174082"/>
            <a:ext cx="369277" cy="206522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533185" y="146538"/>
            <a:ext cx="14302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/>
              <a:t>허 정</a:t>
            </a:r>
            <a:endParaRPr lang="ko-KR" altLang="en-US" sz="105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A45929C-0C50-29C6-7CF7-DB4D682E86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682" y="174082"/>
            <a:ext cx="849190" cy="20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5638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4478A-95A5-44C0-9065-4A455527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BCCCAB-EDCB-4DEB-8829-65D9D366F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11A8F7-361C-4141-9B2E-FC592F15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46F61F-BADB-4AC2-8B69-437A3B17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0BD9C5-B34E-4AAB-8377-AF8DFB11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0860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0DAF6-D7E6-4D33-B850-54F99D20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A4B3E0-73A4-4A72-BA7A-63DEFF29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59446C-9096-480E-AB5F-B96C77FF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623449-00CF-4EFE-8DCE-37CA27A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9618E-8D1C-42CF-A630-00AF7699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9919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7B99E-884D-475E-B612-E0506AE15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A59753-2F58-4F95-964D-797A92380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57A64-1427-4BFC-BFB0-C15D5F690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F5A9D4-9FB9-4B13-A7E9-CF947D24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248376-A751-44FC-9DF4-10710443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F4295E-4655-4EA8-8395-FEB42761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349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39BF5-FDEA-4F3B-BD8D-3ACD536B9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68631A-0721-4C53-8306-6649F7943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94FC7E-4BF1-4157-933A-AC7864790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851BD7-8624-4B07-A746-164951CCB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C870E3-4F26-4A86-93E5-B0B53A8B6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6A0566-382B-4256-8073-BA71C306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A8F21B-DAF2-4455-B077-061F299C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D1B069-427B-4549-8046-6E907EA0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128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824B5-BF38-49E7-B4FF-F614759E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2D06F4-ED54-4D62-A213-DC7BE2D6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A152F9-C161-47C4-B2C6-F45666EB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32A262-DB12-4D55-9651-26E00565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090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220AA4-0515-47B5-8077-040C9C13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AC7298-5E99-4554-A889-022EB51E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14EAB-A7BC-42C0-9739-D44863A5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1320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45DA9-2CB4-496A-9C7C-E08DCF8B5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30DB97-54C0-468E-805F-B4AB2C1FB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48D323-88DB-4800-9486-11F228661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96FF92-27E8-46E9-9DC2-23FD53E58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28E2E8-C57B-4E85-A7D5-653B9119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53D3EA-58F0-4E84-AFFA-F3D993BF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174082"/>
            <a:ext cx="369277" cy="206522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0533185" y="146538"/>
            <a:ext cx="14302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/>
              <a:t>허 정</a:t>
            </a:r>
            <a:endParaRPr lang="ko-KR" altLang="en-US" sz="105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4A45929C-0C50-29C6-7CF7-DB4D682E86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682" y="174082"/>
            <a:ext cx="849190" cy="20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238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7B7DD-1A64-41A8-9025-8BC029D6B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4B8945-21AB-4BE7-BBAE-66923121C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17F580-B158-47C1-992D-3DF0D009F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6E3F2C-31F0-46B5-A453-0A5D9857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0FF5DD-34B8-44CD-88BD-FE01351A9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EC2BD0-03BB-4721-988B-B156B755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131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09A20-9934-42AD-BD8B-6C219EB41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0AB2CD-1CBC-4B7B-835F-D7EC3D84C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50B5D7-B382-43E5-A750-46DFB0F1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89757E-E44A-4C7F-BFDD-2925ECF9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34BC8C-2F2E-4F37-8E54-476B8622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174082"/>
            <a:ext cx="369277" cy="206522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533185" y="146538"/>
            <a:ext cx="14302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/>
              <a:t>허 정</a:t>
            </a:r>
            <a:endParaRPr lang="ko-KR" altLang="en-US" sz="105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A45929C-0C50-29C6-7CF7-DB4D682E86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682" y="174082"/>
            <a:ext cx="849190" cy="20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748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A6C105-AB24-4FE2-ADBB-D3A0B5611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62700E-8EBB-4872-A2AF-2D460EBDD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DE8D5E-9F7C-417F-83E0-31F3EA88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DB5587-AAC5-4CCF-8A7A-196E85B8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BDC317-A57D-4627-85A2-5D676C76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9927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796DA4-1717-4E96-9362-C688A577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6BE35E-AF86-4E40-9259-E56A78E0E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99C7FE-85A4-4306-9DA9-E77512674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D74D0-C08C-4FA0-B1AC-58A8B9A14615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C45BA-E608-4D32-9D6B-72C445ECF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1BE4C1-E047-4523-A66F-F5BB51073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jpeg"/><Relationship Id="rId5" Type="http://schemas.openxmlformats.org/officeDocument/2006/relationships/image" Target="../media/image15.gif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/><Relationship Id="rId3" Type="http://schemas.openxmlformats.org/officeDocument/2006/relationships/image" Target="../media/image22.png"/><Relationship Id="rId7" Type="http://schemas.openxmlformats.org/officeDocument/2006/relationships/image" Target="../media/image24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naver.com/nissei-gtr/221599187446" TargetMode="External"/><Relationship Id="rId3" Type="http://schemas.openxmlformats.org/officeDocument/2006/relationships/hyperlink" Target="https://ko.wikipedia.org/wiki/CAN_%EB%B2%84%EC%8A%A4" TargetMode="External"/><Relationship Id="rId7" Type="http://schemas.openxmlformats.org/officeDocument/2006/relationships/hyperlink" Target="https://kr.mathworks.com/solutions/electrification/bldc-motor-control.html" TargetMode="External"/><Relationship Id="rId2" Type="http://schemas.openxmlformats.org/officeDocument/2006/relationships/hyperlink" Target="https://m.blog.naver.com/lagrange0115/221941482740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m.blog.naver.com/lagrange0115/220611637281" TargetMode="External"/><Relationship Id="rId5" Type="http://schemas.openxmlformats.org/officeDocument/2006/relationships/hyperlink" Target="https://codinghero.tistory.com/139" TargetMode="External"/><Relationship Id="rId10" Type="http://schemas.openxmlformats.org/officeDocument/2006/relationships/hyperlink" Target="https://www.eltra.it/encoderpedia-technical-glossary-en-gb/what-is-an-incremental-encoder/" TargetMode="External"/><Relationship Id="rId4" Type="http://schemas.openxmlformats.org/officeDocument/2006/relationships/hyperlink" Target="https://chkw0107.tistory.com/28" TargetMode="External"/><Relationship Id="rId9" Type="http://schemas.openxmlformats.org/officeDocument/2006/relationships/hyperlink" Target="https://www.devicemart.co.kr/goods_process/get_html_to_string?url=/data/category/category_tech/001500010003/001500010003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45929C-0C50-29C6-7CF7-DB4D682E8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663" y="6110037"/>
            <a:ext cx="1857375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0CDAC6-6628-5FD2-1B1F-D700441937B0}"/>
              </a:ext>
            </a:extLst>
          </p:cNvPr>
          <p:cNvSpPr txBox="1"/>
          <p:nvPr/>
        </p:nvSpPr>
        <p:spPr>
          <a:xfrm>
            <a:off x="4974419" y="5742360"/>
            <a:ext cx="2045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세종대학교 </a:t>
            </a:r>
            <a:r>
              <a:rPr lang="en-US" altLang="ko-KR" sz="120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IRLab</a:t>
            </a:r>
            <a:r>
              <a:rPr lang="en-US" altLang="ko-KR" sz="12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2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허 정</a:t>
            </a:r>
            <a:endParaRPr lang="ko-KR" altLang="en-US" sz="12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F7ABA-DA57-A823-2313-C6A53D2EBAA5}"/>
              </a:ext>
            </a:extLst>
          </p:cNvPr>
          <p:cNvSpPr txBox="1"/>
          <p:nvPr/>
        </p:nvSpPr>
        <p:spPr>
          <a:xfrm>
            <a:off x="2574954" y="3004698"/>
            <a:ext cx="68444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&lt;02.13-02.20 </a:t>
            </a:r>
            <a:r>
              <a:rPr lang="ko-KR" altLang="en-US" sz="3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연구내용</a:t>
            </a:r>
            <a:r>
              <a:rPr lang="en-US" altLang="ko-KR" sz="3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&gt;</a:t>
            </a:r>
            <a:endParaRPr lang="en-US" altLang="ko-KR" sz="30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32347E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-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BLDC Motor &amp; CAN Protocol 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rgbClr val="32347E"/>
                </a:solidFill>
                <a:latin typeface="+mn-ea"/>
              </a:rPr>
              <a:t>-</a:t>
            </a:r>
            <a:endParaRPr lang="ko-KR" altLang="en-US" sz="2000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rgbClr val="32347E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48D88-4552-C48C-82B4-530F855598E2}"/>
              </a:ext>
            </a:extLst>
          </p:cNvPr>
          <p:cNvSpPr txBox="1"/>
          <p:nvPr/>
        </p:nvSpPr>
        <p:spPr>
          <a:xfrm>
            <a:off x="7092782" y="2618584"/>
            <a:ext cx="1357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rgbClr val="332D7B"/>
                </a:solidFill>
                <a:latin typeface="+mn-ea"/>
              </a:rPr>
              <a:t>2024.02.13</a:t>
            </a:r>
            <a:endParaRPr lang="en-US" altLang="ko-KR" sz="16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rgbClr val="332D7B"/>
              </a:solidFill>
              <a:latin typeface="+mn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23C56A1-B6A1-6DAB-FE49-C00FA2CFCAEA}"/>
              </a:ext>
            </a:extLst>
          </p:cNvPr>
          <p:cNvGrpSpPr/>
          <p:nvPr/>
        </p:nvGrpSpPr>
        <p:grpSpPr>
          <a:xfrm>
            <a:off x="4454675" y="2529788"/>
            <a:ext cx="3278961" cy="88796"/>
            <a:chOff x="4333419" y="1769106"/>
            <a:chExt cx="3278961" cy="88796"/>
          </a:xfrm>
          <a:solidFill>
            <a:srgbClr val="332D7B"/>
          </a:solidFill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1AC4D32D-140B-1D22-6239-D10073215AA4}"/>
                </a:ext>
              </a:extLst>
            </p:cNvPr>
            <p:cNvCxnSpPr>
              <a:cxnSpLocks/>
            </p:cNvCxnSpPr>
            <p:nvPr/>
          </p:nvCxnSpPr>
          <p:spPr>
            <a:xfrm>
              <a:off x="4337108" y="1817467"/>
              <a:ext cx="3275272" cy="0"/>
            </a:xfrm>
            <a:prstGeom prst="line">
              <a:avLst/>
            </a:prstGeom>
            <a:grpFill/>
            <a:ln w="38100">
              <a:solidFill>
                <a:srgbClr val="3232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CF3C3DA-1DB2-78B6-52F2-1015B0C6BA87}"/>
                </a:ext>
              </a:extLst>
            </p:cNvPr>
            <p:cNvSpPr/>
            <p:nvPr/>
          </p:nvSpPr>
          <p:spPr>
            <a:xfrm>
              <a:off x="4333419" y="1769106"/>
              <a:ext cx="633711" cy="45719"/>
            </a:xfrm>
            <a:prstGeom prst="rect">
              <a:avLst/>
            </a:prstGeom>
            <a:grpFill/>
            <a:ln>
              <a:solidFill>
                <a:srgbClr val="3234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+mn-ea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51112A9-8FB1-E461-BA88-ADF0362AA998}"/>
                </a:ext>
              </a:extLst>
            </p:cNvPr>
            <p:cNvSpPr/>
            <p:nvPr/>
          </p:nvSpPr>
          <p:spPr>
            <a:xfrm>
              <a:off x="6971526" y="1812183"/>
              <a:ext cx="633711" cy="45719"/>
            </a:xfrm>
            <a:prstGeom prst="rect">
              <a:avLst/>
            </a:prstGeom>
            <a:grpFill/>
            <a:ln>
              <a:solidFill>
                <a:srgbClr val="3235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+mn-ea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78A6EBF-1534-8F7D-1707-89DCDCF6CEF5}"/>
              </a:ext>
            </a:extLst>
          </p:cNvPr>
          <p:cNvSpPr txBox="1"/>
          <p:nvPr/>
        </p:nvSpPr>
        <p:spPr>
          <a:xfrm>
            <a:off x="4499468" y="2194277"/>
            <a:ext cx="3425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rgbClr val="332D7B"/>
                </a:solidFill>
                <a:latin typeface="+mn-ea"/>
              </a:rPr>
              <a:t>연구 진행 및 학업 성취 현황 보고</a:t>
            </a:r>
            <a:endParaRPr lang="en-US" altLang="ko-KR" sz="16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rgbClr val="332D7B"/>
              </a:solidFill>
              <a:latin typeface="+mn-ea"/>
            </a:endParaRPr>
          </a:p>
        </p:txBody>
      </p:sp>
      <p:pic>
        <p:nvPicPr>
          <p:cNvPr id="16" name="그림 15" descr="그래픽, 그래픽 디자인, 클립아트, 디자인이(가) 표시된 사진&#10;&#10;자동 생성된 설명">
            <a:extLst>
              <a:ext uri="{FF2B5EF4-FFF2-40B4-BE49-F238E27FC236}">
                <a16:creationId xmlns:a16="http://schemas.microsoft.com/office/drawing/2014/main" id="{7091B48C-78EC-B2AE-BC7B-907C956953C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791" y="2224450"/>
            <a:ext cx="507744" cy="656393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CA7FEC36-4437-7A6C-3D6F-55613E3FA02E}"/>
              </a:ext>
            </a:extLst>
          </p:cNvPr>
          <p:cNvGrpSpPr/>
          <p:nvPr/>
        </p:nvGrpSpPr>
        <p:grpSpPr>
          <a:xfrm>
            <a:off x="6177916" y="6110037"/>
            <a:ext cx="1979965" cy="586598"/>
            <a:chOff x="5667685" y="6153183"/>
            <a:chExt cx="1831470" cy="491936"/>
          </a:xfrm>
        </p:grpSpPr>
        <p:pic>
          <p:nvPicPr>
            <p:cNvPr id="18" name="그림 17" descr="그래픽, 그래픽 디자인, 클립아트, 디자인이(가) 표시된 사진&#10;&#10;자동 생성된 설명">
              <a:extLst>
                <a:ext uri="{FF2B5EF4-FFF2-40B4-BE49-F238E27FC236}">
                  <a16:creationId xmlns:a16="http://schemas.microsoft.com/office/drawing/2014/main" id="{DA3078F6-A951-59DE-40B2-4E9CC7754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7685" y="6153183"/>
              <a:ext cx="330993" cy="413237"/>
            </a:xfrm>
            <a:prstGeom prst="rect">
              <a:avLst/>
            </a:prstGeom>
          </p:spPr>
        </p:pic>
        <p:pic>
          <p:nvPicPr>
            <p:cNvPr id="20" name="그림 19" descr="폰트, 그래픽, 텍스트, 그래픽 디자인이(가) 표시된 사진&#10;&#10;자동 생성된 설명">
              <a:extLst>
                <a:ext uri="{FF2B5EF4-FFF2-40B4-BE49-F238E27FC236}">
                  <a16:creationId xmlns:a16="http://schemas.microsoft.com/office/drawing/2014/main" id="{14B8CAC1-766B-1C60-7254-90D3C0BFBF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58"/>
            <a:stretch/>
          </p:blipFill>
          <p:spPr>
            <a:xfrm>
              <a:off x="5997164" y="6153183"/>
              <a:ext cx="1501991" cy="491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789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8E62C0-14A1-4A12-B41E-13F0E87755BC}"/>
              </a:ext>
            </a:extLst>
          </p:cNvPr>
          <p:cNvSpPr txBox="1"/>
          <p:nvPr/>
        </p:nvSpPr>
        <p:spPr>
          <a:xfrm>
            <a:off x="554182" y="339946"/>
            <a:ext cx="182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목차 </a:t>
            </a:r>
            <a:endParaRPr lang="en-US" altLang="ko-KR" sz="24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54182" y="2983100"/>
            <a:ext cx="1820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</a:t>
            </a:r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. CAN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54182" y="997365"/>
            <a:ext cx="1906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8" y="3661560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MCP2515-Message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Frames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8" y="3969337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MCP2515-Standard Data Frame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8" y="4277114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MCP2515-Extended Data Frame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8" y="4584891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MCP2515-Transmit Message -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특징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8" y="3352432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MCP2515-Transmit Message -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개요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8" y="4892668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MCP2515-Transmit Message - Sequence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8" y="5200445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MCP2515-Receive Message - Sequence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7" y="5508222"/>
            <a:ext cx="3900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MCP2515-Register Map &amp; Arduino Library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8" y="1355830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-FOC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8" y="1674474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-Hall Sensor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8" y="1998769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-Magnetic Encoder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917598" y="2323064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-Back EMF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761891" y="1937214"/>
            <a:ext cx="3276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IV.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이번주 </a:t>
            </a:r>
            <a:r>
              <a:rPr lang="ko-KR" altLang="en-US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연구 및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계획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5761891" y="997365"/>
            <a:ext cx="5207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</a:t>
            </a:r>
            <a:r>
              <a:rPr lang="ko-KR" altLang="en-US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기본 제어 이론</a:t>
            </a:r>
            <a:endParaRPr lang="en-US" altLang="ko-KR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6359703" y="1366697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시뮬레이션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660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3474535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4663843" y="3024593"/>
            <a:ext cx="3261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32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endParaRPr lang="en-US" altLang="ko-KR" sz="32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4658472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-FOC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4977116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-Hall Sensor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5301411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-Magnetic Encoder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5625706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1400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-Back EMF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514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BLDC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099" y="846028"/>
            <a:ext cx="5491843" cy="3112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 주요 특징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브러쉬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모터 </a:t>
            </a:r>
            <a:r>
              <a:rPr lang="ko-KR" altLang="en-US" sz="12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회전자에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닿는 부분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가 없어서 긴 수명을 갖고 있다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개의 상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(phase)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사용하며 고정자에 코일을 부착하고 전자기 유도 현상을 이용하여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회전자인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자석을 회전시킨다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각각의 상에 적절한 타이밍에 적절한 방향의 전류를 인가하여 적절한 전자석의 형태를 띄운다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적절한 전류를 인가하기 위해 전용 모터 드라이버를 사용하며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이를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ESC(Electronic Speed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Controller,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전자변속기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라고 하기도 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여기서 적절한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전류란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자석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회전자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위치에 기반하며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위치를 알기 위한 센서가 필요하다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일반적으로 벡터 제어 방법인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FOC(Field Oriented Control,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자속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기준 제어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사용한다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369" y="4128489"/>
            <a:ext cx="3181516" cy="241519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369" y="876430"/>
            <a:ext cx="3257020" cy="294682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16" y="4265965"/>
            <a:ext cx="5048251" cy="21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37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BLDC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-FOC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099" y="846028"/>
            <a:ext cx="5491843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자속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(Magnetic Flux)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자기력선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다발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자기력을 나타내는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물리량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도선에 전류를 흘려서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자속을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발생시킴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4" y="1964302"/>
            <a:ext cx="1635539" cy="1438900"/>
          </a:xfrm>
          <a:prstGeom prst="rect">
            <a:avLst/>
          </a:prstGeom>
        </p:spPr>
      </p:pic>
      <p:pic>
        <p:nvPicPr>
          <p:cNvPr id="1026" name="Picture 2" descr="여기에 이미지 설명을 입력하세요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683" y="4393912"/>
            <a:ext cx="2896394" cy="215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8" y="4393912"/>
            <a:ext cx="4257209" cy="2236742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5879870" y="846028"/>
            <a:ext cx="5308370" cy="1318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Sine Wave(</a:t>
            </a: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정현파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제어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정현파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제어를 사용하면 회전자가 합성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자속에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빨려들어가는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현상을 억제할 수 있으며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매끄러운 제어가 가능함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코일에 전류를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정현파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형태로 주면서 매끄러운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자속과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매끄러운 회전을 유도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71500" y="3573238"/>
            <a:ext cx="5308370" cy="82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FOC(Field Oriented Control)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개의 상 중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개의 상에 전류를 흘려서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자속을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만들고 그 합성자속으로 회전을 일으킴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223" y="2061556"/>
            <a:ext cx="3963979" cy="206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3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BLDC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2000" b="1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100" y="846028"/>
            <a:ext cx="5316684" cy="62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위치 정보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회전자의 매끄러운 회전을 위해 회전자의 극 위치의 정보가 필요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72" y="1660277"/>
            <a:ext cx="1892028" cy="171183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390524" y="3723701"/>
            <a:ext cx="4904683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위치 </a:t>
            </a: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센싱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Magnetic Encoder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사용하여 위치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센싱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Back-Electro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Motive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Force(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역기전력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이용한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센싱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224" y="1553543"/>
            <a:ext cx="2618392" cy="2085699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390524" y="4970593"/>
            <a:ext cx="4081723" cy="1120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effect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이용한 센서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전류의 흐름에 수직인 방향으로 자기장을 가하게 되면 전류의 흐름에 수직인 방향으로 전위차 발생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367" y="4731426"/>
            <a:ext cx="1352416" cy="194673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5910942" y="846028"/>
            <a:ext cx="5316684" cy="142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 in BLDC Motor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이용하여 회전자의 위치를 예측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반복되는 신호가 검출되며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각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신호마다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생기는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위상차로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회전 방향 예측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아래사진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 N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극일 때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High, S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극 일 때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Low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020" y="4731426"/>
            <a:ext cx="1053525" cy="785355"/>
          </a:xfrm>
          <a:prstGeom prst="rect">
            <a:avLst/>
          </a:prstGeom>
        </p:spPr>
      </p:pic>
      <p:pic>
        <p:nvPicPr>
          <p:cNvPr id="3074" name="Picture 2" descr="https://www.devicemart.co.kr/data/category/category_tech/001500010003/image/4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078" y="2241742"/>
            <a:ext cx="2392439" cy="303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www.devicemart.co.kr/data/category/category_tech/001500010003/image/3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806" y="2270713"/>
            <a:ext cx="3402272" cy="297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98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BLDC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2000" b="1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(Magnetic Encoder)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099" y="846028"/>
            <a:ext cx="3446319" cy="1516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Magnetic Encoder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 안에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내장되어 있지 않은 경우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만들어진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Magnetic Encoder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사용할 수 있다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회전하는 자석을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감지하여 정보를 얻는다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059" y="595173"/>
            <a:ext cx="2013585" cy="1829652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419099" y="2424825"/>
            <a:ext cx="5316684" cy="128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각 센서에서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Pulse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얻을 수 있으며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두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Pulse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위상 차이로 회전방향을 알 수 있다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사용하고자 하는 제품의 제원을 보면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회전 당 한 개의 센서에서 나오는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Pulse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(xxx PPR)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얻을 수 있다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91909" y="3773109"/>
            <a:ext cx="4643353" cy="62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Channel Output Pulse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자석의 회전을 감지하는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 있는 경우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09" y="4402316"/>
            <a:ext cx="3086061" cy="1892972"/>
          </a:xfrm>
          <a:prstGeom prst="rect">
            <a:avLst/>
          </a:prstGeom>
        </p:spPr>
      </p:pic>
      <p:sp>
        <p:nvSpPr>
          <p:cNvPr id="32" name="아래쪽 화살표 31"/>
          <p:cNvSpPr/>
          <p:nvPr/>
        </p:nvSpPr>
        <p:spPr>
          <a:xfrm rot="5400000">
            <a:off x="3812609" y="4475044"/>
            <a:ext cx="76775" cy="977898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4339946" y="4825853"/>
            <a:ext cx="1241658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Sensor A’s Pulse</a:t>
            </a:r>
            <a:endParaRPr lang="ko-KR" altLang="en-US" sz="1100" dirty="0"/>
          </a:p>
        </p:txBody>
      </p:sp>
      <p:sp>
        <p:nvSpPr>
          <p:cNvPr id="34" name="아래쪽 화살표 33"/>
          <p:cNvSpPr/>
          <p:nvPr/>
        </p:nvSpPr>
        <p:spPr>
          <a:xfrm rot="5400000">
            <a:off x="3812609" y="4852366"/>
            <a:ext cx="76775" cy="977898"/>
          </a:xfrm>
          <a:prstGeom prst="down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4339946" y="5217843"/>
            <a:ext cx="1241658" cy="2616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Sensor B’s Pulse</a:t>
            </a:r>
            <a:endParaRPr lang="ko-KR" altLang="en-US" sz="1100" dirty="0"/>
          </a:p>
        </p:txBody>
      </p:sp>
      <p:sp>
        <p:nvSpPr>
          <p:cNvPr id="36" name="아래쪽 화살표 35"/>
          <p:cNvSpPr/>
          <p:nvPr/>
        </p:nvSpPr>
        <p:spPr>
          <a:xfrm rot="5400000">
            <a:off x="3812609" y="5244356"/>
            <a:ext cx="76775" cy="977898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4339945" y="5609833"/>
            <a:ext cx="1763709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일정 위치에서 감지하는 센서</a:t>
            </a:r>
            <a:r>
              <a:rPr lang="en-US" altLang="ko-KR" sz="1100" dirty="0" smtClean="0"/>
              <a:t>, 1</a:t>
            </a:r>
            <a:r>
              <a:rPr lang="ko-KR" altLang="en-US" sz="1100" dirty="0" smtClean="0"/>
              <a:t>회전을 감지할 수 있음</a:t>
            </a:r>
            <a:endParaRPr lang="ko-KR" altLang="en-US" sz="1100" dirty="0"/>
          </a:p>
        </p:txBody>
      </p:sp>
      <p:pic>
        <p:nvPicPr>
          <p:cNvPr id="4100" name="Picture 4" descr="Quadrature Encoders determine direction by observing which pulse channel (A or B) receives a pulse first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057" y="3083006"/>
            <a:ext cx="452437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483" y="1537754"/>
            <a:ext cx="2780356" cy="1054842"/>
          </a:xfrm>
          <a:prstGeom prst="rect">
            <a:avLst/>
          </a:prstGeom>
        </p:spPr>
      </p:pic>
      <p:sp>
        <p:nvSpPr>
          <p:cNvPr id="47" name="직사각형 46"/>
          <p:cNvSpPr/>
          <p:nvPr/>
        </p:nvSpPr>
        <p:spPr>
          <a:xfrm>
            <a:off x="6319057" y="846028"/>
            <a:ext cx="4643353" cy="62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 Channel Output Pulse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자석의 회전을 감지하는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 있는 경우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8" name="아래쪽 화살표 47"/>
          <p:cNvSpPr/>
          <p:nvPr/>
        </p:nvSpPr>
        <p:spPr>
          <a:xfrm rot="5400000">
            <a:off x="9315991" y="1278711"/>
            <a:ext cx="91443" cy="1164727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9944076" y="1715601"/>
            <a:ext cx="1241658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Sensor A’s Pulse</a:t>
            </a:r>
            <a:endParaRPr lang="ko-KR" altLang="en-US" sz="1100" dirty="0"/>
          </a:p>
        </p:txBody>
      </p:sp>
      <p:sp>
        <p:nvSpPr>
          <p:cNvPr id="50" name="아래쪽 화살표 49"/>
          <p:cNvSpPr/>
          <p:nvPr/>
        </p:nvSpPr>
        <p:spPr>
          <a:xfrm rot="5400000">
            <a:off x="9315991" y="1656033"/>
            <a:ext cx="91443" cy="1164727"/>
          </a:xfrm>
          <a:prstGeom prst="down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9944076" y="2107591"/>
            <a:ext cx="1241658" cy="2616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Sensor B’s Pulse</a:t>
            </a:r>
            <a:endParaRPr lang="ko-KR" altLang="en-US" sz="1100" dirty="0"/>
          </a:p>
        </p:txBody>
      </p:sp>
      <p:sp>
        <p:nvSpPr>
          <p:cNvPr id="52" name="직사각형 51"/>
          <p:cNvSpPr/>
          <p:nvPr/>
        </p:nvSpPr>
        <p:spPr>
          <a:xfrm>
            <a:off x="6319057" y="2801808"/>
            <a:ext cx="5316684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위상 차이에 따른 회전 방향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07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BLDC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2000" b="1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(Magnetic Encoder)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1" y="1569915"/>
            <a:ext cx="2780356" cy="10548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/>
              <p:cNvSpPr/>
              <p:nvPr/>
            </p:nvSpPr>
            <p:spPr>
              <a:xfrm>
                <a:off x="419099" y="782236"/>
                <a:ext cx="8866218" cy="19119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2 Channel Output Pulse</a:t>
                </a: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를 이용한 각도 </a:t>
                </a:r>
                <a:r>
                  <a:rPr lang="ko-KR" altLang="en-US" sz="1400" b="1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센싱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1.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두 개의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Hall sensor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에서 한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pulse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당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개의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Edge(Rising, Falling)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을 얻을 수 있음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 = 4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개의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Edge (4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체배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2.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제원을 통해 한 개의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Hall sensor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회전 당 얻을 수 있는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Pulse</a:t>
                </a:r>
                <a:r>
                  <a:rPr lang="ko-KR" altLang="en-US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의 양 →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[ex)26P/R]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3.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제원을 통해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감속비를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알 수 있음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1/35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26x2x2x35 = </a:t>
                </a:r>
                <a14:m>
                  <m:oMath xmlns:m="http://schemas.openxmlformats.org/officeDocument/2006/math">
                    <m:r>
                      <a:rPr lang="en-US" altLang="ko-KR" sz="12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3640</m:t>
                    </m:r>
                  </m:oMath>
                </a14:m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4.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최종 모터 축의 한 바퀴에서 세밀한 각도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센싱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가능 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360°</m:t>
                        </m:r>
                      </m:num>
                      <m:den>
                        <m:r>
                          <a:rPr lang="en-US" altLang="ko-KR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anose="05000000000000000000" pitchFamily="2" charset="2"/>
                          </a:rPr>
                          <m:t>3640</m:t>
                        </m:r>
                      </m:den>
                    </m:f>
                    <m:r>
                      <a:rPr lang="en-US" altLang="ko-KR" sz="12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=0.099°</m:t>
                    </m:r>
                  </m:oMath>
                </a14:m>
                <a:r>
                  <a:rPr lang="en-US" altLang="ko-KR" sz="1200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감지가능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직사각형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9" y="782236"/>
                <a:ext cx="8866218" cy="1911934"/>
              </a:xfrm>
              <a:prstGeom prst="rect">
                <a:avLst/>
              </a:prstGeom>
              <a:blipFill>
                <a:blip r:embed="rId3"/>
                <a:stretch>
                  <a:fillRect l="-206" t="-6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그림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445" y="625867"/>
            <a:ext cx="2199836" cy="1998890"/>
          </a:xfrm>
          <a:prstGeom prst="rect">
            <a:avLst/>
          </a:prstGeom>
        </p:spPr>
      </p:pic>
      <p:sp>
        <p:nvSpPr>
          <p:cNvPr id="48" name="직사각형 47"/>
          <p:cNvSpPr/>
          <p:nvPr/>
        </p:nvSpPr>
        <p:spPr>
          <a:xfrm>
            <a:off x="419099" y="2938719"/>
            <a:ext cx="8866218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 Channel Output Pulse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신호처리 전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Sine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파 형태를 가짐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" y="3550897"/>
            <a:ext cx="3398420" cy="142708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33" y="5441644"/>
            <a:ext cx="3248526" cy="97756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4806" y="3684413"/>
            <a:ext cx="2881540" cy="1257559"/>
          </a:xfrm>
          <a:prstGeom prst="rect">
            <a:avLst/>
          </a:prstGeom>
        </p:spPr>
      </p:pic>
      <p:sp>
        <p:nvSpPr>
          <p:cNvPr id="50" name="직사각형 49"/>
          <p:cNvSpPr/>
          <p:nvPr/>
        </p:nvSpPr>
        <p:spPr>
          <a:xfrm>
            <a:off x="390524" y="5113445"/>
            <a:ext cx="5316684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모터의 회전 속도에 따라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w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값이 변함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629" y="3757556"/>
            <a:ext cx="4548867" cy="1684088"/>
          </a:xfrm>
          <a:prstGeom prst="rect">
            <a:avLst/>
          </a:prstGeom>
        </p:spPr>
      </p:pic>
      <p:sp>
        <p:nvSpPr>
          <p:cNvPr id="53" name="직사각형 52"/>
          <p:cNvSpPr/>
          <p:nvPr/>
        </p:nvSpPr>
        <p:spPr>
          <a:xfrm>
            <a:off x="3914054" y="3462475"/>
            <a:ext cx="4115906" cy="590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있는 경우의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Output sine wave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700982" y="3462475"/>
            <a:ext cx="2975364" cy="274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위상 차이를 모르는 경우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31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I. BLDC 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모터</a:t>
            </a:r>
            <a:r>
              <a: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위치 </a:t>
            </a:r>
            <a:r>
              <a:rPr lang="ko-KR" altLang="en-US" sz="2000" b="1" dirty="0" err="1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센싱</a:t>
            </a: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(Back EMF)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099" y="846028"/>
            <a:ext cx="5491843" cy="1918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Sensorless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BLDC Motor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만약 모터에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Hall sensor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없는 경우 전류를 측정하여 간접적으로 위치를 예측할 수 있음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회전할 때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개의 코일만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여자되는데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때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소자된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남은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개의 코일에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역기전력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발생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소자된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상의 전류와 전압을 측정하면 회전방향과 위치를 예측할 수 있음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981" y="2764951"/>
            <a:ext cx="2169426" cy="1962814"/>
          </a:xfrm>
          <a:prstGeom prst="rect">
            <a:avLst/>
          </a:prstGeom>
        </p:spPr>
      </p:pic>
      <p:pic>
        <p:nvPicPr>
          <p:cNvPr id="6148" name="Picture 4" descr="Zero-crossing detec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445" y="2170773"/>
            <a:ext cx="5715000" cy="360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/>
          <p:cNvSpPr/>
          <p:nvPr/>
        </p:nvSpPr>
        <p:spPr>
          <a:xfrm>
            <a:off x="6196445" y="846028"/>
            <a:ext cx="5491843" cy="1120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Zero Crossing Point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자석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회전자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소자된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코일을 지나면서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소자된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코일에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역기전력이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발생하며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역기전력의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파형은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지나게 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역기전력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파형이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지나는 점의 전압을 측정하여 위치 예측 가능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530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3474535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4511443" y="3024593"/>
            <a:ext cx="3261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32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</a:t>
            </a:r>
            <a:endParaRPr lang="en-US" altLang="ko-KR" sz="32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4551779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MCP2515-Message </a:t>
            </a:r>
            <a:r>
              <a:rPr lang="en-US" altLang="ko-KR" sz="1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Frames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4859556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MCP2515-Standard Data Frame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5167333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MCP2515-Extended Data Frame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5475110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MCP2515-Transmit Message -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특징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4242651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MCP2515-Transmit Message - </a:t>
            </a:r>
            <a:r>
              <a:rPr lang="ko-KR" altLang="en-US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개요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5782887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MCP2515-Transmit Message - Sequence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6090664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MCP2515-Receive Message - Sequence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3" y="6398441"/>
            <a:ext cx="3900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MCP2515-Register Map &amp; Arduino Library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648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CAN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통신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099" y="846028"/>
            <a:ext cx="5491843" cy="1223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하나의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인터페이스로 여러 개의 모듈 제어 가능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여러 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ECU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병렬로 연결하여 데이터를 주고받음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 라인을 공유하는 모든 기기들이 필요에 따라 언제든지 통신 가능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19099" y="2839186"/>
            <a:ext cx="5491843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특징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간단한 구조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HIGH, LOW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두 개의 선으로 구성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잡음에 매우 강함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530" y="613677"/>
            <a:ext cx="4630347" cy="160581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19099" y="2074512"/>
            <a:ext cx="6384037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통신선상에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데이터를 띄워 놓으면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어떤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제어기든지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필요할 때 데이터를 가져가는 방식 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158" y="2680887"/>
            <a:ext cx="2881037" cy="183299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19099" y="4237175"/>
            <a:ext cx="6132809" cy="1523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구조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H, CAN L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트랜시버와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연결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트랜시버는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MCU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와 연결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H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2.5V~3.5V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전압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 CAN L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2.5V~1.5V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전압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H,L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전위차로 데이터 전달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383" y="4720849"/>
            <a:ext cx="4240640" cy="194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7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MCP2515-Transmit Message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개요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0" y="769653"/>
            <a:ext cx="5491842" cy="2314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 개요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모든 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노드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기기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들은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Recessive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열성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 논리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1(HIGH)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과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Dominant(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우성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 논리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0(LOW)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비트를 사용하여 동기화하며 통신한다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CANH CANL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구성되어있는 선이 네트워크이며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네트워크 상에 비트를 보내면서 통신한다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만약 두 노드가 동시에 보낼 때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같은 비트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(ex:0&amp;0, 1&amp;1)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일 경우는 충돌이 일어나지 않지만 다른 비트를 보낼 경우 충돌이 일어나며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때 우선 순위는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즉 우성이 가진다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네트워크 상에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우선적으로 지나간다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결국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낮을 수록 높은 우선순위를 갖게 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6" name="Picture 2" descr="https://upload.wikimedia.org/wikipedia/commons/thumb/5/5e/CAN-Bus-frame_in_base_format_without_stuffbits.svg/2560px-CAN-Bus-frame_in_base_format_without_stuffbits.svg.png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811" y="4969137"/>
            <a:ext cx="5684499" cy="143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/>
          <p:cNvSpPr/>
          <p:nvPr/>
        </p:nvSpPr>
        <p:spPr>
          <a:xfrm>
            <a:off x="419100" y="4121853"/>
            <a:ext cx="5491842" cy="181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전압을 통한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Dominant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Recessive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구현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CAN H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는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2.5V~3.5V 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전압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,  CAN L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은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2.5V~1.5V 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전압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= H,L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의 전위차로 데이터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전달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기준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2.5V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H : 3.5V, CAN L : 1.5V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전위차 가짐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논리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0, LOW (Dominant,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우성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기준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2.5V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H : 2.5V, CAN L : 2.5V 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전위차 없음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논리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1, HIGH (Recessive,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열성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586" y="3014578"/>
            <a:ext cx="5208951" cy="1703659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933" y="930683"/>
            <a:ext cx="2881037" cy="183299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3961" y="822098"/>
            <a:ext cx="2458835" cy="194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MCP2515-Message Frames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19099" y="846028"/>
            <a:ext cx="5491843" cy="304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Standard Data Frame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10" y="1209441"/>
            <a:ext cx="11325851" cy="252268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09" y="4181127"/>
            <a:ext cx="11325851" cy="2494301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419099" y="3800908"/>
            <a:ext cx="5491843" cy="304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Extended Data Frame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768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MCP2515-Standard DATA FRAME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9" y="646974"/>
            <a:ext cx="5044054" cy="1850369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390524" y="2532934"/>
            <a:ext cx="5491843" cy="1223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SOF(Start Of Frame)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프레임 제일 처음에 있으며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한 개의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bit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구성된다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Default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논리값은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가진다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모든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Node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수신 가능 하도록 동기화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90525" y="3763416"/>
            <a:ext cx="6072554" cy="1318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Arbitration Field(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중재 필드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11bit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Identifier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수신 제어기의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아닌 데이터의 성격을 의미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ex) Speed, Torque,…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RTR(Remote Transmission Request) : 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 경우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= message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data frame, 1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 경우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전송 요청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90525" y="5346960"/>
            <a:ext cx="6072554" cy="1223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Control Field(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 필드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IDE : Standard Data Frame(0)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Extended Data Frame(1)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인지 확인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RB0 : Reserved Bit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Zero,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예약된 비트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혹시나 모를 다음 버전을 위한 비트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DLC : Data Length Code,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필드의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byte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수를 나타내는 정보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463078" y="1274996"/>
            <a:ext cx="5491843" cy="62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Data Field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전하고자 하는 데이터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463077" y="2163094"/>
            <a:ext cx="5606228" cy="1223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CRC(Cyclic Redundancy Check) Field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보낸 정보와 받은 정보가 같은지 확인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계산에 의한 유효성 검사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같은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CRC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코드가 아니면 에러 감지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메시지가 재전송됨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CRC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보내고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CRC Del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보내면서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구리선을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자유상태로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답장받으려고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6463078" y="3625655"/>
            <a:ext cx="5491843" cy="1918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ACK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Slot Bit, ACK Del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송신 노드가 보낸 데이터가 정상적으로 수신되었다고 판단하는 비트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송신 노드는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ACK Slot Bit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열성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(1)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보내고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(=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구리선에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어떤 정보가 올라오는지 읽기 위해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구리선을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자유상태로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바꿈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모든 수신기는 우성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(0)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으로 답함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때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ACK Field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신호는 정상 수신의 경우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01,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수신 불량인 경우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11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463078" y="5682339"/>
            <a:ext cx="5491843" cy="82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EOF(End Of Frame)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데이터의 끝을 알리며 마지막 비트를 열성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(1)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로 보내면서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버스 라인을 자유 상태로 바꾼다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89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MCP2515-Extended DATA FRAME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099" y="3613115"/>
            <a:ext cx="5491843" cy="1120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SSR(Substitute Remote Request)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항상 열성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(1)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을 가지며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IDE(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확장인지 표준인지 확인하는 비트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 우선권을 주기 위함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Standard Data Frame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Extended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보다 우선 순위를 가진다는 의미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02" y="818254"/>
            <a:ext cx="8451618" cy="2449301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899547" y="5447717"/>
            <a:ext cx="6384037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나머지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Field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는 동일</a:t>
            </a:r>
            <a:endParaRPr lang="ko-KR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MCP2515-Transmit Message -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특징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0" y="769653"/>
            <a:ext cx="5491842" cy="923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Transmit Priority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동시에 데이터를 전송하는 경우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우선순위가 높은 데이터가 우선권을 가짐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낮을 수록 높은 우선순위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63" y="1692919"/>
            <a:ext cx="5250859" cy="1141307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491263" y="2830504"/>
            <a:ext cx="5655924" cy="10075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Node15, 16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ID 5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비트까지 동일하게 보내다가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, 4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비트를 보낼 때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Node 16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은 자신보다 높은 우선순위를 가진 메시지가 전송됨을 알고 전송을 멈춘다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Node 15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는 충돌을 감지하지 않았음으로 계속 전송한다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전송을 멈춘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Node 16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6bit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전송 시간을 대기한 후 재전송한다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1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147187" y="701303"/>
            <a:ext cx="5491842" cy="1823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Transmit/Receive Buffers/Masks/Filters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수신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송신할 때 버퍼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마스크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필터를 사용함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Buffer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데이터 전송 중 데이터를 보관하는 메모리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Mask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필터의 사용여부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결정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Filter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수신된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bit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값을 비교하여 수용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+)Register :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메인 프로세서의 소량의 빠른 저장소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34" y="4296003"/>
            <a:ext cx="4382954" cy="154854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491263" y="5844543"/>
            <a:ext cx="6567209" cy="826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CASE 1 : Mask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이며 이는 필터를 사용하지 않는다는 의미이다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어떤 값이든 수용됨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CASE 2, 5 : Mask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이며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Filter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일치하므로 수신된다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CASE 3, 4 : Mask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인데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Filter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 bit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ko-KR" altLang="en-US" sz="1100" kern="1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불</a:t>
            </a:r>
            <a:r>
              <a:rPr lang="ko-KR" altLang="en-US" sz="11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일치하므로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수신하지 않는다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1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1263" y="3952225"/>
            <a:ext cx="2079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Mask &amp; Filter</a:t>
            </a:r>
            <a:endParaRPr lang="ko-KR" altLang="en-US" sz="1400" b="1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261" y="2655305"/>
            <a:ext cx="3508935" cy="401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1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MCP2515-Transmit Message - Sequence 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0" y="769653"/>
            <a:ext cx="5491842" cy="1721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Message Transmission Sequence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프로세서에서 특정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Register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 정해진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Data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값을 받아서 처리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Register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에서 사용되는 논리는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논리와 다름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반대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Ex) </a:t>
            </a:r>
            <a:r>
              <a:rPr lang="en-US" altLang="ko-KR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TXBnCTRL.TXREQ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bit = 1 : Transmit buffer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 있는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register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중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Message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전송을 요구하는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bit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이는 프로세서가 전송을 요구한다는 것이다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이렇게 여러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Register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존재함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944" y="619852"/>
            <a:ext cx="4771265" cy="611690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243" y="2739782"/>
            <a:ext cx="3947548" cy="352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3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491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MCP2515-Receive Message - Sequence 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1" y="769653"/>
            <a:ext cx="5214534" cy="2021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Message Reception Sequence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프로세서에서 특정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Register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 정해진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Data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값을 받아서 처리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Register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에서 사용되는 논리는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논리와 다름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반대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우선적으로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MAB(Message Assembly Buffer)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에 받고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RXB0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나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RXB1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중 어디에 들어갈지 판단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 RXB0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RXB1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보다 높은 우선순위를 가짐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의 경우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Filter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사용하여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RXB0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나 </a:t>
            </a: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RXB1</a:t>
            </a:r>
            <a:r>
              <a:rPr lang="ko-KR" altLang="en-US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중 어디에 들어갈지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판단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Interrupt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신호가 있는지 판단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527" y="646974"/>
            <a:ext cx="4324671" cy="610427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48" y="3231396"/>
            <a:ext cx="3962902" cy="3166053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638600" y="2741388"/>
            <a:ext cx="5655924" cy="258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Interrupt</a:t>
            </a:r>
            <a:r>
              <a:rPr lang="ko-KR" altLang="en-US" sz="1100" kern="100" dirty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가 있는 경우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Register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를 사용하여 우선적 메시지 수신 등 행동 판단</a:t>
            </a:r>
            <a:endParaRPr lang="en-US" altLang="ko-KR" sz="1100" kern="100" dirty="0" smtClean="0">
              <a:latin typeface="맑은 고딕" panose="020B0503020000020004" pitchFamily="50" charset="-127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3373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942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II. MCP2515-Register Map &amp; Arduino Library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1" y="769653"/>
            <a:ext cx="5214534" cy="1721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아두이노에서의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 구현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아두이노에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있는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Library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통해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통신을 구현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Data sheet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참고하면 모터의 정보를 주고 받거나 정보의 우선순위를 정하는데 도움이 될 것 같음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모터 제조사에서 제공한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CAN ID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를 사용하여 제어 가능할 것 같음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하지만 너무 어려워서 도움이 필요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268" y="1592451"/>
            <a:ext cx="4226330" cy="507754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00" y="2919354"/>
            <a:ext cx="2238290" cy="362437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405" y="3045623"/>
            <a:ext cx="2249989" cy="357023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609" y="3117750"/>
            <a:ext cx="2228547" cy="342597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0335" y="687361"/>
            <a:ext cx="2914750" cy="73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89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3474535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4446802" y="3024593"/>
            <a:ext cx="3724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</a:t>
            </a:r>
            <a:r>
              <a:rPr lang="ko-KR" altLang="en-US" sz="32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기본 제어 이론</a:t>
            </a:r>
            <a:endParaRPr lang="en-US" altLang="ko-KR" sz="32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ECB593-32D3-57F1-7A20-90F9A2DFAFE1}"/>
              </a:ext>
            </a:extLst>
          </p:cNvPr>
          <p:cNvSpPr txBox="1"/>
          <p:nvPr/>
        </p:nvSpPr>
        <p:spPr>
          <a:xfrm>
            <a:off x="7925204" y="4242651"/>
            <a:ext cx="3689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</a:t>
            </a:r>
            <a:r>
              <a:rPr lang="en-US" altLang="ko-KR" sz="140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. </a:t>
            </a:r>
            <a:r>
              <a:rPr lang="ko-KR" altLang="en-US" sz="140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시뮬레이션</a:t>
            </a:r>
            <a:r>
              <a:rPr lang="en-US" altLang="ko-KR" sz="140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 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609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942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기본 제어 이론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419101" y="769653"/>
            <a:ext cx="5214534" cy="820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물리적 현상을 미분방정식으로 표현 가능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관측하고자 하는 변수를 정하거나 변수들 사이의 관계에 대한 정의가 필요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/>
              <p:cNvSpPr/>
              <p:nvPr/>
            </p:nvSpPr>
            <p:spPr>
              <a:xfrm>
                <a:off x="419101" y="4808254"/>
                <a:ext cx="5214534" cy="1246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ko-KR" altLang="en-US" sz="1400" b="1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제어의 목적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Regulation :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상태변수를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으로 수렴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</a:t>
                </a: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Reference Tracking :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상태변수가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reference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를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따라감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Error = X-</a:t>
                </a:r>
                <a:r>
                  <a:rPr lang="en-US" altLang="ko-KR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Xref</a:t>
                </a:r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171450" indent="-171450" algn="just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Estimation :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추정된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상태변수가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실제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상태변수를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200" kern="100" dirty="0" err="1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따라감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→</a:t>
                </a:r>
                <a:r>
                  <a:rPr lang="en-US" altLang="ko-KR" sz="1200" kern="100" dirty="0" smtClean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ko-KR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ko-KR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altLang="ko-KR" sz="1200" kern="100" dirty="0" smtClean="0">
                  <a:latin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직사각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1" y="4808254"/>
                <a:ext cx="5214534" cy="1246688"/>
              </a:xfrm>
              <a:prstGeom prst="rect">
                <a:avLst/>
              </a:prstGeom>
              <a:blipFill>
                <a:blip r:embed="rId2"/>
                <a:stretch>
                  <a:fillRect l="-351" t="-1471" r="-5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53" y="1788782"/>
            <a:ext cx="2754075" cy="211023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834" y="1610855"/>
            <a:ext cx="1233426" cy="2288158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638600" y="4030926"/>
            <a:ext cx="5655924" cy="258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이론상으로 제어를 구현하기 위해 우선 행렬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ko-KR" altLang="en-US" sz="11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상태방정식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로 표현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362054" y="769653"/>
            <a:ext cx="5214534" cy="62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안정적인 시스템을 구현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시스템을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으로 수렴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724" y="1392709"/>
            <a:ext cx="3349245" cy="620786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6362054" y="2179022"/>
            <a:ext cx="3444300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Reference Tracking, Controller(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제어기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설계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031" y="2468973"/>
            <a:ext cx="4573072" cy="1460203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6362054" y="4012381"/>
            <a:ext cx="3444300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Estimation, Observer(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관측기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설계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6283" y="4384654"/>
            <a:ext cx="4967222" cy="196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9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942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III.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시뮬레이션</a:t>
            </a:r>
            <a:endParaRPr lang="ko-KR" altLang="en-US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3336306" y="1081181"/>
            <a:ext cx="3444300" cy="574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Regulation, Regulator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설계</a:t>
            </a:r>
            <a:endParaRPr lang="en-US" altLang="ko-KR" sz="12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2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 ( Reference Input = 0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Controller)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7117674" y="1078532"/>
            <a:ext cx="3444300" cy="289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Estimation, Observer(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관측기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설계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19099" y="769653"/>
            <a:ext cx="5214534" cy="62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ko-KR" altLang="en-US" sz="1400" b="1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임의의 시스템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71450" indent="-1714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ko-KR" altLang="en-US" sz="12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초기조건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= 1</a:t>
            </a:r>
            <a:r>
              <a:rPr lang="ko-KR" altLang="en-US" sz="1200" kern="100" dirty="0" smtClean="0">
                <a:latin typeface="맑은 고딕" panose="020B0503020000020004" pitchFamily="50" charset="-127"/>
                <a:cs typeface="Times New Roman" panose="02020603050405020304" pitchFamily="18" charset="0"/>
              </a:rPr>
              <a:t>인 경우</a:t>
            </a:r>
            <a:endParaRPr lang="en-US" altLang="ko-KR" sz="1200" kern="100" dirty="0" smtClean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64" y="1655505"/>
            <a:ext cx="2955385" cy="96084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64" y="2863314"/>
            <a:ext cx="2774708" cy="1944667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419099" y="4997691"/>
            <a:ext cx="2538036" cy="273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발산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= 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불안정</a:t>
            </a:r>
            <a:endParaRPr lang="en-US" altLang="ko-KR" sz="1100" kern="100" dirty="0" smtClean="0">
              <a:latin typeface="맑은 고딕" panose="020B0503020000020004" pitchFamily="50" charset="-127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772" y="3727939"/>
            <a:ext cx="2876282" cy="206326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817" y="2273269"/>
            <a:ext cx="2882735" cy="1326763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6959" y="1704237"/>
            <a:ext cx="2952457" cy="773874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3636817" y="5919108"/>
            <a:ext cx="2538036" cy="258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수렴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= 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안정</a:t>
            </a:r>
            <a:endParaRPr lang="en-US" altLang="ko-KR" sz="1100" kern="100" dirty="0" smtClean="0">
              <a:latin typeface="맑은 고딕" panose="020B0503020000020004" pitchFamily="50" charset="-127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8042" y="1392709"/>
            <a:ext cx="1353597" cy="730313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0906" y="1404971"/>
            <a:ext cx="2662765" cy="745036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906" y="2418444"/>
            <a:ext cx="2786562" cy="1977671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10087468" y="2733823"/>
            <a:ext cx="2538036" cy="258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en-US" altLang="ko-KR" sz="1100" kern="100" dirty="0" err="1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Xhat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이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ko-KR" altLang="en-US" sz="1100" kern="100" dirty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를 잘 추종</a:t>
            </a:r>
            <a:endParaRPr lang="en-US" altLang="ko-KR" sz="1100" kern="100" dirty="0" smtClean="0">
              <a:latin typeface="맑은 고딕" panose="020B0503020000020004" pitchFamily="50" charset="-127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5352" y="4664551"/>
            <a:ext cx="2822116" cy="1985165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10087468" y="4968279"/>
            <a:ext cx="2538036" cy="258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à"/>
            </a:pP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추종 에러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X~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이 </a:t>
            </a:r>
            <a:r>
              <a:rPr lang="en-US" altLang="ko-KR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0</a:t>
            </a:r>
            <a:r>
              <a:rPr lang="ko-KR" altLang="en-US" sz="1100" kern="100" dirty="0" smtClean="0">
                <a:latin typeface="맑은 고딕" panose="020B0503020000020004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으로 수렴</a:t>
            </a:r>
            <a:endParaRPr lang="en-US" altLang="ko-KR" sz="1100" kern="100" dirty="0" smtClean="0">
              <a:latin typeface="맑은 고딕" panose="020B0503020000020004" pitchFamily="50" charset="-127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3403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77487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IV. </a:t>
            </a: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이번주 연구 및 계획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세로 텍스트 개체 틀 5">
            <a:extLst>
              <a:ext uri="{FF2B5EF4-FFF2-40B4-BE49-F238E27FC236}">
                <a16:creationId xmlns:a16="http://schemas.microsoft.com/office/drawing/2014/main" id="{B534263F-8548-094B-C533-B93BA01CE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42395"/>
            <a:ext cx="10515600" cy="5034568"/>
          </a:xfrm>
        </p:spPr>
        <p:txBody>
          <a:bodyPr vert="horz">
            <a:normAutofit/>
          </a:bodyPr>
          <a:lstStyle/>
          <a:p>
            <a:r>
              <a:rPr lang="ko-KR" altLang="en-US" sz="2000" dirty="0" smtClean="0">
                <a:latin typeface="+mn-ea"/>
              </a:rPr>
              <a:t>모터 정보를 받기 위한 코드 만들기</a:t>
            </a:r>
            <a:endParaRPr lang="en-US" altLang="ko-KR" sz="2000" dirty="0" smtClean="0">
              <a:latin typeface="+mn-ea"/>
            </a:endParaRPr>
          </a:p>
          <a:p>
            <a:r>
              <a:rPr lang="ko-KR" altLang="en-US" sz="2000" dirty="0" smtClean="0">
                <a:latin typeface="+mn-ea"/>
              </a:rPr>
              <a:t>모터 드라이버 정보를 받기 위한 </a:t>
            </a:r>
            <a:r>
              <a:rPr lang="en-US" altLang="ko-KR" sz="2000" dirty="0" smtClean="0">
                <a:latin typeface="+mn-ea"/>
              </a:rPr>
              <a:t>CAN Hacker </a:t>
            </a:r>
            <a:r>
              <a:rPr lang="ko-KR" altLang="en-US" sz="2000" dirty="0" smtClean="0">
                <a:latin typeface="+mn-ea"/>
              </a:rPr>
              <a:t>사용</a:t>
            </a:r>
            <a:endParaRPr lang="en-US" altLang="ko-KR" sz="20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252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099" y="95311"/>
            <a:ext cx="57748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>
                <a:ln>
                  <a:solidFill>
                    <a:schemeClr val="tx1">
                      <a:alpha val="30000"/>
                    </a:schemeClr>
                  </a:solidFill>
                </a:ln>
                <a:latin typeface="+mn-ea"/>
              </a:rPr>
              <a:t>이미지 자료 출처</a:t>
            </a:r>
            <a:endParaRPr lang="en-US" altLang="ko-KR" sz="2000" b="1" dirty="0">
              <a:ln>
                <a:solidFill>
                  <a:schemeClr val="tx1">
                    <a:alpha val="30000"/>
                  </a:schemeClr>
                </a:solidFill>
              </a:ln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" name="세로 텍스트 개체 틀 5">
            <a:extLst>
              <a:ext uri="{FF2B5EF4-FFF2-40B4-BE49-F238E27FC236}">
                <a16:creationId xmlns:a16="http://schemas.microsoft.com/office/drawing/2014/main" id="{B534263F-8548-094B-C533-B93BA01CE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42395"/>
            <a:ext cx="10515600" cy="5034568"/>
          </a:xfrm>
        </p:spPr>
        <p:txBody>
          <a:bodyPr vert="horz">
            <a:normAutofit/>
          </a:bodyPr>
          <a:lstStyle/>
          <a:p>
            <a:r>
              <a:rPr lang="en-US" altLang="ko-KR" sz="800" dirty="0">
                <a:latin typeface="+mn-ea"/>
                <a:hlinkClick r:id="rId2"/>
              </a:rPr>
              <a:t>https://</a:t>
            </a:r>
            <a:r>
              <a:rPr lang="en-US" altLang="ko-KR" sz="800" dirty="0" smtClean="0">
                <a:latin typeface="+mn-ea"/>
                <a:hlinkClick r:id="rId2"/>
              </a:rPr>
              <a:t>m.blog.naver.com/lagrange0115/221941482740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3"/>
              </a:rPr>
              <a:t>https://ko.wikipedia.org/wiki/CAN_%</a:t>
            </a:r>
            <a:r>
              <a:rPr lang="en-US" altLang="ko-KR" sz="800" dirty="0" smtClean="0">
                <a:latin typeface="+mn-ea"/>
                <a:hlinkClick r:id="rId3"/>
              </a:rPr>
              <a:t>EB%B2%84%EC%8A%A4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 smtClean="0">
                <a:latin typeface="+mn-ea"/>
              </a:rPr>
              <a:t>MCP2515T-E Datasheet</a:t>
            </a:r>
          </a:p>
          <a:p>
            <a:r>
              <a:rPr lang="en-US" altLang="ko-KR" sz="800" dirty="0">
                <a:latin typeface="+mn-ea"/>
                <a:hlinkClick r:id="rId4"/>
              </a:rPr>
              <a:t>https://</a:t>
            </a:r>
            <a:r>
              <a:rPr lang="en-US" altLang="ko-KR" sz="800" dirty="0" smtClean="0">
                <a:latin typeface="+mn-ea"/>
                <a:hlinkClick r:id="rId4"/>
              </a:rPr>
              <a:t>chkw0107.tistory.com/28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5"/>
              </a:rPr>
              <a:t>https://</a:t>
            </a:r>
            <a:r>
              <a:rPr lang="en-US" altLang="ko-KR" sz="800" dirty="0" smtClean="0">
                <a:latin typeface="+mn-ea"/>
                <a:hlinkClick r:id="rId5"/>
              </a:rPr>
              <a:t>codinghero.tistory.com/139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6"/>
              </a:rPr>
              <a:t>https://</a:t>
            </a:r>
            <a:r>
              <a:rPr lang="en-US" altLang="ko-KR" sz="800" dirty="0" smtClean="0">
                <a:latin typeface="+mn-ea"/>
                <a:hlinkClick r:id="rId6"/>
              </a:rPr>
              <a:t>m.blog.naver.com/lagrange0115/220611637281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7"/>
              </a:rPr>
              <a:t>https://</a:t>
            </a:r>
            <a:r>
              <a:rPr lang="en-US" altLang="ko-KR" sz="800" dirty="0" smtClean="0">
                <a:latin typeface="+mn-ea"/>
                <a:hlinkClick r:id="rId7"/>
              </a:rPr>
              <a:t>kr.mathworks.com/solutions/electrification/bldc-motor-control.html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8"/>
              </a:rPr>
              <a:t>https://</a:t>
            </a:r>
            <a:r>
              <a:rPr lang="en-US" altLang="ko-KR" sz="800" dirty="0" smtClean="0">
                <a:latin typeface="+mn-ea"/>
                <a:hlinkClick r:id="rId8"/>
              </a:rPr>
              <a:t>blog.naver.com/nissei-gtr/221599187446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9"/>
              </a:rPr>
              <a:t>https://www.devicemart.co.kr/goods_process/get_html_to_string?url=/</a:t>
            </a:r>
            <a:r>
              <a:rPr lang="en-US" altLang="ko-KR" sz="800" dirty="0" smtClean="0">
                <a:latin typeface="+mn-ea"/>
                <a:hlinkClick r:id="rId9"/>
              </a:rPr>
              <a:t>data/category/category_tech/001500010003/001500010003.html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</a:rPr>
              <a:t>https://www.mouser.kr/new/infineon/infineon-xensiv-hall-gmr-sensors/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  <a:hlinkClick r:id="rId10"/>
              </a:rPr>
              <a:t>https://www.eltra.it/encoderpedia-technical-glossary-en-gb/what-is-an-incremental-encoder</a:t>
            </a:r>
            <a:r>
              <a:rPr lang="en-US" altLang="ko-KR" sz="800" dirty="0" smtClean="0">
                <a:latin typeface="+mn-ea"/>
                <a:hlinkClick r:id="rId10"/>
              </a:rPr>
              <a:t>/</a:t>
            </a:r>
            <a:endParaRPr lang="en-US" altLang="ko-KR" sz="800" dirty="0" smtClean="0">
              <a:latin typeface="+mn-ea"/>
            </a:endParaRPr>
          </a:p>
          <a:p>
            <a:r>
              <a:rPr lang="en-US" altLang="ko-KR" sz="800" dirty="0">
                <a:latin typeface="+mn-ea"/>
              </a:rPr>
              <a:t>https://</a:t>
            </a:r>
            <a:r>
              <a:rPr lang="en-US" altLang="ko-KR" sz="800" dirty="0" smtClean="0">
                <a:latin typeface="+mn-ea"/>
              </a:rPr>
              <a:t>www.digikey.kr/ko/articles/sensorless-bldc-motor-control-with-back-emf-filtering-using-a-majority-function</a:t>
            </a:r>
          </a:p>
        </p:txBody>
      </p:sp>
    </p:spTree>
    <p:extLst>
      <p:ext uri="{BB962C8B-B14F-4D97-AF65-F5344CB8AC3E}">
        <p14:creationId xmlns:p14="http://schemas.microsoft.com/office/powerpoint/2010/main" val="243276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9155</TotalTime>
  <Words>2016</Words>
  <Application>Microsoft Office PowerPoint</Application>
  <PresentationFormat>와이드스크린</PresentationFormat>
  <Paragraphs>234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맑은 고딕</vt:lpstr>
      <vt:lpstr>Cambria Math</vt:lpstr>
      <vt:lpstr>Times New Roman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user6616</dc:creator>
  <cp:lastModifiedBy>vegetus5491@gmail.com</cp:lastModifiedBy>
  <cp:revision>393</cp:revision>
  <dcterms:created xsi:type="dcterms:W3CDTF">2017-11-16T00:50:54Z</dcterms:created>
  <dcterms:modified xsi:type="dcterms:W3CDTF">2024-02-20T03:46:40Z</dcterms:modified>
</cp:coreProperties>
</file>