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5" r:id="rId3"/>
    <p:sldId id="297" r:id="rId4"/>
    <p:sldId id="317" r:id="rId5"/>
    <p:sldId id="312" r:id="rId6"/>
    <p:sldId id="307" r:id="rId7"/>
    <p:sldId id="305" r:id="rId8"/>
    <p:sldId id="308" r:id="rId9"/>
    <p:sldId id="309" r:id="rId10"/>
    <p:sldId id="310" r:id="rId11"/>
    <p:sldId id="316" r:id="rId12"/>
    <p:sldId id="306" r:id="rId13"/>
    <p:sldId id="315" r:id="rId14"/>
    <p:sldId id="298" r:id="rId15"/>
    <p:sldId id="299" r:id="rId16"/>
    <p:sldId id="300" r:id="rId17"/>
    <p:sldId id="313" r:id="rId18"/>
    <p:sldId id="304" r:id="rId19"/>
    <p:sldId id="311" r:id="rId20"/>
  </p:sldIdLst>
  <p:sldSz cx="12192000" cy="6858000"/>
  <p:notesSz cx="6858000" cy="9144000"/>
  <p:embeddedFontLst>
    <p:embeddedFont>
      <p:font typeface="맑은 고딕" panose="020B0503020000020004" pitchFamily="50" charset="-127"/>
      <p:regular r:id="rId21"/>
      <p:bold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18D"/>
    <a:srgbClr val="30C3CA"/>
    <a:srgbClr val="330F6B"/>
    <a:srgbClr val="04878F"/>
    <a:srgbClr val="2E2676"/>
    <a:srgbClr val="89A7C4"/>
    <a:srgbClr val="FFFFFF"/>
    <a:srgbClr val="340B6B"/>
    <a:srgbClr val="319EB6"/>
    <a:srgbClr val="308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925" autoAdjust="0"/>
  </p:normalViewPr>
  <p:slideViewPr>
    <p:cSldViewPr snapToGrid="0">
      <p:cViewPr varScale="1">
        <p:scale>
          <a:sx n="109" d="100"/>
          <a:sy n="109" d="100"/>
        </p:scale>
        <p:origin x="52" y="1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4C8D-5E69-4E3B-9113-6CCCF865D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AD2A63-DB26-4E21-A28E-486496EF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2516B-CACF-4B16-8DE0-EF447989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F7289-8825-45AB-AB03-DEBE7783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C13490-E9C5-46F1-9316-FD2D3E45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6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4478A-95A5-44C0-9065-4A455527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CCCAB-EDCB-4DEB-8829-65D9D366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1A8F7-361C-4141-9B2E-FC592F15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6F61F-BADB-4AC2-8B69-437A3B17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BD9C5-B34E-4AAB-8377-AF8DFB11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08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0DAF6-D7E6-4D33-B850-54F99D20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4B3E0-73A4-4A72-BA7A-63DEFF29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9446C-9096-480E-AB5F-B96C77FF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23449-00CF-4EFE-8DCE-37CA27A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9618E-8D1C-42CF-A630-00AF769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9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7B99E-884D-475E-B612-E0506AE15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59753-2F58-4F95-964D-797A92380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57A64-1427-4BFC-BFB0-C15D5F690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5A9D4-9FB9-4B13-A7E9-CF947D24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248376-A751-44FC-9DF4-10710443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F4295E-4655-4EA8-8395-FEB42761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3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39BF5-FDEA-4F3B-BD8D-3ACD536B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68631A-0721-4C53-8306-6649F794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94FC7E-4BF1-4157-933A-AC7864790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851BD7-8624-4B07-A746-164951CCB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C870E3-4F26-4A86-93E5-B0B53A8B6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A0566-382B-4256-8073-BA71C306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A8F21B-DAF2-4455-B077-061F299C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1B069-427B-4549-8046-6E907EA0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2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824B5-BF38-49E7-B4FF-F614759E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2D06F4-ED54-4D62-A213-DC7BE2D6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A152F9-C161-47C4-B2C6-F45666E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2A262-DB12-4D55-9651-26E00565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09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220AA4-0515-47B5-8077-040C9C13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AC7298-5E99-4554-A889-022EB51E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14EAB-A7BC-42C0-9739-D44863A5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13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5DA9-2CB4-496A-9C7C-E08DCF8B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0DB97-54C0-468E-805F-B4AB2C1F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8D323-88DB-4800-9486-11F228661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6FF92-27E8-46E9-9DC2-23FD53E5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28E2E8-C57B-4E85-A7D5-653B9119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3D3EA-58F0-4E84-AFFA-F3D993BF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23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7B7DD-1A64-41A8-9025-8BC029D6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4B8945-21AB-4BE7-BBAE-66923121C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7F580-B158-47C1-992D-3DF0D009F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E3F2C-31F0-46B5-A453-0A5D9857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FF5DD-34B8-44CD-88BD-FE01351A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EC2BD0-03BB-4721-988B-B156B755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3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09A20-9934-42AD-BD8B-6C219EB4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0AB2CD-1CBC-4B7B-835F-D7EC3D84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0B5D7-B382-43E5-A750-46DFB0F1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9757E-E44A-4C7F-BFDD-2925ECF9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4BC8C-2F2E-4F37-8E54-476B8622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74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6C105-AB24-4FE2-ADBB-D3A0B5611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62700E-8EBB-4872-A2AF-2D460EBDD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E8D5E-9F7C-417F-83E0-31F3EA88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B5587-AAC5-4CCF-8A7A-196E85B8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DC317-A57D-4627-85A2-5D676C76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9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796DA4-1717-4E96-9362-C688A577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6BE35E-AF86-4E40-9259-E56A78E0E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9C7FE-85A4-4306-9DA9-E77512674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D74D0-C08C-4FA0-B1AC-58A8B9A14615}" type="datetimeFigureOut">
              <a:rPr lang="ko-KR" altLang="en-US" smtClean="0"/>
              <a:t>2024-02-13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C45BA-E608-4D32-9D6B-72C445ECF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BE4C1-E047-4523-A66F-F5BB51073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3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32.png"/><Relationship Id="rId4" Type="http://schemas.openxmlformats.org/officeDocument/2006/relationships/image" Target="../media/image3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0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4.png"/><Relationship Id="rId7" Type="http://schemas.openxmlformats.org/officeDocument/2006/relationships/image" Target="../media/image17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10" Type="http://schemas.openxmlformats.org/officeDocument/2006/relationships/image" Target="../media/image37.png"/><Relationship Id="rId4" Type="http://schemas.openxmlformats.org/officeDocument/2006/relationships/image" Target="../media/image150.png"/><Relationship Id="rId9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0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360.png"/><Relationship Id="rId4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2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0.png"/><Relationship Id="rId5" Type="http://schemas.openxmlformats.org/officeDocument/2006/relationships/image" Target="../media/image43.jpg"/><Relationship Id="rId4" Type="http://schemas.openxmlformats.org/officeDocument/2006/relationships/image" Target="../media/image270.png"/><Relationship Id="rId9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0.png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63" y="6110037"/>
            <a:ext cx="1857375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0CDAC6-6628-5FD2-1B1F-D700441937B0}"/>
              </a:ext>
            </a:extLst>
          </p:cNvPr>
          <p:cNvSpPr txBox="1"/>
          <p:nvPr/>
        </p:nvSpPr>
        <p:spPr>
          <a:xfrm>
            <a:off x="4974419" y="5742360"/>
            <a:ext cx="2045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세종대학교 </a:t>
            </a:r>
            <a:r>
              <a:rPr lang="en-US" altLang="ko-KR" sz="12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IRLab</a:t>
            </a:r>
            <a:r>
              <a:rPr lang="en-US" altLang="ko-KR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허 정</a:t>
            </a:r>
            <a:endParaRPr lang="ko-KR" altLang="en-US" sz="12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F7ABA-DA57-A823-2313-C6A53D2EBAA5}"/>
              </a:ext>
            </a:extLst>
          </p:cNvPr>
          <p:cNvSpPr txBox="1"/>
          <p:nvPr/>
        </p:nvSpPr>
        <p:spPr>
          <a:xfrm>
            <a:off x="2574954" y="3004698"/>
            <a:ext cx="68444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&lt;01.22-02.13 </a:t>
            </a:r>
            <a:r>
              <a:rPr lang="ko-KR" altLang="en-US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연구내용</a:t>
            </a:r>
            <a:r>
              <a:rPr lang="en-US" altLang="ko-KR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&gt;</a:t>
            </a:r>
            <a:endParaRPr lang="en-US" altLang="ko-KR" sz="3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32347E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-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DC Motor Controllability &amp; Stability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-</a:t>
            </a:r>
            <a:endParaRPr lang="ko-KR" altLang="en-US" sz="20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32347E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48D88-4552-C48C-82B4-530F855598E2}"/>
              </a:ext>
            </a:extLst>
          </p:cNvPr>
          <p:cNvSpPr txBox="1"/>
          <p:nvPr/>
        </p:nvSpPr>
        <p:spPr>
          <a:xfrm>
            <a:off x="7092782" y="2618584"/>
            <a:ext cx="1357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+mn-ea"/>
              </a:rPr>
              <a:t>2024.02.13</a:t>
            </a:r>
            <a:endParaRPr lang="en-US" altLang="ko-KR" sz="16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3C56A1-B6A1-6DAB-FE49-C00FA2CFCAEA}"/>
              </a:ext>
            </a:extLst>
          </p:cNvPr>
          <p:cNvGrpSpPr/>
          <p:nvPr/>
        </p:nvGrpSpPr>
        <p:grpSpPr>
          <a:xfrm>
            <a:off x="4454675" y="2529788"/>
            <a:ext cx="3278961" cy="88796"/>
            <a:chOff x="4333419" y="1769106"/>
            <a:chExt cx="3278961" cy="88796"/>
          </a:xfrm>
          <a:solidFill>
            <a:srgbClr val="332D7B"/>
          </a:solidFill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AC4D32D-140B-1D22-6239-D10073215AA4}"/>
                </a:ext>
              </a:extLst>
            </p:cNvPr>
            <p:cNvCxnSpPr>
              <a:cxnSpLocks/>
            </p:cNvCxnSpPr>
            <p:nvPr/>
          </p:nvCxnSpPr>
          <p:spPr>
            <a:xfrm>
              <a:off x="4337108" y="1817467"/>
              <a:ext cx="3275272" cy="0"/>
            </a:xfrm>
            <a:prstGeom prst="line">
              <a:avLst/>
            </a:prstGeom>
            <a:grpFill/>
            <a:ln w="38100">
              <a:solidFill>
                <a:srgbClr val="3232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CF3C3DA-1DB2-78B6-52F2-1015B0C6BA87}"/>
                </a:ext>
              </a:extLst>
            </p:cNvPr>
            <p:cNvSpPr/>
            <p:nvPr/>
          </p:nvSpPr>
          <p:spPr>
            <a:xfrm>
              <a:off x="4333419" y="1769106"/>
              <a:ext cx="633711" cy="45719"/>
            </a:xfrm>
            <a:prstGeom prst="rect">
              <a:avLst/>
            </a:prstGeom>
            <a:grpFill/>
            <a:ln>
              <a:solidFill>
                <a:srgbClr val="3234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51112A9-8FB1-E461-BA88-ADF0362AA998}"/>
                </a:ext>
              </a:extLst>
            </p:cNvPr>
            <p:cNvSpPr/>
            <p:nvPr/>
          </p:nvSpPr>
          <p:spPr>
            <a:xfrm>
              <a:off x="6971526" y="1812183"/>
              <a:ext cx="633711" cy="45719"/>
            </a:xfrm>
            <a:prstGeom prst="rect">
              <a:avLst/>
            </a:prstGeom>
            <a:grpFill/>
            <a:ln>
              <a:solidFill>
                <a:srgbClr val="3235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78A6EBF-1534-8F7D-1707-89DCDCF6CEF5}"/>
              </a:ext>
            </a:extLst>
          </p:cNvPr>
          <p:cNvSpPr txBox="1"/>
          <p:nvPr/>
        </p:nvSpPr>
        <p:spPr>
          <a:xfrm>
            <a:off x="4499468" y="2194277"/>
            <a:ext cx="3425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+mn-ea"/>
              </a:rPr>
              <a:t>연구 진행 및 학업 성취 현황 보고</a:t>
            </a:r>
            <a:endParaRPr lang="en-US" altLang="ko-KR" sz="16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+mn-ea"/>
            </a:endParaRPr>
          </a:p>
        </p:txBody>
      </p:sp>
      <p:pic>
        <p:nvPicPr>
          <p:cNvPr id="16" name="그림 15" descr="그래픽, 그래픽 디자인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091B48C-78EC-B2AE-BC7B-907C956953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791" y="2224450"/>
            <a:ext cx="507744" cy="656393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CA7FEC36-4437-7A6C-3D6F-55613E3FA02E}"/>
              </a:ext>
            </a:extLst>
          </p:cNvPr>
          <p:cNvGrpSpPr/>
          <p:nvPr/>
        </p:nvGrpSpPr>
        <p:grpSpPr>
          <a:xfrm>
            <a:off x="6177916" y="6110037"/>
            <a:ext cx="1979965" cy="586598"/>
            <a:chOff x="5667685" y="6153183"/>
            <a:chExt cx="1831470" cy="491936"/>
          </a:xfrm>
        </p:grpSpPr>
        <p:pic>
          <p:nvPicPr>
            <p:cNvPr id="18" name="그림 17" descr="그래픽, 그래픽 디자인, 클립아트, 디자인이(가) 표시된 사진&#10;&#10;자동 생성된 설명">
              <a:extLst>
                <a:ext uri="{FF2B5EF4-FFF2-40B4-BE49-F238E27FC236}">
                  <a16:creationId xmlns:a16="http://schemas.microsoft.com/office/drawing/2014/main" id="{DA3078F6-A951-59DE-40B2-4E9CC7754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685" y="6153183"/>
              <a:ext cx="330993" cy="413237"/>
            </a:xfrm>
            <a:prstGeom prst="rect">
              <a:avLst/>
            </a:prstGeom>
          </p:spPr>
        </p:pic>
        <p:pic>
          <p:nvPicPr>
            <p:cNvPr id="20" name="그림 19" descr="폰트, 그래픽, 텍스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14B8CAC1-766B-1C60-7254-90D3C0BFB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58"/>
            <a:stretch/>
          </p:blipFill>
          <p:spPr>
            <a:xfrm>
              <a:off x="5997164" y="6153183"/>
              <a:ext cx="1501991" cy="491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789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E62C0-14A1-4A12-B41E-13F0E87755BC}"/>
              </a:ext>
            </a:extLst>
          </p:cNvPr>
          <p:cNvSpPr txBox="1"/>
          <p:nvPr/>
        </p:nvSpPr>
        <p:spPr>
          <a:xfrm>
            <a:off x="554182" y="339946"/>
            <a:ext cx="182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목차 </a:t>
            </a:r>
            <a:endParaRPr lang="en-US" altLang="ko-KR" sz="24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B7EE40-BAD9-4569-9BF6-F6E9ACA78A3C}"/>
              </a:ext>
            </a:extLst>
          </p:cNvPr>
          <p:cNvSpPr txBox="1"/>
          <p:nvPr/>
        </p:nvSpPr>
        <p:spPr>
          <a:xfrm>
            <a:off x="554183" y="1277943"/>
            <a:ext cx="261257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모터의 상태 공간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3" y="2650120"/>
            <a:ext cx="520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DC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(Position control) - PID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3291514"/>
            <a:ext cx="7309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DC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이론 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Position control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– State Feedback Control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1" y="3932908"/>
            <a:ext cx="725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이론 </a:t>
            </a:r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(Speed control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) – State Feedback Control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2009044"/>
            <a:ext cx="615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PID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4569186"/>
            <a:ext cx="615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VI.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제어기를 포함한 시스템 안정성 판별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5205464"/>
            <a:ext cx="615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VII.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이번 주 연구 및 학업 계획</a:t>
            </a:r>
          </a:p>
        </p:txBody>
      </p:sp>
    </p:spTree>
    <p:extLst>
      <p:ext uri="{BB962C8B-B14F-4D97-AF65-F5344CB8AC3E}">
        <p14:creationId xmlns:p14="http://schemas.microsoft.com/office/powerpoint/2010/main" val="166660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모터의 상태 공간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/>
              <p:cNvSpPr/>
              <p:nvPr/>
            </p:nvSpPr>
            <p:spPr>
              <a:xfrm>
                <a:off x="419099" y="846029"/>
                <a:ext cx="6096000" cy="211449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DC 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모터의 수학적 모델링 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동적시스템의 상태를 결정할 수 있는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최소개수의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변수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상태공간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en-US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상태변수의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축으로 구성된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차원의 공간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표현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 y</a:t>
                </a:r>
                <a14:m>
                  <m:oMath xmlns:m="http://schemas.openxmlformats.org/officeDocument/2006/math">
                    <m:r>
                      <a:rPr lang="en-US" altLang="ko-KR" sz="1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2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ko-KR" sz="12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ko-KR" sz="1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US" altLang="ko-KR" sz="1200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endParaRPr lang="ko-KR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846029"/>
                <a:ext cx="6096000" cy="2114490"/>
              </a:xfrm>
              <a:prstGeom prst="rect">
                <a:avLst/>
              </a:prstGeom>
              <a:blipFill>
                <a:blip r:embed="rId2"/>
                <a:stretch>
                  <a:fillRect l="-300" t="-8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/>
          <p:cNvSpPr/>
          <p:nvPr/>
        </p:nvSpPr>
        <p:spPr>
          <a:xfrm>
            <a:off x="1198605" y="5548752"/>
            <a:ext cx="5316494" cy="59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내부의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유도기전력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토크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모터에 저항하는 로드 토크는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이라고 가정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9" y="2781463"/>
            <a:ext cx="5079975" cy="21578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83" y="5547341"/>
            <a:ext cx="451021" cy="30635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82" y="5853694"/>
            <a:ext cx="451022" cy="285220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5910942" y="846029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DC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상태공간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Moter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speed control)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상태변수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865" y="1448896"/>
            <a:ext cx="1049056" cy="39844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369" y="1511584"/>
            <a:ext cx="599328" cy="25771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5603" y="1503907"/>
            <a:ext cx="787440" cy="273064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5910942" y="1985428"/>
            <a:ext cx="6096000" cy="5901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상태공간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7865" y="2427173"/>
            <a:ext cx="4070141" cy="1000205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5910942" y="3507077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DC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상태공간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Moter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position control)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상태변수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10"/>
          <a:srcRect b="68687"/>
          <a:stretch/>
        </p:blipFill>
        <p:spPr>
          <a:xfrm>
            <a:off x="6207865" y="4105510"/>
            <a:ext cx="1676486" cy="38775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10"/>
          <a:srcRect t="36219" b="35841"/>
          <a:stretch/>
        </p:blipFill>
        <p:spPr>
          <a:xfrm>
            <a:off x="7971080" y="4147270"/>
            <a:ext cx="1676486" cy="345990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10"/>
          <a:srcRect t="69190"/>
          <a:stretch/>
        </p:blipFill>
        <p:spPr>
          <a:xfrm>
            <a:off x="8896052" y="4104021"/>
            <a:ext cx="1676486" cy="381521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5910942" y="4627894"/>
            <a:ext cx="6096000" cy="5901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상태공간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6785" y="4876677"/>
            <a:ext cx="4596967" cy="126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3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모터의 상태 공간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9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DC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블록 선도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Position Control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25297" y="3309526"/>
            <a:ext cx="5095935" cy="574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Ks 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센서의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이득값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개루프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전달함수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910942" y="3883850"/>
            <a:ext cx="6096000" cy="2741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작은경우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L/R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무시 →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간략화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표준형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차 시스템의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위치응답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53" y="1479445"/>
            <a:ext cx="4828379" cy="171914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984" y="3427378"/>
            <a:ext cx="2710229" cy="884553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425297" y="4429783"/>
            <a:ext cx="5277980" cy="89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간략화를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위해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 이득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K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                   2.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입력전압을 위치에 따라 정함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                   3.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출력은 센서의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이득값을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이용하여 전압으로 변환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629" y="1479445"/>
            <a:ext cx="3340711" cy="1168550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5910942" y="1479445"/>
            <a:ext cx="5095935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폐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루프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전달함수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951" y="4173801"/>
            <a:ext cx="4222138" cy="155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PID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390524" y="992477"/>
            <a:ext cx="5071163" cy="2819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PID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PID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/>
              <a:t>피드백 제어의 일종으로 비례</a:t>
            </a:r>
            <a:r>
              <a:rPr lang="en-US" altLang="ko-KR" sz="1200" dirty="0"/>
              <a:t>(proportional), </a:t>
            </a:r>
            <a:r>
              <a:rPr lang="ko-KR" altLang="en-US" sz="1200" dirty="0"/>
              <a:t>적분</a:t>
            </a:r>
            <a:r>
              <a:rPr lang="en-US" altLang="ko-KR" sz="1200" dirty="0"/>
              <a:t>(integral), </a:t>
            </a:r>
            <a:r>
              <a:rPr lang="ko-KR" altLang="en-US" sz="1200" dirty="0"/>
              <a:t>미분</a:t>
            </a:r>
            <a:r>
              <a:rPr lang="en-US" altLang="ko-KR" sz="1200" dirty="0"/>
              <a:t>(derivative)</a:t>
            </a:r>
            <a:r>
              <a:rPr lang="ko-KR" altLang="en-US" sz="1200" dirty="0"/>
              <a:t>의 조합을 </a:t>
            </a:r>
            <a:r>
              <a:rPr lang="ko-KR" altLang="en-US" sz="1200" dirty="0" smtClean="0"/>
              <a:t>통한 제어를 사용하는 기법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/>
              <a:t>비례</a:t>
            </a:r>
            <a:r>
              <a:rPr lang="en-US" altLang="ko-KR" sz="1200" dirty="0" smtClean="0"/>
              <a:t>(P)</a:t>
            </a:r>
            <a:r>
              <a:rPr lang="ko-KR" altLang="en-US" sz="1200" dirty="0"/>
              <a:t>항</a:t>
            </a:r>
            <a:r>
              <a:rPr lang="en-US" altLang="ko-KR" sz="1200" dirty="0"/>
              <a:t>: </a:t>
            </a:r>
            <a:r>
              <a:rPr lang="ko-KR" altLang="en-US" sz="1200" dirty="0"/>
              <a:t>오차</a:t>
            </a:r>
            <a:r>
              <a:rPr lang="en-US" altLang="ko-KR" sz="1200" dirty="0"/>
              <a:t>(</a:t>
            </a:r>
            <a:r>
              <a:rPr lang="ko-KR" altLang="en-US" sz="1200" dirty="0"/>
              <a:t>기준 </a:t>
            </a:r>
            <a:r>
              <a:rPr lang="ko-KR" altLang="en-US" sz="1200" dirty="0" err="1"/>
              <a:t>목표값과</a:t>
            </a:r>
            <a:r>
              <a:rPr lang="ko-KR" altLang="en-US" sz="1200" dirty="0"/>
              <a:t> 현재 </a:t>
            </a:r>
            <a:r>
              <a:rPr lang="ko-KR" altLang="en-US" sz="1200" dirty="0" err="1"/>
              <a:t>출력값의</a:t>
            </a:r>
            <a:r>
              <a:rPr lang="ko-KR" altLang="en-US" sz="1200" dirty="0"/>
              <a:t> 차</a:t>
            </a:r>
            <a:r>
              <a:rPr lang="en-US" altLang="ko-KR" sz="1200" dirty="0"/>
              <a:t>)</a:t>
            </a:r>
            <a:r>
              <a:rPr lang="ko-KR" altLang="en-US" sz="1200" dirty="0"/>
              <a:t>이 비례하는 입력 </a:t>
            </a:r>
            <a:r>
              <a:rPr lang="ko-KR" altLang="en-US" sz="1200" dirty="0" smtClean="0"/>
              <a:t>인가</a:t>
            </a:r>
            <a:endParaRPr lang="en-US" altLang="ko-KR" sz="1200" dirty="0" smtClean="0"/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/>
              <a:t>적분</a:t>
            </a:r>
            <a:r>
              <a:rPr lang="en-US" altLang="ko-KR" sz="1200" dirty="0" smtClean="0"/>
              <a:t>(</a:t>
            </a:r>
            <a:r>
              <a:rPr lang="en-US" altLang="ko-KR" sz="1200" dirty="0"/>
              <a:t>I</a:t>
            </a:r>
            <a:r>
              <a:rPr lang="en-US" altLang="ko-KR" sz="1200" dirty="0" smtClean="0"/>
              <a:t>)</a:t>
            </a:r>
            <a:r>
              <a:rPr lang="ko-KR" altLang="en-US" sz="1200" dirty="0"/>
              <a:t>항</a:t>
            </a:r>
            <a:r>
              <a:rPr lang="en-US" altLang="ko-KR" sz="1200" dirty="0"/>
              <a:t>: </a:t>
            </a:r>
            <a:r>
              <a:rPr lang="ko-KR" altLang="en-US" sz="1200" dirty="0"/>
              <a:t>오차의 </a:t>
            </a:r>
            <a:r>
              <a:rPr lang="ko-KR" altLang="en-US" sz="1200" dirty="0" err="1"/>
              <a:t>적분값을</a:t>
            </a:r>
            <a:r>
              <a:rPr lang="ko-KR" altLang="en-US" sz="1200" dirty="0"/>
              <a:t> 추가하여 정상상태에서의 정확도 향상 </a:t>
            </a:r>
            <a:endParaRPr lang="en-US" altLang="ko-KR" sz="1200" dirty="0" smtClean="0"/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/>
              <a:t>미분</a:t>
            </a:r>
            <a:r>
              <a:rPr lang="en-US" altLang="ko-KR" sz="1200" dirty="0" smtClean="0"/>
              <a:t>(</a:t>
            </a:r>
            <a:r>
              <a:rPr lang="en-US" altLang="ko-KR" sz="1200" dirty="0"/>
              <a:t>D</a:t>
            </a:r>
            <a:r>
              <a:rPr lang="en-US" altLang="ko-KR" sz="1200" dirty="0" smtClean="0"/>
              <a:t>)</a:t>
            </a:r>
            <a:r>
              <a:rPr lang="ko-KR" altLang="en-US" sz="1200" dirty="0"/>
              <a:t>항</a:t>
            </a:r>
            <a:r>
              <a:rPr lang="en-US" altLang="ko-KR" sz="1200" dirty="0"/>
              <a:t>: </a:t>
            </a:r>
            <a:r>
              <a:rPr lang="ko-KR" altLang="en-US" sz="1200" dirty="0"/>
              <a:t>오차의 </a:t>
            </a:r>
            <a:r>
              <a:rPr lang="ko-KR" altLang="en-US" sz="1200" dirty="0" err="1"/>
              <a:t>미분값을</a:t>
            </a:r>
            <a:r>
              <a:rPr lang="ko-KR" altLang="en-US" sz="1200" dirty="0"/>
              <a:t> 추가하여 오차의 변화에 기민하게 </a:t>
            </a:r>
            <a:r>
              <a:rPr lang="ko-KR" altLang="en-US" sz="1200" dirty="0" smtClean="0"/>
              <a:t>반응</a:t>
            </a:r>
            <a:endParaRPr lang="en-US" altLang="ko-KR" sz="1200" dirty="0" smtClean="0"/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dirty="0" smtClean="0"/>
              <a:t>시스템 상태 변수를 몰라도 제어 가능</a:t>
            </a:r>
            <a:endParaRPr lang="en-US" altLang="ko-KR" sz="1200" dirty="0" smtClean="0"/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24" y="992477"/>
            <a:ext cx="5149692" cy="287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PID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(P)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4688204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개루프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응답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Target = 1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8162924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</a:t>
            </a:r>
            <a:r>
              <a:rPr lang="ko-KR" altLang="en-US" sz="1400" b="1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폐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루프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응답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kp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835" y="1804531"/>
            <a:ext cx="3360497" cy="2520373"/>
          </a:xfrm>
          <a:prstGeom prst="rect">
            <a:avLst/>
          </a:prstGeom>
        </p:spPr>
      </p:pic>
      <p:sp>
        <p:nvSpPr>
          <p:cNvPr id="62" name="직사각형 61"/>
          <p:cNvSpPr/>
          <p:nvPr/>
        </p:nvSpPr>
        <p:spPr>
          <a:xfrm>
            <a:off x="8162924" y="4324904"/>
            <a:ext cx="3325265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kp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100</a:t>
            </a: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641" y="4614855"/>
            <a:ext cx="2907733" cy="2180800"/>
          </a:xfrm>
          <a:prstGeom prst="rect">
            <a:avLst/>
          </a:prstGeom>
        </p:spPr>
      </p:pic>
      <p:sp>
        <p:nvSpPr>
          <p:cNvPr id="65" name="직사각형 64"/>
          <p:cNvSpPr/>
          <p:nvPr/>
        </p:nvSpPr>
        <p:spPr>
          <a:xfrm>
            <a:off x="419099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Matlab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코드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어떠한 시스템에 대한 계단 응답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4" y="1916823"/>
            <a:ext cx="2248214" cy="2553056"/>
          </a:xfrm>
          <a:prstGeom prst="rect">
            <a:avLst/>
          </a:prstGeom>
        </p:spPr>
      </p:pic>
      <p:sp>
        <p:nvSpPr>
          <p:cNvPr id="67" name="직사각형 66"/>
          <p:cNvSpPr/>
          <p:nvPr/>
        </p:nvSpPr>
        <p:spPr>
          <a:xfrm>
            <a:off x="582903" y="5159433"/>
            <a:ext cx="5826209" cy="275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P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제어만으로는 정확하고 안정적인 제어가 힘들다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275" y="1804530"/>
            <a:ext cx="3337560" cy="250317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8711738" y="2842953"/>
            <a:ext cx="25187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8973026" y="5705255"/>
            <a:ext cx="2169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60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PID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(PI)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4688204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폐루프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응답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kp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8162924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PI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</a:t>
            </a:r>
            <a:r>
              <a:rPr lang="ko-KR" altLang="en-US" sz="1400" b="1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폐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루프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응답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kp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 ,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ki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204" y="1804531"/>
            <a:ext cx="3360497" cy="2520373"/>
          </a:xfrm>
          <a:prstGeom prst="rect">
            <a:avLst/>
          </a:prstGeom>
        </p:spPr>
      </p:pic>
      <p:sp>
        <p:nvSpPr>
          <p:cNvPr id="65" name="직사각형 64"/>
          <p:cNvSpPr/>
          <p:nvPr/>
        </p:nvSpPr>
        <p:spPr>
          <a:xfrm>
            <a:off x="419099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Matlab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코드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어떠한 시스템에 대한 계단 응답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82903" y="5159433"/>
            <a:ext cx="5826209" cy="275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P+I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정상상태 정확도 향상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426" y="1853931"/>
            <a:ext cx="3228763" cy="2421572"/>
          </a:xfrm>
          <a:prstGeom prst="rect">
            <a:avLst/>
          </a:prstGeom>
        </p:spPr>
      </p:pic>
      <p:cxnSp>
        <p:nvCxnSpPr>
          <p:cNvPr id="69" name="직선 연결선 68"/>
          <p:cNvCxnSpPr/>
          <p:nvPr/>
        </p:nvCxnSpPr>
        <p:spPr>
          <a:xfrm>
            <a:off x="5214907" y="2836951"/>
            <a:ext cx="25187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8758207" y="2963951"/>
            <a:ext cx="25187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" name="그림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30" y="1946087"/>
            <a:ext cx="2076740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2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PID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(PID)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8162924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PID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</a:t>
            </a:r>
            <a:r>
              <a:rPr lang="ko-KR" altLang="en-US" sz="1400" b="1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폐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루프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응답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kp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 ,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ki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 ,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kd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 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419099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Matlab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코드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어떠한 시스템에 대한 계단 응답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82903" y="5159433"/>
            <a:ext cx="5826209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P+I+D : PI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보다 더 안정적인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과도응답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291011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PI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</a:t>
            </a:r>
            <a:r>
              <a:rPr lang="ko-KR" altLang="en-US" sz="1400" b="1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폐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루프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응답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Unit step response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kp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 ,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ki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10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13" y="1853931"/>
            <a:ext cx="3228763" cy="2421572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4886294" y="2963951"/>
            <a:ext cx="25187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24" y="1971477"/>
            <a:ext cx="2267266" cy="283884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561" y="1880732"/>
            <a:ext cx="3193028" cy="239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4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(Position control) - PID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5" name="직사각형 64"/>
          <p:cNvSpPr/>
          <p:nvPr/>
        </p:nvSpPr>
        <p:spPr>
          <a:xfrm>
            <a:off x="419099" y="881266"/>
            <a:ext cx="3325265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아두이노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코드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09" y="1625600"/>
            <a:ext cx="2527330" cy="43503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50" y="1625600"/>
            <a:ext cx="2927447" cy="435032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202" y="1625600"/>
            <a:ext cx="2702151" cy="43503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545" y="1625600"/>
            <a:ext cx="2861022" cy="435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(Position control) - PID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직사각형 64"/>
              <p:cNvSpPr/>
              <p:nvPr/>
            </p:nvSpPr>
            <p:spPr>
              <a:xfrm>
                <a:off x="419099" y="881266"/>
                <a:ext cx="5059681" cy="92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모터 각도 제어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[CB l CAB 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sSup>
                      <m:sSup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]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ko-KR" altLang="en-US" sz="1200" kern="100" dirty="0" err="1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엔코더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필요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=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센서 필요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=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현재 각도 값 필요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직사각형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881266"/>
                <a:ext cx="5059681" cy="923266"/>
              </a:xfrm>
              <a:prstGeom prst="rect">
                <a:avLst/>
              </a:prstGeom>
              <a:blipFill>
                <a:blip r:embed="rId4"/>
                <a:stretch>
                  <a:fillRect l="-361" t="-1987" b="-2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그림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47" y="3276840"/>
            <a:ext cx="4666466" cy="1881900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47" y="1850675"/>
            <a:ext cx="4278184" cy="1174705"/>
          </a:xfrm>
          <a:prstGeom prst="rect">
            <a:avLst/>
          </a:prstGeom>
        </p:spPr>
      </p:pic>
      <p:sp>
        <p:nvSpPr>
          <p:cNvPr id="62" name="직사각형 61"/>
          <p:cNvSpPr/>
          <p:nvPr/>
        </p:nvSpPr>
        <p:spPr>
          <a:xfrm>
            <a:off x="6294524" y="881266"/>
            <a:ext cx="5059681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각도 제어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0" name="KakaoTalk_20240204_23041649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812119" y="1804532"/>
            <a:ext cx="4024489" cy="22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3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678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(Position control)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– PID ,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엔코더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사용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직사각형 64"/>
              <p:cNvSpPr/>
              <p:nvPr/>
            </p:nvSpPr>
            <p:spPr>
              <a:xfrm>
                <a:off x="419098" y="2533121"/>
                <a:ext cx="5491844" cy="3677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엔코더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Magnetic Encoder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엔코더의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마그네틱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드럼 지름 약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1.4cm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엔코더의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홀 센서가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&amp; 26P/R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Pulse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의 변하는 구간마다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측정가능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(Rising, Falling)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= 52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구간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= 2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체배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홀 센서가 측정하는 단위 호의 길이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8.46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m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홀 센서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= 2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채널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, 90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도의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위상차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ko-KR" sz="1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ko-KR" altLang="en-US" sz="1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ko-KR" altLang="en-US" sz="1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den>
                            </m:f>
                            <m: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ko-KR" altLang="en-US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ko-KR" altLang="en-US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공</m:t>
                    </m:r>
                  </m:oMath>
                </a14:m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간만 고려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2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는 파장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ko-KR" altLang="en-US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/(8.46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  <m:r>
                      <a:rPr lang="en-US" altLang="ko-KR" sz="12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2))×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ko-KR" altLang="en-US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ko-KR" altLang="en-US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=4.23×</m:t>
                    </m:r>
                    <m:sSup>
                      <m:sSup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ko-KR" altLang="en-US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홀센서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절반만큼 갔을 때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B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Rising, Falling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발생 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104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구간으로 각도 표현 가능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	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628650" lvl="1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직사각형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8" y="2533121"/>
                <a:ext cx="5491844" cy="3677610"/>
              </a:xfrm>
              <a:prstGeom prst="rect">
                <a:avLst/>
              </a:prstGeom>
              <a:blipFill>
                <a:blip r:embed="rId2"/>
                <a:stretch>
                  <a:fillRect l="-333" t="-4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65" y="832027"/>
            <a:ext cx="5315748" cy="162175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92" y="1550081"/>
            <a:ext cx="2780356" cy="1054842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9077358" y="1073690"/>
            <a:ext cx="2849940" cy="3196826"/>
            <a:chOff x="3341576" y="5088738"/>
            <a:chExt cx="2849940" cy="3196826"/>
          </a:xfrm>
        </p:grpSpPr>
        <p:grpSp>
          <p:nvGrpSpPr>
            <p:cNvPr id="17" name="그룹 16"/>
            <p:cNvGrpSpPr/>
            <p:nvPr/>
          </p:nvGrpSpPr>
          <p:grpSpPr>
            <a:xfrm>
              <a:off x="3341576" y="5430435"/>
              <a:ext cx="2849940" cy="2855129"/>
              <a:chOff x="714862" y="4254426"/>
              <a:chExt cx="2849940" cy="2855129"/>
            </a:xfrm>
          </p:grpSpPr>
          <p:sp>
            <p:nvSpPr>
              <p:cNvPr id="5" name="원형 4"/>
              <p:cNvSpPr/>
              <p:nvPr/>
            </p:nvSpPr>
            <p:spPr>
              <a:xfrm rot="13500000">
                <a:off x="714862" y="4259615"/>
                <a:ext cx="2849940" cy="2849940"/>
              </a:xfrm>
              <a:prstGeom prst="pie">
                <a:avLst>
                  <a:gd name="adj1" fmla="val 20505176"/>
                  <a:gd name="adj2" fmla="val 6132028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직선 연결선 6"/>
              <p:cNvCxnSpPr/>
              <p:nvPr/>
            </p:nvCxnSpPr>
            <p:spPr>
              <a:xfrm flipV="1">
                <a:off x="2139832" y="4254426"/>
                <a:ext cx="0" cy="14301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/>
              <p:cNvCxnSpPr/>
              <p:nvPr/>
            </p:nvCxnSpPr>
            <p:spPr>
              <a:xfrm flipH="1" flipV="1">
                <a:off x="1830499" y="4284365"/>
                <a:ext cx="309334" cy="14002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/>
              <p:cNvCxnSpPr/>
              <p:nvPr/>
            </p:nvCxnSpPr>
            <p:spPr>
              <a:xfrm flipV="1">
                <a:off x="2139832" y="4284365"/>
                <a:ext cx="295797" cy="14002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 flipH="1" flipV="1">
                <a:off x="1546167" y="4389120"/>
                <a:ext cx="593665" cy="129546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직선 화살표 연결선 22"/>
            <p:cNvCxnSpPr/>
            <p:nvPr/>
          </p:nvCxnSpPr>
          <p:spPr>
            <a:xfrm flipV="1">
              <a:off x="5062343" y="5113677"/>
              <a:ext cx="0" cy="3167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/>
            <p:nvPr/>
          </p:nvCxnSpPr>
          <p:spPr>
            <a:xfrm>
              <a:off x="4766546" y="5088738"/>
              <a:ext cx="0" cy="2826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 flipV="1">
              <a:off x="4457213" y="5113677"/>
              <a:ext cx="0" cy="3167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/>
            <p:nvPr/>
          </p:nvCxnSpPr>
          <p:spPr>
            <a:xfrm>
              <a:off x="4172881" y="5188491"/>
              <a:ext cx="0" cy="2718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6152012" y="3961437"/>
                <a:ext cx="5826209" cy="11760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à"/>
                </a:pP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감속비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1/35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ko-KR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1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04×35=3640,  </m:t>
                    </m:r>
                    <m:f>
                      <m:f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360°</m:t>
                        </m:r>
                      </m:num>
                      <m:den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3640</m:t>
                        </m:r>
                      </m:den>
                    </m:f>
                    <m:r>
                      <a:rPr lang="en-US" altLang="ko-KR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=0.099°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감지가능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à"/>
                </a:pP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Attachinterrupt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= Rising, Falling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일 때마다 감지하면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0.099xN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만큼으로 최초 위치에서부터 각도 예측가능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à"/>
                </a:pPr>
                <a:endParaRPr lang="ko-KR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012" y="3961437"/>
                <a:ext cx="5826209" cy="1176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1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871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이론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(Position control) – State Feedback Control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90524" y="881266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DC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상태공간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(Motor position control)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상태변수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b="68687"/>
          <a:stretch/>
        </p:blipFill>
        <p:spPr>
          <a:xfrm>
            <a:off x="687447" y="1479699"/>
            <a:ext cx="1676486" cy="38775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/>
          <a:srcRect t="36219" b="35841"/>
          <a:stretch/>
        </p:blipFill>
        <p:spPr>
          <a:xfrm>
            <a:off x="2450662" y="1521459"/>
            <a:ext cx="1676486" cy="34599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2"/>
          <a:srcRect t="69190"/>
          <a:stretch/>
        </p:blipFill>
        <p:spPr>
          <a:xfrm>
            <a:off x="3375634" y="1478210"/>
            <a:ext cx="1676486" cy="381521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390524" y="2002083"/>
            <a:ext cx="6096000" cy="5901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상태공간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36" y="2250866"/>
            <a:ext cx="4278184" cy="1174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/>
              <p:cNvSpPr/>
              <p:nvPr/>
            </p:nvSpPr>
            <p:spPr>
              <a:xfrm>
                <a:off x="390523" y="4900502"/>
                <a:ext cx="5071163" cy="1421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DC 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모터의 </a:t>
                </a:r>
                <a:r>
                  <a:rPr lang="ko-KR" altLang="en-US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가제어성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Motor position control </a:t>
                </a:r>
                <a:endParaRPr lang="en-US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시스템이 초기상태에서 다른 임의의 상태로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유한시간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내에 이동할 수 있으면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가제어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[B l AB 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]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rank = 3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제어가능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직사각형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3" y="4900502"/>
                <a:ext cx="5071163" cy="1421095"/>
              </a:xfrm>
              <a:prstGeom prst="rect">
                <a:avLst/>
              </a:prstGeom>
              <a:blipFill>
                <a:blip r:embed="rId4"/>
                <a:stretch>
                  <a:fillRect l="-361" t="-1288" r="-120" b="-12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6486524" y="881266"/>
                <a:ext cx="5071163" cy="1523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DC 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모터의 출력 </a:t>
                </a:r>
                <a:r>
                  <a:rPr lang="ko-KR" altLang="en-US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가제어성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Motor position control </a:t>
                </a:r>
                <a:endParaRPr lang="en-US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초기 출력을 임의의 최종 출력으로 유한 시간 내에 이동시킬 수 있다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[CB l CAB 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sSup>
                      <m:sSupPr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]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의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rank = 1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출력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가제어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 (C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mxn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행렬일 때 출력가제어행렬의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rank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이어야함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24" y="881266"/>
                <a:ext cx="5071163" cy="1523687"/>
              </a:xfrm>
              <a:prstGeom prst="rect">
                <a:avLst/>
              </a:prstGeom>
              <a:blipFill>
                <a:blip r:embed="rId5"/>
                <a:stretch>
                  <a:fillRect l="-361" t="-1200" b="-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580" y="1227254"/>
            <a:ext cx="926065" cy="941159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4449277" y="2190391"/>
            <a:ext cx="1826822" cy="214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800" kern="100" dirty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8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MAXON DCX35L </a:t>
            </a:r>
            <a:r>
              <a:rPr lang="ko-KR" altLang="en-US" sz="8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</a:t>
            </a:r>
            <a:endParaRPr lang="ko-KR" altLang="ko-KR" sz="8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/>
              <p:cNvSpPr/>
              <p:nvPr/>
            </p:nvSpPr>
            <p:spPr>
              <a:xfrm>
                <a:off x="574591" y="3666205"/>
                <a:ext cx="5603789" cy="6306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 smtClean="0">
                    <a:latin typeface="+mj-lt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3910</m:t>
                              </m:r>
                            </m:e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−244</m:t>
                              </m:r>
                            </m:e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−2860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1210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 y</a:t>
                </a:r>
                <a14:m>
                  <m:oMath xmlns:m="http://schemas.openxmlformats.org/officeDocument/2006/math">
                    <m:r>
                      <a:rPr lang="en-US" altLang="ko-KR" sz="1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sz="1200" i="1" kern="1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sz="12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ko-KR" sz="12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0    1</m:t>
                          </m:r>
                        </m:e>
                        <m:e>
                          <m:r>
                            <a:rPr lang="en-US" altLang="ko-KR" sz="12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mr>
                    </m:m>
                    <m:r>
                      <a:rPr lang="en-US" altLang="ko-KR" sz="12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US" altLang="ko-KR" sz="1200" b="0" i="0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endParaRPr lang="ko-KR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직사각형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91" y="3666205"/>
                <a:ext cx="5603789" cy="6306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/>
              <p:cNvSpPr/>
              <p:nvPr/>
            </p:nvSpPr>
            <p:spPr>
              <a:xfrm>
                <a:off x="6486524" y="4258897"/>
                <a:ext cx="5071163" cy="12660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DC 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모터의 </a:t>
                </a:r>
                <a:r>
                  <a:rPr lang="ko-KR" altLang="en-US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가관측성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센서의 출력이 모터 각도일 때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20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l</m:t>
                        </m:r>
                        <m:sSup>
                          <m:sSupPr>
                            <m:ctrl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200" b="0" i="1" kern="1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l</m:t>
                        </m:r>
                        <m:sSup>
                          <m:sSupPr>
                            <m:ctrl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ko-KR" sz="1200" i="1" kern="1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i="1" kern="10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ko-KR" sz="1200" i="1" kern="1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</m:sup>
                            </m:sSup>
                          </m:e>
                          <m:sup>
                            <m: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의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rank = 3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관측가능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출력이 모터 각도일 경우 다른 상태 변수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w, I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추정 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직사각형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24" y="4258897"/>
                <a:ext cx="5071163" cy="1266052"/>
              </a:xfrm>
              <a:prstGeom prst="rect">
                <a:avLst/>
              </a:prstGeom>
              <a:blipFill>
                <a:blip r:embed="rId8"/>
                <a:stretch>
                  <a:fillRect l="-361" t="-1449" b="-19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6486524" y="2792545"/>
                <a:ext cx="5071163" cy="12660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DC 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모터의 </a:t>
                </a:r>
                <a:r>
                  <a:rPr lang="ko-KR" altLang="en-US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가관측성</a:t>
                </a:r>
                <a:endParaRPr lang="ko-KR" altLang="ko-KR" sz="1400" b="1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센서의 출력이 각속도일 때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모든 상태 변수가 출력에 어떤 영향을 미친다면 가관측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가관측성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20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l</m:t>
                        </m:r>
                        <m:sSup>
                          <m:sSupPr>
                            <m:ctrl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200" b="0" i="1" kern="1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l</m:t>
                        </m:r>
                        <m:sSup>
                          <m:sSupPr>
                            <m:ctrlP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kern="1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ko-KR" sz="1200" i="1" kern="1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i="1" kern="10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ko-KR" sz="1200" i="1" kern="1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</m:sup>
                            </m:sSup>
                          </m:e>
                          <m:sup>
                            <m:r>
                              <a:rPr lang="en-US" altLang="ko-KR" sz="1200" i="1" kern="1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sz="1200" kern="100" dirty="0">
                            <a:latin typeface="맑은 고딕" panose="020B0503020000020004" pitchFamily="50" charset="-127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의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rank = 2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관측불가능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24" y="2792545"/>
                <a:ext cx="5071163" cy="1266052"/>
              </a:xfrm>
              <a:prstGeom prst="rect">
                <a:avLst/>
              </a:prstGeom>
              <a:blipFill>
                <a:blip r:embed="rId9"/>
                <a:stretch>
                  <a:fillRect l="-361" t="-1442" b="-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그림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0504" y="5771674"/>
            <a:ext cx="3616118" cy="916996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6709719" y="5524949"/>
            <a:ext cx="3960340" cy="275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Observer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를 통한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state feedback control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가능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1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8513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이론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(Position control) – State Feedback Control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90524" y="881266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Tracking constant references using state feedback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계산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34" y="1804532"/>
            <a:ext cx="4528578" cy="4744549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6486524" y="881266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State Feedback Controller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Matlab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058" y="1749959"/>
            <a:ext cx="4510354" cy="22229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91" y="4212930"/>
            <a:ext cx="2235315" cy="6286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86524" y="5081623"/>
                <a:ext cx="2803844" cy="7877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𝓊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mr>
                    </m:m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acc>
                            <m:accPr>
                              <m:chr m:val="̇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mr>
                      <m:m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𝒾</m:t>
                          </m:r>
                        </m:e>
                      </m:mr>
                    </m:m>
                  </m:oMath>
                </a14:m>
                <a:r>
                  <a:rPr lang="en-US" altLang="ko-KR" dirty="0" smtClean="0"/>
                  <a:t>]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24" y="5081623"/>
                <a:ext cx="2803844" cy="787716"/>
              </a:xfrm>
              <a:prstGeom prst="rect">
                <a:avLst/>
              </a:prstGeom>
              <a:blipFill>
                <a:blip r:embed="rId5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3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8" y="95311"/>
            <a:ext cx="8472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V. 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 이론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(Speed control) – State Feedback Control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9"/>
            <a:ext cx="6096000" cy="9232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DC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수학적 모델링 예시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Motor speed control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46" y="1769295"/>
            <a:ext cx="4070141" cy="10002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465" y="770251"/>
            <a:ext cx="926065" cy="94115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3264162" y="1733388"/>
            <a:ext cx="1826822" cy="214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800" kern="100" dirty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8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MAXON DCX35L </a:t>
            </a:r>
            <a:r>
              <a:rPr lang="ko-KR" altLang="en-US" sz="8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</a:t>
            </a:r>
            <a:endParaRPr lang="ko-KR" altLang="ko-KR" sz="8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574591" y="2865914"/>
                <a:ext cx="5603789" cy="444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 smtClean="0">
                    <a:latin typeface="+mj-lt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ko-KR" sz="1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3910</m:t>
                              </m:r>
                            </m:e>
                            <m:e>
                              <m:r>
                                <a:rPr lang="en-US" altLang="ko-KR" sz="1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−244</m:t>
                              </m:r>
                            </m:e>
                            <m:e>
                              <m:r>
                                <a:rPr lang="en-US" altLang="ko-KR" sz="1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−2860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1210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 y</a:t>
                </a:r>
                <a14:m>
                  <m:oMath xmlns:m="http://schemas.openxmlformats.org/officeDocument/2006/math">
                    <m:r>
                      <a:rPr lang="en-US" altLang="ko-KR" sz="1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sz="1200" i="1" kern="1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sz="12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ko-KR" sz="12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sz="12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mr>
                    </m:m>
                    <m:r>
                      <a:rPr lang="en-US" altLang="ko-KR" sz="12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US" altLang="ko-KR" sz="1200" b="0" i="0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endParaRPr lang="ko-KR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91" y="2865914"/>
                <a:ext cx="5603789" cy="4440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/>
          <p:cNvSpPr/>
          <p:nvPr/>
        </p:nvSpPr>
        <p:spPr>
          <a:xfrm>
            <a:off x="390523" y="4286027"/>
            <a:ext cx="5071163" cy="172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DC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가제어성</a:t>
            </a:r>
            <a:endParaRPr lang="ko-KR" altLang="ko-KR" sz="1400" b="1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Motor speed control 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임의의 초기상태에서 다른 임의의 상태로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유한시간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내에 시스템을 이동시킬 수 있으면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가제어하다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가제어성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행렬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[B l AB]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full rank =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가제어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센서의 결과와는 무관한 값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4591" y="6007332"/>
            <a:ext cx="2843820" cy="275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제어기 설계가 가능하다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/>
              <p:cNvSpPr/>
              <p:nvPr/>
            </p:nvSpPr>
            <p:spPr>
              <a:xfrm>
                <a:off x="5910942" y="846029"/>
                <a:ext cx="6096000" cy="213032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 제어기 설계</a:t>
                </a:r>
                <a:endParaRPr lang="ko-KR" altLang="ko-KR" sz="1400" b="1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State feedback controller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출력을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feedback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하는 대신 시스템 상태를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feedback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입력에 대한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state feedback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제어기 설계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𝐾𝑥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1  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𝐾𝑥</m:t>
                    </m:r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ko-KR" sz="12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altLang="ko-KR" sz="12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ko-KR" sz="12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2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altLang="ko-KR" sz="12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2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BK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12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endParaRPr lang="en-US" altLang="ko-KR" sz="1200" b="0" kern="100" dirty="0" smtClean="0"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(A-BK)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로 안정성 판별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– Pole placement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도 가능</a:t>
                </a:r>
                <a:endParaRPr lang="ko-KR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직사각형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942" y="846029"/>
                <a:ext cx="6096000" cy="2130327"/>
              </a:xfrm>
              <a:prstGeom prst="rect">
                <a:avLst/>
              </a:prstGeom>
              <a:blipFill>
                <a:blip r:embed="rId5"/>
                <a:stretch>
                  <a:fillRect l="-300" t="-8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576" y="2936711"/>
            <a:ext cx="3845748" cy="1386311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5910942" y="4474831"/>
            <a:ext cx="6801108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 목</a:t>
            </a:r>
            <a:r>
              <a:rPr lang="ko-KR" altLang="en-US" sz="14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표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비용함수</a:t>
            </a:r>
            <a:r>
              <a:rPr lang="en-US" altLang="ko-KR" sz="1200" b="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J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최소가 되는 것이 목표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908" y="5698307"/>
            <a:ext cx="3472986" cy="5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VI.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제어기를 포함한 시스템 안정성 판별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390525" y="916872"/>
            <a:ext cx="4440968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제어기를 포함한 시스템의 안정성 예시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Motor speed control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2" y="1526059"/>
            <a:ext cx="4070141" cy="10002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/>
              <p:cNvSpPr/>
              <p:nvPr/>
            </p:nvSpPr>
            <p:spPr>
              <a:xfrm>
                <a:off x="761351" y="2526264"/>
                <a:ext cx="4002179" cy="2746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↓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state feedback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제어기 </a:t>
                </a:r>
                <a14:m>
                  <m:oMath xmlns:m="http://schemas.openxmlformats.org/officeDocument/2006/math"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𝐾𝑥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1  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추가</a:t>
                </a:r>
                <a:endParaRPr lang="en-US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직사각형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51" y="2526264"/>
                <a:ext cx="4002179" cy="274627"/>
              </a:xfrm>
              <a:prstGeom prst="rect">
                <a:avLst/>
              </a:prstGeom>
              <a:blipFill>
                <a:blip r:embed="rId4"/>
                <a:stretch>
                  <a:fillRect l="-152" t="-2222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39" y="2800891"/>
            <a:ext cx="2928944" cy="1193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/>
              <p:cNvSpPr/>
              <p:nvPr/>
            </p:nvSpPr>
            <p:spPr>
              <a:xfrm>
                <a:off x="1268535" y="3869874"/>
                <a:ext cx="4002179" cy="3987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새로운 시스템 행렬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라고 하면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직사각형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535" y="3869874"/>
                <a:ext cx="4002179" cy="398764"/>
              </a:xfrm>
              <a:prstGeom prst="rect">
                <a:avLst/>
              </a:prstGeom>
              <a:blipFill>
                <a:blip r:embed="rId6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직사각형 29"/>
          <p:cNvSpPr/>
          <p:nvPr/>
        </p:nvSpPr>
        <p:spPr>
          <a:xfrm>
            <a:off x="390524" y="4441678"/>
            <a:ext cx="5520418" cy="142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비용 함수 최소화하는 방향으로의 안정성 판별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Lyapunov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stability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비용 함수를 설정하고 그 함수를 미분했을 때 음수이면 감소하는 형태이다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비용함수를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기반으로한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lyapunov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function V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구하고 시스템 상태 변수를 넣어서 궤적이 감소하는 형태인지 확인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631827" y="5824940"/>
                <a:ext cx="5083173" cy="296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시스템 변수를 넣은 </a:t>
                </a: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Lyapunov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 function V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가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  <m:r>
                      <a:rPr lang="ko-KR" altLang="en-US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0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만족해야 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안정</a:t>
                </a:r>
                <a:endParaRPr lang="en-US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27" y="5824940"/>
                <a:ext cx="5083173" cy="296171"/>
              </a:xfrm>
              <a:prstGeom prst="rect">
                <a:avLst/>
              </a:prstGeom>
              <a:blipFill>
                <a:blip r:embed="rId7"/>
                <a:stretch>
                  <a:fillRect l="-120" t="-2083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0603" y="3872209"/>
            <a:ext cx="2058064" cy="17445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6294524" y="915689"/>
                <a:ext cx="5478935" cy="31270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Lyapunov</a:t>
                </a: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Theory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ko-KR" altLang="ko-KR" sz="1400" b="1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안정성의 정의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비선형시불변 시스템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=f(x) </a:t>
                </a: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r>
                  <a:rPr lang="ko-KR" altLang="en-US" sz="1200" b="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200" b="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= equilibrium point, 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x(t)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ko-KR" altLang="en-US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를</m:t>
                    </m:r>
                  </m:oMath>
                </a14:m>
                <a:r>
                  <a:rPr lang="en-US" altLang="ko-KR" sz="1200" b="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trajectory </a:t>
                </a:r>
                <a:r>
                  <a:rPr lang="ko-KR" altLang="en-US" sz="1200" b="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라고 한다</a:t>
                </a:r>
                <a:r>
                  <a:rPr lang="en-US" altLang="ko-KR" sz="1200" b="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Globally Asymptotically Stable : Trajectory x(t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), t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→∞ 일 때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x(t)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시스템의 모든 해를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평형점으로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보낼 수 있다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Locally Asymptotically Stable : Trajectory x(t), ∥x(0)-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∥≤R (R&gt;0) </a:t>
                </a: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t</a:t>
                </a: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→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∞ 일 때</a:t>
                </a: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x(t) </a:t>
                </a: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→</a:t>
                </a:r>
                <a14:m>
                  <m:oMath xmlns:m="http://schemas.openxmlformats.org/officeDocument/2006/math">
                    <m:r>
                      <a:rPr lang="en-US" altLang="ko-KR" sz="12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 </a:t>
                </a:r>
                <a:endParaRPr lang="en-US" altLang="ko-KR" sz="1200" kern="100" dirty="0" smtClean="0"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b="0" kern="100" dirty="0"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b="0" kern="100" dirty="0" smtClean="0">
                    <a:cs typeface="Times New Roman" panose="02020603050405020304" pitchFamily="18" charset="0"/>
                  </a:rPr>
                  <a:t>  </a:t>
                </a:r>
                <a:r>
                  <a:rPr lang="ko-KR" altLang="en-US" sz="1200" b="0" kern="100" dirty="0" smtClean="0">
                    <a:cs typeface="Times New Roman" panose="02020603050405020304" pitchFamily="18" charset="0"/>
                  </a:rPr>
                  <a:t>→ 초기 조건을 만족할 때 시스템의 모든 해를 </a:t>
                </a:r>
                <a:r>
                  <a:rPr lang="ko-KR" altLang="en-US" sz="1200" b="0" kern="100" dirty="0" err="1" smtClean="0">
                    <a:cs typeface="Times New Roman" panose="02020603050405020304" pitchFamily="18" charset="0"/>
                  </a:rPr>
                  <a:t>평형점으로</a:t>
                </a:r>
                <a:r>
                  <a:rPr lang="ko-KR" altLang="en-US" sz="1200" b="0" kern="100" dirty="0" smtClean="0">
                    <a:cs typeface="Times New Roman" panose="02020603050405020304" pitchFamily="18" charset="0"/>
                  </a:rPr>
                  <a:t> 보낼 수 있다</a:t>
                </a:r>
                <a:r>
                  <a:rPr lang="en-US" altLang="ko-KR" sz="1200" b="0" kern="100" dirty="0" smtClean="0"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시스템의 해를 구하지 않고 안정성 판별 가능</a:t>
                </a:r>
                <a:endParaRPr lang="ko-KR" altLang="ko-KR" sz="1200" kern="100" dirty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524" y="915689"/>
                <a:ext cx="5478935" cy="3127075"/>
              </a:xfrm>
              <a:prstGeom prst="rect">
                <a:avLst/>
              </a:prstGeom>
              <a:blipFill>
                <a:blip r:embed="rId9"/>
                <a:stretch>
                  <a:fillRect l="-334" t="-585" r="-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그룹 51"/>
          <p:cNvGrpSpPr/>
          <p:nvPr/>
        </p:nvGrpSpPr>
        <p:grpSpPr>
          <a:xfrm>
            <a:off x="9564091" y="4177765"/>
            <a:ext cx="1635953" cy="1389888"/>
            <a:chOff x="9564091" y="4177765"/>
            <a:chExt cx="1635953" cy="1389888"/>
          </a:xfrm>
        </p:grpSpPr>
        <p:sp>
          <p:nvSpPr>
            <p:cNvPr id="2" name="타원 1"/>
            <p:cNvSpPr/>
            <p:nvPr/>
          </p:nvSpPr>
          <p:spPr>
            <a:xfrm>
              <a:off x="10171173" y="4477124"/>
              <a:ext cx="804672" cy="8046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/>
            <p:cNvCxnSpPr>
              <a:endCxn id="2" idx="7"/>
            </p:cNvCxnSpPr>
            <p:nvPr/>
          </p:nvCxnSpPr>
          <p:spPr>
            <a:xfrm flipV="1">
              <a:off x="10573510" y="4594965"/>
              <a:ext cx="284494" cy="3085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자유형 30"/>
            <p:cNvSpPr/>
            <p:nvPr/>
          </p:nvSpPr>
          <p:spPr>
            <a:xfrm>
              <a:off x="10294788" y="4177765"/>
              <a:ext cx="905256" cy="1389888"/>
            </a:xfrm>
            <a:custGeom>
              <a:avLst/>
              <a:gdLst>
                <a:gd name="connsiteX0" fmla="*/ 146304 w 905256"/>
                <a:gd name="connsiteY0" fmla="*/ 566928 h 1389888"/>
                <a:gd name="connsiteX1" fmla="*/ 128016 w 905256"/>
                <a:gd name="connsiteY1" fmla="*/ 493776 h 1389888"/>
                <a:gd name="connsiteX2" fmla="*/ 91440 w 905256"/>
                <a:gd name="connsiteY2" fmla="*/ 438912 h 1389888"/>
                <a:gd name="connsiteX3" fmla="*/ 73152 w 905256"/>
                <a:gd name="connsiteY3" fmla="*/ 384048 h 1389888"/>
                <a:gd name="connsiteX4" fmla="*/ 64008 w 905256"/>
                <a:gd name="connsiteY4" fmla="*/ 356616 h 1389888"/>
                <a:gd name="connsiteX5" fmla="*/ 73152 w 905256"/>
                <a:gd name="connsiteY5" fmla="*/ 265176 h 1389888"/>
                <a:gd name="connsiteX6" fmla="*/ 91440 w 905256"/>
                <a:gd name="connsiteY6" fmla="*/ 237744 h 1389888"/>
                <a:gd name="connsiteX7" fmla="*/ 146304 w 905256"/>
                <a:gd name="connsiteY7" fmla="*/ 265176 h 1389888"/>
                <a:gd name="connsiteX8" fmla="*/ 173736 w 905256"/>
                <a:gd name="connsiteY8" fmla="*/ 274320 h 1389888"/>
                <a:gd name="connsiteX9" fmla="*/ 274320 w 905256"/>
                <a:gd name="connsiteY9" fmla="*/ 265176 h 1389888"/>
                <a:gd name="connsiteX10" fmla="*/ 329184 w 905256"/>
                <a:gd name="connsiteY10" fmla="*/ 237744 h 1389888"/>
                <a:gd name="connsiteX11" fmla="*/ 384048 w 905256"/>
                <a:gd name="connsiteY11" fmla="*/ 210312 h 1389888"/>
                <a:gd name="connsiteX12" fmla="*/ 420624 w 905256"/>
                <a:gd name="connsiteY12" fmla="*/ 155448 h 1389888"/>
                <a:gd name="connsiteX13" fmla="*/ 429768 w 905256"/>
                <a:gd name="connsiteY13" fmla="*/ 128016 h 1389888"/>
                <a:gd name="connsiteX14" fmla="*/ 448056 w 905256"/>
                <a:gd name="connsiteY14" fmla="*/ 100584 h 1389888"/>
                <a:gd name="connsiteX15" fmla="*/ 466344 w 905256"/>
                <a:gd name="connsiteY15" fmla="*/ 45720 h 1389888"/>
                <a:gd name="connsiteX16" fmla="*/ 484632 w 905256"/>
                <a:gd name="connsiteY16" fmla="*/ 18288 h 1389888"/>
                <a:gd name="connsiteX17" fmla="*/ 539496 w 905256"/>
                <a:gd name="connsiteY17" fmla="*/ 0 h 1389888"/>
                <a:gd name="connsiteX18" fmla="*/ 658368 w 905256"/>
                <a:gd name="connsiteY18" fmla="*/ 9144 h 1389888"/>
                <a:gd name="connsiteX19" fmla="*/ 685800 w 905256"/>
                <a:gd name="connsiteY19" fmla="*/ 18288 h 1389888"/>
                <a:gd name="connsiteX20" fmla="*/ 704088 w 905256"/>
                <a:gd name="connsiteY20" fmla="*/ 45720 h 1389888"/>
                <a:gd name="connsiteX21" fmla="*/ 731520 w 905256"/>
                <a:gd name="connsiteY21" fmla="*/ 64008 h 1389888"/>
                <a:gd name="connsiteX22" fmla="*/ 749808 w 905256"/>
                <a:gd name="connsiteY22" fmla="*/ 118872 h 1389888"/>
                <a:gd name="connsiteX23" fmla="*/ 768096 w 905256"/>
                <a:gd name="connsiteY23" fmla="*/ 237744 h 1389888"/>
                <a:gd name="connsiteX24" fmla="*/ 804672 w 905256"/>
                <a:gd name="connsiteY24" fmla="*/ 320040 h 1389888"/>
                <a:gd name="connsiteX25" fmla="*/ 832104 w 905256"/>
                <a:gd name="connsiteY25" fmla="*/ 338328 h 1389888"/>
                <a:gd name="connsiteX26" fmla="*/ 841248 w 905256"/>
                <a:gd name="connsiteY26" fmla="*/ 365760 h 1389888"/>
                <a:gd name="connsiteX27" fmla="*/ 877824 w 905256"/>
                <a:gd name="connsiteY27" fmla="*/ 420624 h 1389888"/>
                <a:gd name="connsiteX28" fmla="*/ 896112 w 905256"/>
                <a:gd name="connsiteY28" fmla="*/ 448056 h 1389888"/>
                <a:gd name="connsiteX29" fmla="*/ 905256 w 905256"/>
                <a:gd name="connsiteY29" fmla="*/ 475488 h 1389888"/>
                <a:gd name="connsiteX30" fmla="*/ 896112 w 905256"/>
                <a:gd name="connsiteY30" fmla="*/ 557784 h 1389888"/>
                <a:gd name="connsiteX31" fmla="*/ 886968 w 905256"/>
                <a:gd name="connsiteY31" fmla="*/ 585216 h 1389888"/>
                <a:gd name="connsiteX32" fmla="*/ 859536 w 905256"/>
                <a:gd name="connsiteY32" fmla="*/ 603504 h 1389888"/>
                <a:gd name="connsiteX33" fmla="*/ 841248 w 905256"/>
                <a:gd name="connsiteY33" fmla="*/ 630936 h 1389888"/>
                <a:gd name="connsiteX34" fmla="*/ 786384 w 905256"/>
                <a:gd name="connsiteY34" fmla="*/ 649224 h 1389888"/>
                <a:gd name="connsiteX35" fmla="*/ 731520 w 905256"/>
                <a:gd name="connsiteY35" fmla="*/ 676656 h 1389888"/>
                <a:gd name="connsiteX36" fmla="*/ 713232 w 905256"/>
                <a:gd name="connsiteY36" fmla="*/ 704088 h 1389888"/>
                <a:gd name="connsiteX37" fmla="*/ 685800 w 905256"/>
                <a:gd name="connsiteY37" fmla="*/ 722376 h 1389888"/>
                <a:gd name="connsiteX38" fmla="*/ 676656 w 905256"/>
                <a:gd name="connsiteY38" fmla="*/ 749808 h 1389888"/>
                <a:gd name="connsiteX39" fmla="*/ 685800 w 905256"/>
                <a:gd name="connsiteY39" fmla="*/ 896112 h 1389888"/>
                <a:gd name="connsiteX40" fmla="*/ 694944 w 905256"/>
                <a:gd name="connsiteY40" fmla="*/ 941832 h 1389888"/>
                <a:gd name="connsiteX41" fmla="*/ 704088 w 905256"/>
                <a:gd name="connsiteY41" fmla="*/ 1005840 h 1389888"/>
                <a:gd name="connsiteX42" fmla="*/ 694944 w 905256"/>
                <a:gd name="connsiteY42" fmla="*/ 1179576 h 1389888"/>
                <a:gd name="connsiteX43" fmla="*/ 676656 w 905256"/>
                <a:gd name="connsiteY43" fmla="*/ 1234440 h 1389888"/>
                <a:gd name="connsiteX44" fmla="*/ 621792 w 905256"/>
                <a:gd name="connsiteY44" fmla="*/ 1280160 h 1389888"/>
                <a:gd name="connsiteX45" fmla="*/ 566928 w 905256"/>
                <a:gd name="connsiteY45" fmla="*/ 1316736 h 1389888"/>
                <a:gd name="connsiteX46" fmla="*/ 539496 w 905256"/>
                <a:gd name="connsiteY46" fmla="*/ 1335024 h 1389888"/>
                <a:gd name="connsiteX47" fmla="*/ 512064 w 905256"/>
                <a:gd name="connsiteY47" fmla="*/ 1353312 h 1389888"/>
                <a:gd name="connsiteX48" fmla="*/ 457200 w 905256"/>
                <a:gd name="connsiteY48" fmla="*/ 1371600 h 1389888"/>
                <a:gd name="connsiteX49" fmla="*/ 429768 w 905256"/>
                <a:gd name="connsiteY49" fmla="*/ 1380744 h 1389888"/>
                <a:gd name="connsiteX50" fmla="*/ 384048 w 905256"/>
                <a:gd name="connsiteY50" fmla="*/ 1389888 h 1389888"/>
                <a:gd name="connsiteX51" fmla="*/ 192024 w 905256"/>
                <a:gd name="connsiteY51" fmla="*/ 1380744 h 1389888"/>
                <a:gd name="connsiteX52" fmla="*/ 137160 w 905256"/>
                <a:gd name="connsiteY52" fmla="*/ 1362456 h 1389888"/>
                <a:gd name="connsiteX53" fmla="*/ 109728 w 905256"/>
                <a:gd name="connsiteY53" fmla="*/ 1353312 h 1389888"/>
                <a:gd name="connsiteX54" fmla="*/ 91440 w 905256"/>
                <a:gd name="connsiteY54" fmla="*/ 1325880 h 1389888"/>
                <a:gd name="connsiteX55" fmla="*/ 64008 w 905256"/>
                <a:gd name="connsiteY55" fmla="*/ 1316736 h 1389888"/>
                <a:gd name="connsiteX56" fmla="*/ 54864 w 905256"/>
                <a:gd name="connsiteY56" fmla="*/ 1289304 h 1389888"/>
                <a:gd name="connsiteX57" fmla="*/ 36576 w 905256"/>
                <a:gd name="connsiteY57" fmla="*/ 1261872 h 1389888"/>
                <a:gd name="connsiteX58" fmla="*/ 9144 w 905256"/>
                <a:gd name="connsiteY58" fmla="*/ 1179576 h 1389888"/>
                <a:gd name="connsiteX59" fmla="*/ 0 w 905256"/>
                <a:gd name="connsiteY59" fmla="*/ 1152144 h 1389888"/>
                <a:gd name="connsiteX60" fmla="*/ 27432 w 905256"/>
                <a:gd name="connsiteY60" fmla="*/ 1014984 h 1389888"/>
                <a:gd name="connsiteX61" fmla="*/ 45720 w 905256"/>
                <a:gd name="connsiteY61" fmla="*/ 987552 h 1389888"/>
                <a:gd name="connsiteX62" fmla="*/ 73152 w 905256"/>
                <a:gd name="connsiteY62" fmla="*/ 978408 h 1389888"/>
                <a:gd name="connsiteX63" fmla="*/ 128016 w 905256"/>
                <a:gd name="connsiteY63" fmla="*/ 941832 h 1389888"/>
                <a:gd name="connsiteX64" fmla="*/ 146304 w 905256"/>
                <a:gd name="connsiteY64" fmla="*/ 914400 h 1389888"/>
                <a:gd name="connsiteX65" fmla="*/ 173736 w 905256"/>
                <a:gd name="connsiteY65" fmla="*/ 896112 h 1389888"/>
                <a:gd name="connsiteX66" fmla="*/ 237744 w 905256"/>
                <a:gd name="connsiteY66" fmla="*/ 822960 h 1389888"/>
                <a:gd name="connsiteX67" fmla="*/ 265176 w 905256"/>
                <a:gd name="connsiteY67" fmla="*/ 768096 h 1389888"/>
                <a:gd name="connsiteX68" fmla="*/ 274320 w 905256"/>
                <a:gd name="connsiteY68" fmla="*/ 740664 h 1389888"/>
                <a:gd name="connsiteX69" fmla="*/ 283464 w 905256"/>
                <a:gd name="connsiteY69" fmla="*/ 722376 h 138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905256" h="1389888">
                  <a:moveTo>
                    <a:pt x="146304" y="566928"/>
                  </a:moveTo>
                  <a:cubicBezTo>
                    <a:pt x="143771" y="554261"/>
                    <a:pt x="136803" y="509592"/>
                    <a:pt x="128016" y="493776"/>
                  </a:cubicBezTo>
                  <a:cubicBezTo>
                    <a:pt x="117342" y="474563"/>
                    <a:pt x="98391" y="459764"/>
                    <a:pt x="91440" y="438912"/>
                  </a:cubicBezTo>
                  <a:lnTo>
                    <a:pt x="73152" y="384048"/>
                  </a:lnTo>
                  <a:lnTo>
                    <a:pt x="64008" y="356616"/>
                  </a:lnTo>
                  <a:cubicBezTo>
                    <a:pt x="67056" y="326136"/>
                    <a:pt x="66264" y="295024"/>
                    <a:pt x="73152" y="265176"/>
                  </a:cubicBezTo>
                  <a:cubicBezTo>
                    <a:pt x="75623" y="254468"/>
                    <a:pt x="81236" y="241825"/>
                    <a:pt x="91440" y="237744"/>
                  </a:cubicBezTo>
                  <a:cubicBezTo>
                    <a:pt x="104209" y="232637"/>
                    <a:pt x="139458" y="261753"/>
                    <a:pt x="146304" y="265176"/>
                  </a:cubicBezTo>
                  <a:cubicBezTo>
                    <a:pt x="154925" y="269487"/>
                    <a:pt x="164592" y="271272"/>
                    <a:pt x="173736" y="274320"/>
                  </a:cubicBezTo>
                  <a:cubicBezTo>
                    <a:pt x="207264" y="271272"/>
                    <a:pt x="240992" y="269937"/>
                    <a:pt x="274320" y="265176"/>
                  </a:cubicBezTo>
                  <a:cubicBezTo>
                    <a:pt x="306497" y="260579"/>
                    <a:pt x="300209" y="252231"/>
                    <a:pt x="329184" y="237744"/>
                  </a:cubicBezTo>
                  <a:cubicBezTo>
                    <a:pt x="404900" y="199886"/>
                    <a:pt x="305432" y="262723"/>
                    <a:pt x="384048" y="210312"/>
                  </a:cubicBezTo>
                  <a:cubicBezTo>
                    <a:pt x="396240" y="192024"/>
                    <a:pt x="413673" y="176300"/>
                    <a:pt x="420624" y="155448"/>
                  </a:cubicBezTo>
                  <a:cubicBezTo>
                    <a:pt x="423672" y="146304"/>
                    <a:pt x="425457" y="136637"/>
                    <a:pt x="429768" y="128016"/>
                  </a:cubicBezTo>
                  <a:cubicBezTo>
                    <a:pt x="434683" y="118186"/>
                    <a:pt x="443593" y="110627"/>
                    <a:pt x="448056" y="100584"/>
                  </a:cubicBezTo>
                  <a:cubicBezTo>
                    <a:pt x="455885" y="82968"/>
                    <a:pt x="455651" y="61760"/>
                    <a:pt x="466344" y="45720"/>
                  </a:cubicBezTo>
                  <a:cubicBezTo>
                    <a:pt x="472440" y="36576"/>
                    <a:pt x="475313" y="24113"/>
                    <a:pt x="484632" y="18288"/>
                  </a:cubicBezTo>
                  <a:cubicBezTo>
                    <a:pt x="500979" y="8071"/>
                    <a:pt x="539496" y="0"/>
                    <a:pt x="539496" y="0"/>
                  </a:cubicBezTo>
                  <a:cubicBezTo>
                    <a:pt x="579120" y="3048"/>
                    <a:pt x="618934" y="4215"/>
                    <a:pt x="658368" y="9144"/>
                  </a:cubicBezTo>
                  <a:cubicBezTo>
                    <a:pt x="667932" y="10340"/>
                    <a:pt x="678274" y="12267"/>
                    <a:pt x="685800" y="18288"/>
                  </a:cubicBezTo>
                  <a:cubicBezTo>
                    <a:pt x="694382" y="25153"/>
                    <a:pt x="696317" y="37949"/>
                    <a:pt x="704088" y="45720"/>
                  </a:cubicBezTo>
                  <a:cubicBezTo>
                    <a:pt x="711859" y="53491"/>
                    <a:pt x="722376" y="57912"/>
                    <a:pt x="731520" y="64008"/>
                  </a:cubicBezTo>
                  <a:cubicBezTo>
                    <a:pt x="737616" y="82296"/>
                    <a:pt x="747417" y="99744"/>
                    <a:pt x="749808" y="118872"/>
                  </a:cubicBezTo>
                  <a:cubicBezTo>
                    <a:pt x="754087" y="153100"/>
                    <a:pt x="758429" y="202299"/>
                    <a:pt x="768096" y="237744"/>
                  </a:cubicBezTo>
                  <a:cubicBezTo>
                    <a:pt x="774887" y="262643"/>
                    <a:pt x="784227" y="299595"/>
                    <a:pt x="804672" y="320040"/>
                  </a:cubicBezTo>
                  <a:cubicBezTo>
                    <a:pt x="812443" y="327811"/>
                    <a:pt x="822960" y="332232"/>
                    <a:pt x="832104" y="338328"/>
                  </a:cubicBezTo>
                  <a:cubicBezTo>
                    <a:pt x="835152" y="347472"/>
                    <a:pt x="836567" y="357334"/>
                    <a:pt x="841248" y="365760"/>
                  </a:cubicBezTo>
                  <a:cubicBezTo>
                    <a:pt x="851922" y="384973"/>
                    <a:pt x="865632" y="402336"/>
                    <a:pt x="877824" y="420624"/>
                  </a:cubicBezTo>
                  <a:cubicBezTo>
                    <a:pt x="883920" y="429768"/>
                    <a:pt x="892637" y="437630"/>
                    <a:pt x="896112" y="448056"/>
                  </a:cubicBezTo>
                  <a:lnTo>
                    <a:pt x="905256" y="475488"/>
                  </a:lnTo>
                  <a:cubicBezTo>
                    <a:pt x="902208" y="502920"/>
                    <a:pt x="900650" y="530559"/>
                    <a:pt x="896112" y="557784"/>
                  </a:cubicBezTo>
                  <a:cubicBezTo>
                    <a:pt x="894527" y="567291"/>
                    <a:pt x="892989" y="577690"/>
                    <a:pt x="886968" y="585216"/>
                  </a:cubicBezTo>
                  <a:cubicBezTo>
                    <a:pt x="880103" y="593798"/>
                    <a:pt x="868680" y="597408"/>
                    <a:pt x="859536" y="603504"/>
                  </a:cubicBezTo>
                  <a:cubicBezTo>
                    <a:pt x="853440" y="612648"/>
                    <a:pt x="850567" y="625111"/>
                    <a:pt x="841248" y="630936"/>
                  </a:cubicBezTo>
                  <a:cubicBezTo>
                    <a:pt x="824901" y="641153"/>
                    <a:pt x="802424" y="638531"/>
                    <a:pt x="786384" y="649224"/>
                  </a:cubicBezTo>
                  <a:cubicBezTo>
                    <a:pt x="750932" y="672859"/>
                    <a:pt x="769378" y="664037"/>
                    <a:pt x="731520" y="676656"/>
                  </a:cubicBezTo>
                  <a:cubicBezTo>
                    <a:pt x="725424" y="685800"/>
                    <a:pt x="721003" y="696317"/>
                    <a:pt x="713232" y="704088"/>
                  </a:cubicBezTo>
                  <a:cubicBezTo>
                    <a:pt x="705461" y="711859"/>
                    <a:pt x="692665" y="713794"/>
                    <a:pt x="685800" y="722376"/>
                  </a:cubicBezTo>
                  <a:cubicBezTo>
                    <a:pt x="679779" y="729902"/>
                    <a:pt x="679704" y="740664"/>
                    <a:pt x="676656" y="749808"/>
                  </a:cubicBezTo>
                  <a:cubicBezTo>
                    <a:pt x="679704" y="798576"/>
                    <a:pt x="681167" y="847469"/>
                    <a:pt x="685800" y="896112"/>
                  </a:cubicBezTo>
                  <a:cubicBezTo>
                    <a:pt x="687274" y="911584"/>
                    <a:pt x="692389" y="926502"/>
                    <a:pt x="694944" y="941832"/>
                  </a:cubicBezTo>
                  <a:cubicBezTo>
                    <a:pt x="698487" y="963091"/>
                    <a:pt x="701040" y="984504"/>
                    <a:pt x="704088" y="1005840"/>
                  </a:cubicBezTo>
                  <a:cubicBezTo>
                    <a:pt x="701040" y="1063752"/>
                    <a:pt x="701853" y="1121997"/>
                    <a:pt x="694944" y="1179576"/>
                  </a:cubicBezTo>
                  <a:cubicBezTo>
                    <a:pt x="692647" y="1198716"/>
                    <a:pt x="692696" y="1223747"/>
                    <a:pt x="676656" y="1234440"/>
                  </a:cubicBezTo>
                  <a:cubicBezTo>
                    <a:pt x="578631" y="1299790"/>
                    <a:pt x="727401" y="1198020"/>
                    <a:pt x="621792" y="1280160"/>
                  </a:cubicBezTo>
                  <a:cubicBezTo>
                    <a:pt x="604442" y="1293654"/>
                    <a:pt x="585216" y="1304544"/>
                    <a:pt x="566928" y="1316736"/>
                  </a:cubicBezTo>
                  <a:lnTo>
                    <a:pt x="539496" y="1335024"/>
                  </a:lnTo>
                  <a:cubicBezTo>
                    <a:pt x="530352" y="1341120"/>
                    <a:pt x="522490" y="1349837"/>
                    <a:pt x="512064" y="1353312"/>
                  </a:cubicBezTo>
                  <a:lnTo>
                    <a:pt x="457200" y="1371600"/>
                  </a:lnTo>
                  <a:cubicBezTo>
                    <a:pt x="448056" y="1374648"/>
                    <a:pt x="439219" y="1378854"/>
                    <a:pt x="429768" y="1380744"/>
                  </a:cubicBezTo>
                  <a:lnTo>
                    <a:pt x="384048" y="1389888"/>
                  </a:lnTo>
                  <a:cubicBezTo>
                    <a:pt x="320040" y="1386840"/>
                    <a:pt x="255713" y="1387821"/>
                    <a:pt x="192024" y="1380744"/>
                  </a:cubicBezTo>
                  <a:cubicBezTo>
                    <a:pt x="172865" y="1378615"/>
                    <a:pt x="155448" y="1368552"/>
                    <a:pt x="137160" y="1362456"/>
                  </a:cubicBezTo>
                  <a:lnTo>
                    <a:pt x="109728" y="1353312"/>
                  </a:lnTo>
                  <a:cubicBezTo>
                    <a:pt x="103632" y="1344168"/>
                    <a:pt x="100022" y="1332745"/>
                    <a:pt x="91440" y="1325880"/>
                  </a:cubicBezTo>
                  <a:cubicBezTo>
                    <a:pt x="83914" y="1319859"/>
                    <a:pt x="70824" y="1323552"/>
                    <a:pt x="64008" y="1316736"/>
                  </a:cubicBezTo>
                  <a:cubicBezTo>
                    <a:pt x="57192" y="1309920"/>
                    <a:pt x="59175" y="1297925"/>
                    <a:pt x="54864" y="1289304"/>
                  </a:cubicBezTo>
                  <a:cubicBezTo>
                    <a:pt x="49949" y="1279474"/>
                    <a:pt x="41039" y="1271915"/>
                    <a:pt x="36576" y="1261872"/>
                  </a:cubicBezTo>
                  <a:lnTo>
                    <a:pt x="9144" y="1179576"/>
                  </a:lnTo>
                  <a:lnTo>
                    <a:pt x="0" y="1152144"/>
                  </a:lnTo>
                  <a:cubicBezTo>
                    <a:pt x="3537" y="1120315"/>
                    <a:pt x="5819" y="1047403"/>
                    <a:pt x="27432" y="1014984"/>
                  </a:cubicBezTo>
                  <a:cubicBezTo>
                    <a:pt x="33528" y="1005840"/>
                    <a:pt x="37138" y="994417"/>
                    <a:pt x="45720" y="987552"/>
                  </a:cubicBezTo>
                  <a:cubicBezTo>
                    <a:pt x="53246" y="981531"/>
                    <a:pt x="64726" y="983089"/>
                    <a:pt x="73152" y="978408"/>
                  </a:cubicBezTo>
                  <a:cubicBezTo>
                    <a:pt x="92365" y="967734"/>
                    <a:pt x="128016" y="941832"/>
                    <a:pt x="128016" y="941832"/>
                  </a:cubicBezTo>
                  <a:cubicBezTo>
                    <a:pt x="134112" y="932688"/>
                    <a:pt x="138533" y="922171"/>
                    <a:pt x="146304" y="914400"/>
                  </a:cubicBezTo>
                  <a:cubicBezTo>
                    <a:pt x="154075" y="906629"/>
                    <a:pt x="166499" y="904383"/>
                    <a:pt x="173736" y="896112"/>
                  </a:cubicBezTo>
                  <a:cubicBezTo>
                    <a:pt x="248412" y="810768"/>
                    <a:pt x="176022" y="864108"/>
                    <a:pt x="237744" y="822960"/>
                  </a:cubicBezTo>
                  <a:cubicBezTo>
                    <a:pt x="260728" y="754009"/>
                    <a:pt x="229724" y="839000"/>
                    <a:pt x="265176" y="768096"/>
                  </a:cubicBezTo>
                  <a:cubicBezTo>
                    <a:pt x="269487" y="759475"/>
                    <a:pt x="270740" y="749613"/>
                    <a:pt x="274320" y="740664"/>
                  </a:cubicBezTo>
                  <a:cubicBezTo>
                    <a:pt x="276851" y="734336"/>
                    <a:pt x="280416" y="728472"/>
                    <a:pt x="283464" y="722376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연결선 34"/>
            <p:cNvCxnSpPr>
              <a:stCxn id="31" idx="69"/>
            </p:cNvCxnSpPr>
            <p:nvPr/>
          </p:nvCxnSpPr>
          <p:spPr>
            <a:xfrm>
              <a:off x="10578252" y="4900141"/>
              <a:ext cx="20955" cy="521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>
              <a:stCxn id="31" idx="69"/>
            </p:cNvCxnSpPr>
            <p:nvPr/>
          </p:nvCxnSpPr>
          <p:spPr>
            <a:xfrm flipH="1">
              <a:off x="10518245" y="4900141"/>
              <a:ext cx="60007" cy="252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9855567" y="4960482"/>
              <a:ext cx="411852" cy="307777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400" dirty="0" err="1" smtClean="0"/>
                <a:t>Xe</a:t>
              </a:r>
              <a:endParaRPr lang="ko-KR" altLang="en-US" sz="1400" dirty="0"/>
            </a:p>
          </p:txBody>
        </p:sp>
        <p:cxnSp>
          <p:nvCxnSpPr>
            <p:cNvPr id="43" name="직선 화살표 연결선 42"/>
            <p:cNvCxnSpPr>
              <a:endCxn id="31" idx="69"/>
            </p:cNvCxnSpPr>
            <p:nvPr/>
          </p:nvCxnSpPr>
          <p:spPr>
            <a:xfrm flipV="1">
              <a:off x="10270595" y="4900141"/>
              <a:ext cx="307657" cy="521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0626510" y="4672685"/>
              <a:ext cx="2257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/>
                <a:t>R</a:t>
              </a:r>
              <a:endParaRPr lang="ko-KR" altLang="en-US" sz="900" dirty="0"/>
            </a:p>
          </p:txBody>
        </p:sp>
        <p:sp>
          <p:nvSpPr>
            <p:cNvPr id="45" name="타원 44"/>
            <p:cNvSpPr/>
            <p:nvPr/>
          </p:nvSpPr>
          <p:spPr>
            <a:xfrm>
              <a:off x="10416401" y="4721621"/>
              <a:ext cx="45719" cy="45719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화살표 연결선 46"/>
            <p:cNvCxnSpPr>
              <a:endCxn id="45" idx="2"/>
            </p:cNvCxnSpPr>
            <p:nvPr/>
          </p:nvCxnSpPr>
          <p:spPr>
            <a:xfrm>
              <a:off x="10030087" y="4570683"/>
              <a:ext cx="386314" cy="1737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564091" y="4432183"/>
              <a:ext cx="474663" cy="276999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X(0)</a:t>
              </a:r>
              <a:endParaRPr lang="ko-KR" altLang="en-US" sz="1200" dirty="0"/>
            </a:p>
          </p:txBody>
        </p:sp>
      </p:grpSp>
      <p:sp>
        <p:nvSpPr>
          <p:cNvPr id="50" name="직사각형 49"/>
          <p:cNvSpPr/>
          <p:nvPr/>
        </p:nvSpPr>
        <p:spPr>
          <a:xfrm>
            <a:off x="6390603" y="5824940"/>
            <a:ext cx="1800897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Trajectory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→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평형점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855567" y="5824940"/>
            <a:ext cx="1815733" cy="487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Locally Asymptotically Stable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9777508" y="4042764"/>
            <a:ext cx="1592002" cy="162015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40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VI.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제어기를 포함한 시스템 안정성 판별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419099" y="843873"/>
                <a:ext cx="5286757" cy="2130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Lyapunov</a:t>
                </a: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function</a:t>
                </a:r>
                <a:endParaRPr lang="ko-KR" altLang="ko-KR" sz="1400" b="1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Lyapunov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equation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행렬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(A-BK)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대입하여 계산한</a:t>
                </a: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시스템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200" kern="100" dirty="0"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ko-KR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endParaRPr lang="en-US" altLang="ko-KR" sz="1200" kern="100" dirty="0" smtClean="0"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Lyapunov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function :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 → 여기서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Positive definite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만족해야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V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Lyapunov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function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아래의 식을 만족하는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Positive definite P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유일하게 존재하면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는 안정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 (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여기서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Q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는 임의의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Positive definite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만족하는 행렬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843873"/>
                <a:ext cx="5286757" cy="2130327"/>
              </a:xfrm>
              <a:prstGeom prst="rect">
                <a:avLst/>
              </a:prstGeom>
              <a:blipFill>
                <a:blip r:embed="rId2"/>
                <a:stretch>
                  <a:fillRect l="-346" t="-571" r="-692" b="-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420" y="1756748"/>
            <a:ext cx="1199760" cy="2887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99" y="3009909"/>
            <a:ext cx="1968601" cy="28576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5705856" y="843873"/>
            <a:ext cx="5071163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Lyapunov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equation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유도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Lyapunov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equation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42" y="1567458"/>
            <a:ext cx="4988421" cy="3456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419099" y="4035129"/>
                <a:ext cx="5009112" cy="1527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Positive definite function</a:t>
                </a:r>
                <a:endParaRPr lang="ko-KR" altLang="ko-KR" sz="1400" b="1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200" b="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조건</a:t>
                </a:r>
                <a:endParaRPr lang="en-US" altLang="ko-KR" sz="1200" b="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모든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z</a:t>
                </a:r>
                <a:r>
                  <a:rPr lang="ko-KR" altLang="en-US" sz="1200" kern="100" dirty="0" smtClean="0"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1200" kern="100" dirty="0" smtClean="0">
                    <a:cs typeface="Times New Roman" panose="02020603050405020304" pitchFamily="18" charset="0"/>
                  </a:rPr>
                  <a:t>V(z)≥0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  <m:r>
                      <a:rPr lang="ko-KR" altLang="en-US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에</m:t>
                    </m:r>
                    <m:r>
                      <a:rPr lang="ko-KR" altLang="en-US" sz="12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서</m:t>
                    </m:r>
                    <m:r>
                      <a:rPr lang="ko-KR" altLang="en-US" sz="1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만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ko-KR" sz="1200" b="0" i="1" kern="1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i="1" kern="1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ko-KR" altLang="en-US" sz="1200" i="1" kern="1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→∞ 일 때  </a:t>
                </a:r>
                <a:r>
                  <a:rPr lang="en-US" altLang="ko-KR" sz="1200" i="1" kern="1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V(z)</a:t>
                </a:r>
                <a:r>
                  <a:rPr lang="ko-KR" altLang="en-US" sz="1200" i="1" kern="10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ko-KR" altLang="en-US" sz="1200" i="1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∞</a:t>
                </a:r>
                <a:endParaRPr lang="en-US" altLang="ko-KR" sz="1200" b="0" i="1" kern="10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4035129"/>
                <a:ext cx="5009112" cy="1527406"/>
              </a:xfrm>
              <a:prstGeom prst="rect">
                <a:avLst/>
              </a:prstGeom>
              <a:blipFill>
                <a:blip r:embed="rId6"/>
                <a:stretch>
                  <a:fillRect l="-365" t="-1200" b="-16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77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VI.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제어기를 포함한 시스템 안정성 판별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390525" y="875524"/>
            <a:ext cx="4440968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시스템의 안정성 예시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Motor speed control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910" y="1464275"/>
            <a:ext cx="4054405" cy="527633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19" y="1513701"/>
            <a:ext cx="4399545" cy="5177481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5910942" y="6203613"/>
            <a:ext cx="5988615" cy="487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→ 항상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dV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&lt;=0 : k&gt;0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임의의 제어기를 포함한 임의의 모터 속도 제어 시스템은 안정하다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55569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VI.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제어기를 포함한 시스템 안정성 판별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419099" y="799961"/>
            <a:ext cx="4440968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제어이득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</a:t>
            </a:r>
            <a:endParaRPr lang="ko-KR" altLang="ko-KR" sz="1400" b="1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제어기를 포함한 상태 방정식으로 변형 후 계산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81" y="1735481"/>
            <a:ext cx="3938790" cy="998404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802681" y="2821826"/>
            <a:ext cx="2167292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↓ 계산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02681" y="3731474"/>
            <a:ext cx="2167292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↓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92" y="2823799"/>
            <a:ext cx="1419281" cy="27309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81" y="3183881"/>
            <a:ext cx="3549186" cy="46060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81" y="4092572"/>
            <a:ext cx="1133269" cy="377757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1996394" y="4092572"/>
            <a:ext cx="2863673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X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는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Lyapunov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Equation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에서 구한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P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996394" y="4382523"/>
            <a:ext cx="3363006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비용함수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는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초기조건과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P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로부터 구해진다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02681" y="4609084"/>
            <a:ext cx="2167292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↓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31" y="4962426"/>
            <a:ext cx="3172419" cy="238746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1996394" y="5498514"/>
            <a:ext cx="3845606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Lyapunov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Equation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에 다시 적용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안정시스템이므로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630" y="5263934"/>
            <a:ext cx="4337415" cy="234580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802681" y="5691959"/>
            <a:ext cx="2167292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↓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112" y="5947041"/>
            <a:ext cx="3035456" cy="330217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1996394" y="6324554"/>
            <a:ext cx="4379006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term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은 음수가 아니므로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일 때 최소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(J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를 최소화해야함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3963" y="1142395"/>
            <a:ext cx="1937537" cy="320420"/>
          </a:xfrm>
          <a:prstGeom prst="rect">
            <a:avLst/>
          </a:prstGeom>
        </p:spPr>
      </p:pic>
      <p:sp>
        <p:nvSpPr>
          <p:cNvPr id="40" name="직사각형 39"/>
          <p:cNvSpPr/>
          <p:nvPr/>
        </p:nvSpPr>
        <p:spPr>
          <a:xfrm>
            <a:off x="6452121" y="1548584"/>
            <a:ext cx="4518837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 =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설정값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B 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기존 시스템의 값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X = J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최소가 되는 값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3963" y="2291356"/>
            <a:ext cx="3718519" cy="371009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5910942" y="1223158"/>
            <a:ext cx="4440968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5910942" y="2360754"/>
            <a:ext cx="4440968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6574744" y="2700356"/>
            <a:ext cx="3845606" cy="275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ko-KR" sz="1200" dirty="0"/>
              <a:t>Algebraic </a:t>
            </a:r>
            <a:r>
              <a:rPr lang="en-US" altLang="ko-KR" sz="1200" dirty="0" err="1"/>
              <a:t>Riccati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Equation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910942" y="3642329"/>
            <a:ext cx="5365752" cy="1120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 설계 순서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1. Algebraic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Riccati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Equation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풀어 행렬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positive definite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이면 그 시스템은 안정하다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.)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2. P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가지고 이득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구한다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행렬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K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최적 행렬이 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791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774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VII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이번 주 연구 및 학업 계획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세로 텍스트 개체 틀 5">
            <a:extLst>
              <a:ext uri="{FF2B5EF4-FFF2-40B4-BE49-F238E27FC236}">
                <a16:creationId xmlns:a16="http://schemas.microsoft.com/office/drawing/2014/main" id="{B534263F-8548-094B-C533-B93BA01CE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2395"/>
            <a:ext cx="10515600" cy="5034568"/>
          </a:xfrm>
        </p:spPr>
        <p:txBody>
          <a:bodyPr vert="horz">
            <a:normAutofit/>
          </a:bodyPr>
          <a:lstStyle/>
          <a:p>
            <a:r>
              <a:rPr lang="en-US" altLang="ko-KR" sz="2000" dirty="0" smtClean="0">
                <a:latin typeface="+mn-ea"/>
              </a:rPr>
              <a:t>Simulink</a:t>
            </a:r>
            <a:r>
              <a:rPr lang="ko-KR" altLang="en-US" sz="2000" dirty="0" smtClean="0">
                <a:latin typeface="+mn-ea"/>
              </a:rPr>
              <a:t>와 친해지기</a:t>
            </a:r>
            <a:endParaRPr lang="en-US" altLang="ko-KR" sz="2000" dirty="0" smtClean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제어 이론</a:t>
            </a:r>
            <a:endParaRPr lang="en-US" altLang="ko-KR" sz="2000" dirty="0" smtClean="0">
              <a:latin typeface="+mn-ea"/>
            </a:endParaRPr>
          </a:p>
          <a:p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모터 제어</a:t>
            </a:r>
            <a:endParaRPr lang="en-US" altLang="ko-KR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054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6865</TotalTime>
  <Words>1126</Words>
  <Application>Microsoft Office PowerPoint</Application>
  <PresentationFormat>와이드스크린</PresentationFormat>
  <Paragraphs>231</Paragraphs>
  <Slides>19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Times New Roman</vt:lpstr>
      <vt:lpstr>Arial</vt:lpstr>
      <vt:lpstr>Wingdings</vt:lpstr>
      <vt:lpstr>맑은 고딕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user6616</dc:creator>
  <cp:lastModifiedBy>vegetus5491@gmail.com</cp:lastModifiedBy>
  <cp:revision>284</cp:revision>
  <dcterms:created xsi:type="dcterms:W3CDTF">2017-11-16T00:50:54Z</dcterms:created>
  <dcterms:modified xsi:type="dcterms:W3CDTF">2024-02-13T03:35:02Z</dcterms:modified>
</cp:coreProperties>
</file>